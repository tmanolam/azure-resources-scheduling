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27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scheduler: one central service that powers non-production Azure resources up for working hours and down outside them. Today we cover why we need it, how it works, how it stays safe, and where delivery stands.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simple arithmetic, not a measurement: 45 working hours out of 168 means roughly three quarters of a week is idle time for anything that runs 24×7. Our actual savings depend on how many workloads we onboard and their sizes.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targets we committed to in the requirements spec. The 40% is a target, not a forecast; we will measure it against the cost of in-scope resources before and after rollout.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four approaches. Azure Functions won because it is native, does not depend on Jenkins being available, can run every 15 minutes, and lets us change schedules without touching code. The Microsoft packaged solution only handles VMs, so it could not meet the database and AKS requirement.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is reconciliation. We never just fire a stop at 17:30 and hope. Every 15 minutes the function works out what each resource should be doing right now and fixes any difference. If the function was down at 17:30, the next run catches up. If someone starts a VM by hand in the evening without an override, it gets stopped again. Operations are submitted without waiting for them to finish; the next cycle checks the result.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scheduler serves the whole tenant. It lives in the Management subscription alongside our other platform tooling, but it has no permissions there or anywhere in the Platform management group. Its custom role is assigned only at the Landing Zones and Sandbox management groups. Production subscriptions inside those groups are skipped by a hard rule in the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resource type is a small plug-in, so adding a new one later is a code module plus one permission change. Note that VMs are deallocated, not just powered off, because a powered-off VM still costs money. PostgreSQL and MySQL Flexible Server restart themselves after 7 days stopped; the next cycle simply stops them again. Everything stops at 17:30 in reverse order.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profile, weekday-0830-1730, in Bangkok time. Databases get a 30-minute head start and AKS 15 minutes, because AKS can take 5 to 10 minutes to start. At 17:30 everything stops in reverse order. Teams that need different hours get their own profile; changing a profile is a config change that takes effect within one cycle. Public holidays are not handled until phase 2, so use an override for long holidays.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opt in by tagging a resource, a resource group or a whole subscription; the most specific tag wins. To work late or stop early, set an override state and an end time; the schedule resumes on its own afterwards. Note for the presenter: resource-group and subscription-level tags depend on review finding C2, which is being fixed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of protection. The two that matter most to this audience: production is excluded by a hard rule with no way to opt in, and the hub is protected three separate ways, so a single mistake in configuration cannot stop a firewall or gateway. Presenter note: the production-exclusion check is being fixed under review finding C1 and will be proven in the dry run before go-live.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Day-to-day there are three things people do. Change a schedule through a pull request and a Terraform apply. Override for late work or an early stop with two tags. And watch the logs and alerts. Presenter note: the logging and alert wiring is being corrected under review findings H1 and H2 and will be checked in the dry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items are already agreed for phase 2: an on-demand endpoint that automatically sets a 4-hour override, and public holiday calendars. Two more are under consideration but not decided: private networking and pipeline-based deployment. In phase 1, override tags cover both ad-hoc runs and holidays.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four asks. Scope and the production tag policy are prerequisites for a safe dry run. Pilot volunteers give us real workloads to validate against. And we want agreement on the go-live gate today, so the switch from dry run to live is a clear, pre-agreed decision. Fill in the approver's name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361"/>
            <a:ext cx="10566400" cy="41098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361"/>
            <a:ext cx="10566400" cy="41098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Clock"/>
          <p:cNvPicPr>
            <a:picLocks noChangeAspect="1"/>
          </p:cNvPicPr>
          <p:nvPr/>
        </p:nvPicPr>
        <p:blipFill>
          <a:blip r:embed="rId3"/>
          <a:srcRect/>
          <a:stretch/>
        </p:blipFill>
        <p:spPr>
          <a:xfrm>
            <a:off x="9144000" y="812800"/>
            <a:ext cx="1422400" cy="14224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33D"/>
                </a:solidFill>
                <a:latin typeface="IBM Plex Sans" pitchFamily="34" charset="0"/>
                <a:ea typeface="IBM Plex Sans" pitchFamily="34" charset="-122"/>
                <a:cs typeface="IBM Plex Sans" pitchFamily="34" charset="-120"/>
              </a:rPr>
              <a:t>CLOUD PLATFORM · SOLUTION OVERVIEW</a:t>
            </a:r>
            <a:endParaRPr lang="en-US" sz="1200" dirty="0"/>
          </a:p>
        </p:txBody>
      </p:sp>
      <p:sp>
        <p:nvSpPr>
          <p:cNvPr id="4" name="Text 1"/>
          <p:cNvSpPr>
            <a:spLocks noGrp="1"/>
          </p:cNvSpPr>
          <p:nvPr>
            <p:ph type="title"/>
          </p:nvPr>
        </p:nvSpPr>
        <p:spPr>
          <a:xfrm>
            <a:off x="812800" y="224284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5F0"/>
                </a:solidFill>
                <a:latin typeface="Space Grotesk" pitchFamily="34" charset="0"/>
                <a:ea typeface="Space Grotesk" pitchFamily="34" charset="-122"/>
                <a:cs typeface="Space Grotesk" pitchFamily="34" charset="-120"/>
              </a:rPr>
              <a:t>Azure Resource</a:t>
            </a:r>
            <a:endParaRPr lang="en-US" sz="6000" dirty="0"/>
          </a:p>
          <a:p>
            <a:pPr marL="0" indent="0" algn="l">
              <a:lnSpc>
                <a:spcPts val="6300"/>
              </a:lnSpc>
              <a:buNone/>
            </a:pPr>
            <a:r>
              <a:rPr lang="en-US" sz="6000" b="1" i="0" dirty="0">
                <a:solidFill>
                  <a:srgbClr val="F4F5F0"/>
                </a:solidFill>
                <a:latin typeface="Space Grotesk" pitchFamily="34" charset="0"/>
                <a:ea typeface="Space Grotesk" pitchFamily="34" charset="-122"/>
                <a:cs typeface="Space Grotesk" pitchFamily="34" charset="-120"/>
              </a:rPr>
              <a:t>Power Scheduler</a:t>
            </a:r>
            <a:endParaRPr lang="en-US" sz="6000" dirty="0"/>
          </a:p>
        </p:txBody>
      </p:sp>
      <p:sp>
        <p:nvSpPr>
          <p:cNvPr id="5" name="Text 2"/>
          <p:cNvSpPr/>
          <p:nvPr/>
        </p:nvSpPr>
        <p:spPr>
          <a:xfrm>
            <a:off x="812800" y="4046240"/>
            <a:ext cx="752157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0"/>
                </a:solidFill>
                <a:latin typeface="IBM Plex Sans" pitchFamily="34" charset="0"/>
                <a:ea typeface="IBM Plex Sans" pitchFamily="34" charset="-122"/>
                <a:cs typeface="IBM Plex Sans" pitchFamily="34" charset="-120"/>
              </a:rPr>
              <a:t>Starts and stops non-production Azure resources on a schedule — automatically, safely, and from one place.</a:t>
            </a:r>
            <a:endParaRPr lang="en-US" sz="16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pitchFamily="34" charset="0"/>
                <a:ea typeface="IBM Plex Sans" pitchFamily="34" charset="-122"/>
                <a:cs typeface="IBM Plex Sans" pitchFamily="34" charset="-120"/>
              </a:rPr>
              <a:t>[Presenter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4ED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CE7C3"/>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234315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5F0"/>
                </a:solidFill>
                <a:latin typeface="Space Grotesk" pitchFamily="34" charset="0"/>
                <a:ea typeface="Space Grotesk" pitchFamily="34" charset="-122"/>
                <a:cs typeface="Space Grotesk" pitchFamily="34" charset="-120"/>
              </a:rPr>
              <a:t>123 of 168 hours</a:t>
            </a:r>
            <a:endParaRPr lang="en-US" sz="6000" dirty="0"/>
          </a:p>
        </p:txBody>
      </p:sp>
      <p:sp>
        <p:nvSpPr>
          <p:cNvPr id="4" name="Text 2"/>
          <p:cNvSpPr/>
          <p:nvPr/>
        </p:nvSpPr>
        <p:spPr>
          <a:xfrm>
            <a:off x="812800" y="3346450"/>
            <a:ext cx="915670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4F5F0"/>
                </a:solidFill>
                <a:latin typeface="IBM Plex Sans" pitchFamily="34" charset="0"/>
                <a:ea typeface="IBM Plex Sans" pitchFamily="34" charset="-122"/>
                <a:cs typeface="IBM Plex Sans" pitchFamily="34" charset="-120"/>
              </a:rPr>
              <a:t>is how long a 24×7 non-production workload runs each week outside our Mon–Fri, 08:30–17:30 working window.</a:t>
            </a:r>
            <a:endParaRPr lang="en-US" sz="2000" dirty="0"/>
          </a:p>
        </p:txBody>
      </p:sp>
      <p:sp>
        <p:nvSpPr>
          <p:cNvPr id="5" name="Text 3"/>
          <p:cNvSpPr/>
          <p:nvPr/>
        </p:nvSpPr>
        <p:spPr>
          <a:xfrm>
            <a:off x="812800" y="4210050"/>
            <a:ext cx="91567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3EAFB"/>
                </a:solidFill>
                <a:latin typeface="IBM Plex Sans" pitchFamily="34" charset="0"/>
                <a:ea typeface="IBM Plex Sans" pitchFamily="34" charset="-122"/>
                <a:cs typeface="IBM Plex Sans" pitchFamily="34" charset="-120"/>
              </a:rPr>
              <a:t>Many dev, test and UAT workloads in our spoke subscriptions run around the clock. We pay for compute in every one of those idle hours.</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EAFB"/>
                </a:solidFill>
                <a:latin typeface="IBM Plex Sans" pitchFamily="34" charset="0"/>
                <a:ea typeface="IBM Plex Sans" pitchFamily="34" charset="-122"/>
                <a:cs typeface="IBM Plex Sans" pitchFamily="34" charset="-120"/>
              </a:rPr>
              <a:t>168 hours in a week − 45 working hours (5 days × 9 hours) = 123. Real savings are a little lower because databases start 30 minutes early.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WHAT SUCCESS LOOKS LIKE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Goals</a:t>
            </a:r>
            <a:endParaRPr lang="en-US" sz="3600" dirty="0"/>
          </a:p>
        </p:txBody>
      </p:sp>
      <p:sp>
        <p:nvSpPr>
          <p:cNvPr id="4" name="Shape 2"/>
          <p:cNvSpPr/>
          <p:nvPr/>
        </p:nvSpPr>
        <p:spPr>
          <a:xfrm>
            <a:off x="815975" y="2859484"/>
            <a:ext cx="1984970" cy="1743472"/>
          </a:xfrm>
          <a:prstGeom prst="roundRect">
            <a:avLst>
              <a:gd name="adj" fmla="val 5645"/>
            </a:avLst>
          </a:prstGeom>
          <a:solidFill>
            <a:srgbClr val="FCFCF9"/>
          </a:solidFill>
          <a:ln w="6350">
            <a:solidFill>
              <a:srgbClr val="D8DCD2"/>
            </a:solidFill>
            <a:prstDash val="solid"/>
          </a:ln>
        </p:spPr>
        <p:txBody>
          <a:bodyPr/>
          <a:lstStyle/>
          <a:p>
            <a:endParaRPr lang="en-TH"/>
          </a:p>
        </p:txBody>
      </p:sp>
      <p:sp>
        <p:nvSpPr>
          <p:cNvPr id="5" name="Text 3"/>
          <p:cNvSpPr/>
          <p:nvPr/>
        </p:nvSpPr>
        <p:spPr>
          <a:xfrm>
            <a:off x="971550" y="3015059"/>
            <a:ext cx="172462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40%</a:t>
            </a:r>
            <a:endParaRPr lang="en-US" sz="3600" dirty="0"/>
          </a:p>
        </p:txBody>
      </p:sp>
      <p:sp>
        <p:nvSpPr>
          <p:cNvPr id="6" name="Text 4"/>
          <p:cNvSpPr/>
          <p:nvPr/>
        </p:nvSpPr>
        <p:spPr>
          <a:xfrm>
            <a:off x="971550" y="3594100"/>
            <a:ext cx="17246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or more off compute cost for in-scope resources within 3 months</a:t>
            </a:r>
            <a:endParaRPr lang="en-US" sz="1200" dirty="0"/>
          </a:p>
        </p:txBody>
      </p:sp>
      <p:sp>
        <p:nvSpPr>
          <p:cNvPr id="7" name="Shape 5"/>
          <p:cNvSpPr/>
          <p:nvPr/>
        </p:nvSpPr>
        <p:spPr>
          <a:xfrm>
            <a:off x="2959695" y="2859484"/>
            <a:ext cx="1984970" cy="1743472"/>
          </a:xfrm>
          <a:prstGeom prst="roundRect">
            <a:avLst>
              <a:gd name="adj" fmla="val 5645"/>
            </a:avLst>
          </a:prstGeom>
          <a:solidFill>
            <a:srgbClr val="FCFCF9"/>
          </a:solidFill>
          <a:ln w="6350">
            <a:solidFill>
              <a:srgbClr val="D8DCD2"/>
            </a:solidFill>
            <a:prstDash val="solid"/>
          </a:ln>
        </p:spPr>
        <p:txBody>
          <a:bodyPr/>
          <a:lstStyle/>
          <a:p>
            <a:endParaRPr lang="en-TH"/>
          </a:p>
        </p:txBody>
      </p:sp>
      <p:sp>
        <p:nvSpPr>
          <p:cNvPr id="8" name="Text 6"/>
          <p:cNvSpPr/>
          <p:nvPr/>
        </p:nvSpPr>
        <p:spPr>
          <a:xfrm>
            <a:off x="3115270" y="3015059"/>
            <a:ext cx="172462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0</a:t>
            </a:r>
            <a:endParaRPr lang="en-US" sz="3600" dirty="0"/>
          </a:p>
        </p:txBody>
      </p:sp>
      <p:sp>
        <p:nvSpPr>
          <p:cNvPr id="9" name="Text 7"/>
          <p:cNvSpPr/>
          <p:nvPr/>
        </p:nvSpPr>
        <p:spPr>
          <a:xfrm>
            <a:off x="3115270" y="3594100"/>
            <a:ext cx="17246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manual start/stop tickets for onboarded workloads</a:t>
            </a:r>
            <a:endParaRPr lang="en-US" sz="1200" dirty="0"/>
          </a:p>
        </p:txBody>
      </p:sp>
      <p:sp>
        <p:nvSpPr>
          <p:cNvPr id="10" name="Shape 8"/>
          <p:cNvSpPr/>
          <p:nvPr/>
        </p:nvSpPr>
        <p:spPr>
          <a:xfrm>
            <a:off x="5103416" y="2859484"/>
            <a:ext cx="1985070" cy="1743472"/>
          </a:xfrm>
          <a:prstGeom prst="roundRect">
            <a:avLst>
              <a:gd name="adj" fmla="val 5645"/>
            </a:avLst>
          </a:prstGeom>
          <a:solidFill>
            <a:srgbClr val="FCFCF9"/>
          </a:solidFill>
          <a:ln w="6350">
            <a:solidFill>
              <a:srgbClr val="D8DCD2"/>
            </a:solidFill>
            <a:prstDash val="solid"/>
          </a:ln>
        </p:spPr>
        <p:txBody>
          <a:bodyPr/>
          <a:lstStyle/>
          <a:p>
            <a:endParaRPr lang="en-TH"/>
          </a:p>
        </p:txBody>
      </p:sp>
      <p:sp>
        <p:nvSpPr>
          <p:cNvPr id="11" name="Text 9"/>
          <p:cNvSpPr/>
          <p:nvPr/>
        </p:nvSpPr>
        <p:spPr>
          <a:xfrm>
            <a:off x="5258991" y="3015059"/>
            <a:ext cx="1724720" cy="528241"/>
          </a:xfrm>
          <a:prstGeom prst="rect">
            <a:avLst/>
          </a:prstGeom>
          <a:noFill/>
          <a:ln/>
        </p:spPr>
        <p:txBody>
          <a:bodyPr wrap="non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15 min</a:t>
            </a:r>
            <a:endParaRPr lang="en-US" sz="3600" dirty="0"/>
          </a:p>
        </p:txBody>
      </p:sp>
      <p:sp>
        <p:nvSpPr>
          <p:cNvPr id="12" name="Text 10"/>
          <p:cNvSpPr/>
          <p:nvPr/>
        </p:nvSpPr>
        <p:spPr>
          <a:xfrm>
            <a:off x="5258991" y="3594100"/>
            <a:ext cx="17247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or less for a schedule change to take effect</a:t>
            </a:r>
            <a:endParaRPr lang="en-US" sz="1200" dirty="0"/>
          </a:p>
        </p:txBody>
      </p:sp>
      <p:sp>
        <p:nvSpPr>
          <p:cNvPr id="13" name="Shape 11"/>
          <p:cNvSpPr/>
          <p:nvPr/>
        </p:nvSpPr>
        <p:spPr>
          <a:xfrm>
            <a:off x="7247235" y="2859484"/>
            <a:ext cx="1984970" cy="1743472"/>
          </a:xfrm>
          <a:prstGeom prst="roundRect">
            <a:avLst>
              <a:gd name="adj" fmla="val 5645"/>
            </a:avLst>
          </a:prstGeom>
          <a:solidFill>
            <a:srgbClr val="FCFCF9"/>
          </a:solidFill>
          <a:ln w="6350">
            <a:solidFill>
              <a:srgbClr val="D8DCD2"/>
            </a:solidFill>
            <a:prstDash val="solid"/>
          </a:ln>
        </p:spPr>
        <p:txBody>
          <a:bodyPr/>
          <a:lstStyle/>
          <a:p>
            <a:endParaRPr lang="en-TH"/>
          </a:p>
        </p:txBody>
      </p:sp>
      <p:sp>
        <p:nvSpPr>
          <p:cNvPr id="14" name="Text 12"/>
          <p:cNvSpPr/>
          <p:nvPr/>
        </p:nvSpPr>
        <p:spPr>
          <a:xfrm>
            <a:off x="7402810" y="3015059"/>
            <a:ext cx="172462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0</a:t>
            </a:r>
            <a:endParaRPr lang="en-US" sz="3600" dirty="0"/>
          </a:p>
        </p:txBody>
      </p:sp>
      <p:sp>
        <p:nvSpPr>
          <p:cNvPr id="15" name="Text 13"/>
          <p:cNvSpPr/>
          <p:nvPr/>
        </p:nvSpPr>
        <p:spPr>
          <a:xfrm>
            <a:off x="7402810" y="3594100"/>
            <a:ext cx="17246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incidents caused to shared platform services</a:t>
            </a:r>
            <a:endParaRPr lang="en-US" sz="1200" dirty="0"/>
          </a:p>
        </p:txBody>
      </p:sp>
      <p:sp>
        <p:nvSpPr>
          <p:cNvPr id="16" name="Shape 14"/>
          <p:cNvSpPr/>
          <p:nvPr/>
        </p:nvSpPr>
        <p:spPr>
          <a:xfrm>
            <a:off x="9390955" y="2859484"/>
            <a:ext cx="1985070" cy="1743472"/>
          </a:xfrm>
          <a:prstGeom prst="roundRect">
            <a:avLst>
              <a:gd name="adj" fmla="val 5645"/>
            </a:avLst>
          </a:prstGeom>
          <a:solidFill>
            <a:srgbClr val="FCFCF9"/>
          </a:solidFill>
          <a:ln w="6350">
            <a:solidFill>
              <a:srgbClr val="D8DCD2"/>
            </a:solidFill>
            <a:prstDash val="solid"/>
          </a:ln>
        </p:spPr>
        <p:txBody>
          <a:bodyPr/>
          <a:lstStyle/>
          <a:p>
            <a:endParaRPr lang="en-TH"/>
          </a:p>
        </p:txBody>
      </p:sp>
      <p:sp>
        <p:nvSpPr>
          <p:cNvPr id="17" name="Text 15"/>
          <p:cNvSpPr/>
          <p:nvPr/>
        </p:nvSpPr>
        <p:spPr>
          <a:xfrm>
            <a:off x="9546530" y="3015059"/>
            <a:ext cx="172472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D4ED8"/>
                </a:solidFill>
                <a:latin typeface="Space Grotesk" pitchFamily="34" charset="0"/>
                <a:ea typeface="Space Grotesk" pitchFamily="34" charset="-122"/>
                <a:cs typeface="Space Grotesk" pitchFamily="34" charset="-120"/>
              </a:rPr>
              <a:t>100%</a:t>
            </a:r>
            <a:endParaRPr lang="en-US" sz="3600" dirty="0"/>
          </a:p>
        </p:txBody>
      </p:sp>
      <p:sp>
        <p:nvSpPr>
          <p:cNvPr id="18" name="Text 16"/>
          <p:cNvSpPr/>
          <p:nvPr/>
        </p:nvSpPr>
        <p:spPr>
          <a:xfrm>
            <a:off x="9546530" y="3594100"/>
            <a:ext cx="17247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of actions logged and queryable, with a monthly savings report</a:t>
            </a:r>
            <a:endParaRPr lang="en-US" sz="1200" dirty="0"/>
          </a:p>
        </p:txBody>
      </p:sp>
      <p:sp>
        <p:nvSpPr>
          <p:cNvPr id="19" name="Text 17"/>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Targets from the requirements specification, objectives OBJ-01 to OBJ-05.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DECISION D-01</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Options considered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720679"/>
        </p:xfrm>
        <a:graphic>
          <a:graphicData uri="http://schemas.openxmlformats.org/drawingml/2006/table">
            <a:tbl>
              <a:tblPr/>
              <a:tblGrid>
                <a:gridCol w="2321814">
                  <a:extLst>
                    <a:ext uri="{9D8B030D-6E8A-4147-A177-3AD203B41FA5}">
                      <a16:colId xmlns:a16="http://schemas.microsoft.com/office/drawing/2014/main" val="20000"/>
                    </a:ext>
                  </a:extLst>
                </a:gridCol>
                <a:gridCol w="3271647">
                  <a:extLst>
                    <a:ext uri="{9D8B030D-6E8A-4147-A177-3AD203B41FA5}">
                      <a16:colId xmlns:a16="http://schemas.microsoft.com/office/drawing/2014/main" val="20001"/>
                    </a:ext>
                  </a:extLst>
                </a:gridCol>
                <a:gridCol w="3271647">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Option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Strengths</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Trade-offs</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Verdict</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Jenkins pipeline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Tool we already run; changes reviewed in Git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 scheduled run depends on Jenkins being up</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Not chosen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B. Azure Automation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Native and low cost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One-hour minimum schedule; clumsy Git workflow</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Not chosen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C. Azure Functions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B5BBC8"/>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BC8"/>
                      </a:solidFill>
                      <a:prstDash val="solid"/>
                      <a:round/>
                      <a:headEnd type="none" w="med" len="med"/>
                      <a:tailEnd type="none" w="med" len="med"/>
                    </a:lnB>
                    <a:solidFill>
                      <a:srgbClr val="E3EAFB"/>
                    </a:solidFill>
                  </a:tcPr>
                </a:tc>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Native, reliable, cheap; schedules change by config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BC8"/>
                      </a:solidFill>
                      <a:prstDash val="solid"/>
                      <a:round/>
                      <a:headEnd type="none" w="med" len="med"/>
                      <a:tailEnd type="none" w="med" len="med"/>
                    </a:lnL>
                    <a:lnR w="12700" cap="flat" cmpd="sng" algn="ctr">
                      <a:solidFill>
                        <a:srgbClr val="B5BBC8"/>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BC8"/>
                      </a:solidFill>
                      <a:prstDash val="solid"/>
                      <a:round/>
                      <a:headEnd type="none" w="med" len="med"/>
                      <a:tailEnd type="none" w="med" len="med"/>
                    </a:lnB>
                    <a:solidFill>
                      <a:srgbClr val="E3EAFB"/>
                    </a:solidFill>
                  </a:tcPr>
                </a:tc>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A small codebase for us to maintain</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BC8"/>
                      </a:solidFill>
                      <a:prstDash val="solid"/>
                      <a:round/>
                      <a:headEnd type="none" w="med" len="med"/>
                      <a:tailEnd type="none" w="med" len="med"/>
                    </a:lnL>
                    <a:lnR w="12700" cap="flat" cmpd="sng" algn="ctr">
                      <a:solidFill>
                        <a:srgbClr val="B5BBC8"/>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BC8"/>
                      </a:solidFill>
                      <a:prstDash val="solid"/>
                      <a:round/>
                      <a:headEnd type="none" w="med" len="med"/>
                      <a:tailEnd type="none" w="med" len="med"/>
                    </a:lnB>
                    <a:solidFill>
                      <a:srgbClr val="E3EAFB"/>
                    </a:solidFill>
                  </a:tcPr>
                </a:tc>
                <a:tc>
                  <a:txBody>
                    <a:bodyPr/>
                    <a:lstStyle/>
                    <a:p>
                      <a:pPr marL="0" indent="0">
                        <a:lnSpc>
                          <a:spcPts val="1820"/>
                        </a:lnSpc>
                        <a:buNone/>
                      </a:pPr>
                      <a:r>
                        <a:rPr lang="en-US" sz="1300" dirty="0">
                          <a:solidFill>
                            <a:srgbClr val="1D4ED8"/>
                          </a:solidFill>
                          <a:latin typeface="IBM Plex Sans" pitchFamily="34" charset="0"/>
                          <a:ea typeface="IBM Plex Sans" pitchFamily="34" charset="-122"/>
                          <a:cs typeface="IBM Plex Sans" pitchFamily="34" charset="-120"/>
                        </a:rPr>
                        <a:t>Selected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BC8"/>
                      </a:solidFill>
                      <a:prstDash val="solid"/>
                      <a:round/>
                      <a:headEnd type="none" w="med" len="med"/>
                      <a:tailEnd type="none" w="med" len="med"/>
                    </a:lnL>
                    <a:lnR w="12700" cap="flat" cmpd="sng" algn="ctr">
                      <a:solidFill>
                        <a:srgbClr val="B5BBC8"/>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BC8"/>
                      </a:solidFill>
                      <a:prstDash val="solid"/>
                      <a:round/>
                      <a:headEnd type="none" w="med" len="med"/>
                      <a:tailEnd type="none" w="med" len="med"/>
                    </a:lnB>
                    <a:solidFill>
                      <a:srgbClr val="E3EAFB"/>
                    </a:solidFill>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D. Start/Stop VMs v2</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BC8"/>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Quick to deploy</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BC8"/>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Virtual machines only — no AKS or databases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BC8"/>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Not chosen</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5BBC8"/>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87193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Option C runs as a timer-triggered Azure Function and is deployed with Terraform.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ONE CYCLE, EVERY 15 MINUTES</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How it works</a:t>
            </a:r>
            <a:endParaRPr lang="en-US" sz="3600" dirty="0"/>
          </a:p>
        </p:txBody>
      </p:sp>
      <p:sp>
        <p:nvSpPr>
          <p:cNvPr id="4" name="Shape 2"/>
          <p:cNvSpPr/>
          <p:nvPr/>
        </p:nvSpPr>
        <p:spPr>
          <a:xfrm>
            <a:off x="815975" y="2331244"/>
            <a:ext cx="1700510" cy="2038052"/>
          </a:xfrm>
          <a:prstGeom prst="roundRect">
            <a:avLst>
              <a:gd name="adj" fmla="val 5788"/>
            </a:avLst>
          </a:prstGeom>
          <a:solidFill>
            <a:srgbClr val="FCFCF9"/>
          </a:solidFill>
          <a:ln w="6350">
            <a:solidFill>
              <a:srgbClr val="D8DCD2"/>
            </a:solidFill>
            <a:prstDash val="solid"/>
          </a:ln>
        </p:spPr>
        <p:txBody>
          <a:bodyPr/>
          <a:lstStyle/>
          <a:p>
            <a:endParaRPr lang="en-TH"/>
          </a:p>
        </p:txBody>
      </p:sp>
      <p:sp>
        <p:nvSpPr>
          <p:cNvPr id="5" name="Text 3"/>
          <p:cNvSpPr/>
          <p:nvPr/>
        </p:nvSpPr>
        <p:spPr>
          <a:xfrm>
            <a:off x="996950" y="2512219"/>
            <a:ext cx="13893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996950" y="2801739"/>
            <a:ext cx="13893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Timer fires</a:t>
            </a:r>
            <a:endParaRPr lang="en-US" sz="1600" dirty="0"/>
          </a:p>
        </p:txBody>
      </p:sp>
      <p:sp>
        <p:nvSpPr>
          <p:cNvPr id="7" name="Text 5"/>
          <p:cNvSpPr/>
          <p:nvPr/>
        </p:nvSpPr>
        <p:spPr>
          <a:xfrm>
            <a:off x="996950" y="3121720"/>
            <a:ext cx="13893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Every 15 minutes, in UTC</a:t>
            </a:r>
            <a:endParaRPr lang="en-US" sz="1200" dirty="0"/>
          </a:p>
        </p:txBody>
      </p:sp>
      <p:pic>
        <p:nvPicPr>
          <p:cNvPr id="8" name="Image 0" descr="arrow-right"/>
          <p:cNvPicPr>
            <a:picLocks noChangeAspect="1"/>
          </p:cNvPicPr>
          <p:nvPr/>
        </p:nvPicPr>
        <p:blipFill>
          <a:blip r:embed="rId3"/>
          <a:srcRect/>
          <a:stretch/>
        </p:blipFill>
        <p:spPr>
          <a:xfrm>
            <a:off x="2621260" y="3274020"/>
            <a:ext cx="304800" cy="152400"/>
          </a:xfrm>
          <a:prstGeom prst="rect">
            <a:avLst/>
          </a:prstGeom>
        </p:spPr>
      </p:pic>
      <p:sp>
        <p:nvSpPr>
          <p:cNvPr id="9" name="Shape 6"/>
          <p:cNvSpPr/>
          <p:nvPr/>
        </p:nvSpPr>
        <p:spPr>
          <a:xfrm>
            <a:off x="3030835" y="2331244"/>
            <a:ext cx="1700609" cy="2038052"/>
          </a:xfrm>
          <a:prstGeom prst="roundRect">
            <a:avLst>
              <a:gd name="adj" fmla="val 5788"/>
            </a:avLst>
          </a:prstGeom>
          <a:solidFill>
            <a:srgbClr val="FCFCF9"/>
          </a:solidFill>
          <a:ln w="6350">
            <a:solidFill>
              <a:srgbClr val="D8DCD2"/>
            </a:solidFill>
            <a:prstDash val="solid"/>
          </a:ln>
        </p:spPr>
        <p:txBody>
          <a:bodyPr/>
          <a:lstStyle/>
          <a:p>
            <a:endParaRPr lang="en-TH"/>
          </a:p>
        </p:txBody>
      </p:sp>
      <p:sp>
        <p:nvSpPr>
          <p:cNvPr id="10" name="Text 7"/>
          <p:cNvSpPr/>
          <p:nvPr/>
        </p:nvSpPr>
        <p:spPr>
          <a:xfrm>
            <a:off x="3211810" y="2512219"/>
            <a:ext cx="13894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STEP 2</a:t>
            </a:r>
            <a:endParaRPr lang="en-US" sz="1200" dirty="0"/>
          </a:p>
        </p:txBody>
      </p:sp>
      <p:sp>
        <p:nvSpPr>
          <p:cNvPr id="11" name="Text 8"/>
          <p:cNvSpPr/>
          <p:nvPr/>
        </p:nvSpPr>
        <p:spPr>
          <a:xfrm>
            <a:off x="3211810" y="2801739"/>
            <a:ext cx="13894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Load config</a:t>
            </a:r>
            <a:endParaRPr lang="en-US" sz="1600" dirty="0"/>
          </a:p>
        </p:txBody>
      </p:sp>
      <p:sp>
        <p:nvSpPr>
          <p:cNvPr id="12" name="Text 9"/>
          <p:cNvSpPr/>
          <p:nvPr/>
        </p:nvSpPr>
        <p:spPr>
          <a:xfrm>
            <a:off x="3211810" y="3121720"/>
            <a:ext cx="13894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Profiles and scopes from App Configuration</a:t>
            </a:r>
            <a:endParaRPr lang="en-US" sz="1200" dirty="0"/>
          </a:p>
        </p:txBody>
      </p:sp>
      <p:pic>
        <p:nvPicPr>
          <p:cNvPr id="13" name="Image 1" descr="arrow-right"/>
          <p:cNvPicPr>
            <a:picLocks noChangeAspect="1"/>
          </p:cNvPicPr>
          <p:nvPr/>
        </p:nvPicPr>
        <p:blipFill>
          <a:blip r:embed="rId3"/>
          <a:srcRect/>
          <a:stretch/>
        </p:blipFill>
        <p:spPr>
          <a:xfrm>
            <a:off x="4836220" y="3274020"/>
            <a:ext cx="304800" cy="152400"/>
          </a:xfrm>
          <a:prstGeom prst="rect">
            <a:avLst/>
          </a:prstGeom>
        </p:spPr>
      </p:pic>
      <p:sp>
        <p:nvSpPr>
          <p:cNvPr id="14" name="Shape 10"/>
          <p:cNvSpPr/>
          <p:nvPr/>
        </p:nvSpPr>
        <p:spPr>
          <a:xfrm>
            <a:off x="5245795" y="2331244"/>
            <a:ext cx="1700510" cy="2038052"/>
          </a:xfrm>
          <a:prstGeom prst="roundRect">
            <a:avLst>
              <a:gd name="adj" fmla="val 5788"/>
            </a:avLst>
          </a:prstGeom>
          <a:solidFill>
            <a:srgbClr val="FCFCF9"/>
          </a:solidFill>
          <a:ln w="6350">
            <a:solidFill>
              <a:srgbClr val="D8DCD2"/>
            </a:solidFill>
            <a:prstDash val="solid"/>
          </a:ln>
        </p:spPr>
        <p:txBody>
          <a:bodyPr/>
          <a:lstStyle/>
          <a:p>
            <a:endParaRPr lang="en-TH"/>
          </a:p>
        </p:txBody>
      </p:sp>
      <p:sp>
        <p:nvSpPr>
          <p:cNvPr id="15" name="Text 11"/>
          <p:cNvSpPr/>
          <p:nvPr/>
        </p:nvSpPr>
        <p:spPr>
          <a:xfrm>
            <a:off x="5426770" y="2512219"/>
            <a:ext cx="13893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STEP 3</a:t>
            </a:r>
            <a:endParaRPr lang="en-US" sz="1200" dirty="0"/>
          </a:p>
        </p:txBody>
      </p:sp>
      <p:sp>
        <p:nvSpPr>
          <p:cNvPr id="16" name="Text 12"/>
          <p:cNvSpPr/>
          <p:nvPr/>
        </p:nvSpPr>
        <p:spPr>
          <a:xfrm>
            <a:off x="5426770" y="2801739"/>
            <a:ext cx="13893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Discover</a:t>
            </a:r>
            <a:endParaRPr lang="en-US" sz="1600" dirty="0"/>
          </a:p>
        </p:txBody>
      </p:sp>
      <p:sp>
        <p:nvSpPr>
          <p:cNvPr id="17" name="Text 13"/>
          <p:cNvSpPr/>
          <p:nvPr/>
        </p:nvSpPr>
        <p:spPr>
          <a:xfrm>
            <a:off x="5426770" y="3121720"/>
            <a:ext cx="138936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Tagged resources across management groups, via Resource Graph</a:t>
            </a:r>
            <a:endParaRPr lang="en-US" sz="1200" dirty="0"/>
          </a:p>
        </p:txBody>
      </p:sp>
      <p:pic>
        <p:nvPicPr>
          <p:cNvPr id="18" name="Image 2" descr="arrow-right"/>
          <p:cNvPicPr>
            <a:picLocks noChangeAspect="1"/>
          </p:cNvPicPr>
          <p:nvPr/>
        </p:nvPicPr>
        <p:blipFill>
          <a:blip r:embed="rId3"/>
          <a:srcRect/>
          <a:stretch/>
        </p:blipFill>
        <p:spPr>
          <a:xfrm>
            <a:off x="7051080" y="3274020"/>
            <a:ext cx="304800" cy="152400"/>
          </a:xfrm>
          <a:prstGeom prst="rect">
            <a:avLst/>
          </a:prstGeom>
        </p:spPr>
      </p:pic>
      <p:sp>
        <p:nvSpPr>
          <p:cNvPr id="19" name="Shape 14"/>
          <p:cNvSpPr/>
          <p:nvPr/>
        </p:nvSpPr>
        <p:spPr>
          <a:xfrm>
            <a:off x="7460655" y="2331244"/>
            <a:ext cx="1700510" cy="2038052"/>
          </a:xfrm>
          <a:prstGeom prst="roundRect">
            <a:avLst>
              <a:gd name="adj" fmla="val 5788"/>
            </a:avLst>
          </a:prstGeom>
          <a:solidFill>
            <a:srgbClr val="FCFCF9"/>
          </a:solidFill>
          <a:ln w="6350">
            <a:solidFill>
              <a:srgbClr val="D8DCD2"/>
            </a:solidFill>
            <a:prstDash val="solid"/>
          </a:ln>
        </p:spPr>
        <p:txBody>
          <a:bodyPr/>
          <a:lstStyle/>
          <a:p>
            <a:endParaRPr lang="en-TH"/>
          </a:p>
        </p:txBody>
      </p:sp>
      <p:sp>
        <p:nvSpPr>
          <p:cNvPr id="20" name="Text 15"/>
          <p:cNvSpPr/>
          <p:nvPr/>
        </p:nvSpPr>
        <p:spPr>
          <a:xfrm>
            <a:off x="7641630" y="2512219"/>
            <a:ext cx="13893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STEP 4</a:t>
            </a:r>
            <a:endParaRPr lang="en-US" sz="1200" dirty="0"/>
          </a:p>
        </p:txBody>
      </p:sp>
      <p:sp>
        <p:nvSpPr>
          <p:cNvPr id="21" name="Text 16"/>
          <p:cNvSpPr/>
          <p:nvPr/>
        </p:nvSpPr>
        <p:spPr>
          <a:xfrm>
            <a:off x="7641630" y="2801739"/>
            <a:ext cx="13893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Decide</a:t>
            </a:r>
            <a:endParaRPr lang="en-US" sz="1600" dirty="0"/>
          </a:p>
        </p:txBody>
      </p:sp>
      <p:sp>
        <p:nvSpPr>
          <p:cNvPr id="22" name="Text 17"/>
          <p:cNvSpPr/>
          <p:nvPr/>
        </p:nvSpPr>
        <p:spPr>
          <a:xfrm>
            <a:off x="7641630" y="3121720"/>
            <a:ext cx="13893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Desired state from the profile's timezone and any override</a:t>
            </a:r>
            <a:endParaRPr lang="en-US" sz="1200" dirty="0"/>
          </a:p>
        </p:txBody>
      </p:sp>
      <p:pic>
        <p:nvPicPr>
          <p:cNvPr id="23" name="Image 3" descr="arrow-right"/>
          <p:cNvPicPr>
            <a:picLocks noChangeAspect="1"/>
          </p:cNvPicPr>
          <p:nvPr/>
        </p:nvPicPr>
        <p:blipFill>
          <a:blip r:embed="rId3"/>
          <a:srcRect/>
          <a:stretch/>
        </p:blipFill>
        <p:spPr>
          <a:xfrm>
            <a:off x="9265940" y="3274020"/>
            <a:ext cx="304800" cy="152400"/>
          </a:xfrm>
          <a:prstGeom prst="rect">
            <a:avLst/>
          </a:prstGeom>
        </p:spPr>
      </p:pic>
      <p:sp>
        <p:nvSpPr>
          <p:cNvPr id="24" name="Shape 18"/>
          <p:cNvSpPr/>
          <p:nvPr/>
        </p:nvSpPr>
        <p:spPr>
          <a:xfrm>
            <a:off x="9675515" y="2331244"/>
            <a:ext cx="1700510" cy="2038052"/>
          </a:xfrm>
          <a:prstGeom prst="roundRect">
            <a:avLst>
              <a:gd name="adj" fmla="val 5788"/>
            </a:avLst>
          </a:prstGeom>
          <a:solidFill>
            <a:srgbClr val="FCFCF9"/>
          </a:solidFill>
          <a:ln w="6350">
            <a:solidFill>
              <a:srgbClr val="D8DCD2"/>
            </a:solidFill>
            <a:prstDash val="solid"/>
          </a:ln>
        </p:spPr>
        <p:txBody>
          <a:bodyPr/>
          <a:lstStyle/>
          <a:p>
            <a:endParaRPr lang="en-TH"/>
          </a:p>
        </p:txBody>
      </p:sp>
      <p:sp>
        <p:nvSpPr>
          <p:cNvPr id="25" name="Text 19"/>
          <p:cNvSpPr/>
          <p:nvPr/>
        </p:nvSpPr>
        <p:spPr>
          <a:xfrm>
            <a:off x="9856490" y="2512219"/>
            <a:ext cx="13893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STEP 5</a:t>
            </a:r>
            <a:endParaRPr lang="en-US" sz="1200" dirty="0"/>
          </a:p>
        </p:txBody>
      </p:sp>
      <p:sp>
        <p:nvSpPr>
          <p:cNvPr id="26" name="Text 20"/>
          <p:cNvSpPr/>
          <p:nvPr/>
        </p:nvSpPr>
        <p:spPr>
          <a:xfrm>
            <a:off x="9856490" y="2801739"/>
            <a:ext cx="138936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Act on differences</a:t>
            </a:r>
            <a:endParaRPr lang="en-US" sz="1600" dirty="0"/>
          </a:p>
        </p:txBody>
      </p:sp>
      <p:sp>
        <p:nvSpPr>
          <p:cNvPr id="27" name="Text 21"/>
          <p:cNvSpPr/>
          <p:nvPr/>
        </p:nvSpPr>
        <p:spPr>
          <a:xfrm>
            <a:off x="9856490" y="3365500"/>
            <a:ext cx="13893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Start or stop only what differs, then log every decision</a:t>
            </a:r>
            <a:endParaRPr lang="en-US" sz="1200" dirty="0"/>
          </a:p>
        </p:txBody>
      </p:sp>
      <p:sp>
        <p:nvSpPr>
          <p:cNvPr id="28" name="Text 22"/>
          <p:cNvSpPr/>
          <p:nvPr/>
        </p:nvSpPr>
        <p:spPr>
          <a:xfrm>
            <a:off x="812800" y="5069880"/>
            <a:ext cx="10566400" cy="975320"/>
          </a:xfrm>
          <a:prstGeom prst="roundRect">
            <a:avLst>
              <a:gd name="adj" fmla="val 10417"/>
            </a:avLst>
          </a:prstGeom>
          <a:solidFill>
            <a:srgbClr val="E3EAFB"/>
          </a:solidFill>
          <a:ln/>
        </p:spPr>
        <p:txBody>
          <a:bodyPr wrap="square" lIns="173442" tIns="173442" rIns="0" bIns="148042" rtlCol="0" anchor="t">
            <a:normAutofit/>
          </a:bodyPr>
          <a:lstStyle/>
          <a:p>
            <a:pPr marL="0" indent="0" algn="l">
              <a:lnSpc>
                <a:spcPts val="2240"/>
              </a:lnSpc>
              <a:buNone/>
            </a:pPr>
            <a:r>
              <a:rPr lang="en-US" sz="1600" b="1" dirty="0">
                <a:solidFill>
                  <a:srgbClr val="0F1B2D"/>
                </a:solidFill>
                <a:latin typeface="IBM Plex Sans" pitchFamily="34" charset="0"/>
                <a:ea typeface="IBM Plex Sans" pitchFamily="34" charset="-122"/>
                <a:cs typeface="IBM Plex Sans" pitchFamily="34" charset="-120"/>
              </a:rPr>
              <a:t>Reconciliation, not one-off jobs.</a:t>
            </a:r>
            <a:r>
              <a:rPr lang="en-US" sz="1600" dirty="0">
                <a:solidFill>
                  <a:srgbClr val="0F1B2D"/>
                </a:solidFill>
                <a:latin typeface="IBM Plex Sans" pitchFamily="34" charset="0"/>
                <a:ea typeface="IBM Plex Sans" pitchFamily="34" charset="-122"/>
                <a:cs typeface="IBM Plex Sans" pitchFamily="34" charset="-120"/>
              </a:rPr>
              <a:t> Each cycle compares what should be running with what is, so missed runs, manual starts and the 7-day database auto-restart all correct themselves.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FITS OUR CAF LANDING ZONE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Where it runs</a:t>
            </a:r>
            <a:endParaRPr lang="en-US" sz="3600" dirty="0"/>
          </a:p>
        </p:txBody>
      </p:sp>
      <p:sp>
        <p:nvSpPr>
          <p:cNvPr id="4" name="Shape 2"/>
          <p:cNvSpPr/>
          <p:nvPr/>
        </p:nvSpPr>
        <p:spPr>
          <a:xfrm>
            <a:off x="819150" y="1941711"/>
            <a:ext cx="5194300" cy="3205163"/>
          </a:xfrm>
          <a:prstGeom prst="roundRect">
            <a:avLst>
              <a:gd name="adj" fmla="val 3764"/>
            </a:avLst>
          </a:prstGeom>
          <a:solidFill>
            <a:srgbClr val="E9ECE4"/>
          </a:solidFill>
          <a:ln w="12700">
            <a:solidFill>
              <a:srgbClr val="8A93A0"/>
            </a:solidFill>
            <a:prstDash val="dash"/>
          </a:ln>
        </p:spPr>
        <p:txBody>
          <a:bodyPr/>
          <a:lstStyle/>
          <a:p>
            <a:endParaRPr lang="en-TH"/>
          </a:p>
        </p:txBody>
      </p:sp>
      <p:sp>
        <p:nvSpPr>
          <p:cNvPr id="5" name="Text 3"/>
          <p:cNvSpPr/>
          <p:nvPr/>
        </p:nvSpPr>
        <p:spPr>
          <a:xfrm>
            <a:off x="1028700" y="2151261"/>
            <a:ext cx="491845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A5568"/>
                </a:solidFill>
                <a:latin typeface="IBM Plex Sans" pitchFamily="34" charset="0"/>
                <a:ea typeface="IBM Plex Sans" pitchFamily="34" charset="-122"/>
                <a:cs typeface="IBM Plex Sans" pitchFamily="34" charset="-120"/>
              </a:rPr>
              <a:t>PLATFORM MG · NEVER SCHEDULED</a:t>
            </a:r>
            <a:endParaRPr lang="en-US" sz="1200" dirty="0"/>
          </a:p>
        </p:txBody>
      </p:sp>
      <p:sp>
        <p:nvSpPr>
          <p:cNvPr id="6" name="Text 4"/>
          <p:cNvSpPr/>
          <p:nvPr/>
        </p:nvSpPr>
        <p:spPr>
          <a:xfrm>
            <a:off x="1031875" y="2494756"/>
            <a:ext cx="2317750" cy="900311"/>
          </a:xfrm>
          <a:prstGeom prst="roundRect">
            <a:avLst>
              <a:gd name="adj" fmla="val 8111"/>
            </a:avLst>
          </a:prstGeom>
          <a:solidFill>
            <a:srgbClr val="FCFCF9"/>
          </a:solidFill>
          <a:ln w="6350">
            <a:solidFill>
              <a:srgbClr val="D8DCD2"/>
            </a:solidFill>
            <a:prstDash val="solid"/>
          </a:ln>
        </p:spPr>
        <p:txBody>
          <a:bodyPr wrap="square" lIns="108787" tIns="108787" rIns="47065" bIns="83387"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Connectivity</a:t>
            </a:r>
            <a:endParaRPr lang="en-US" sz="1200" dirty="0"/>
          </a:p>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Hub VNet, firewall, gateways, DNS</a:t>
            </a:r>
            <a:endParaRPr lang="en-US" sz="1200" dirty="0"/>
          </a:p>
        </p:txBody>
      </p:sp>
      <p:sp>
        <p:nvSpPr>
          <p:cNvPr id="7" name="Text 5"/>
          <p:cNvSpPr/>
          <p:nvPr/>
        </p:nvSpPr>
        <p:spPr>
          <a:xfrm>
            <a:off x="3482975" y="2494756"/>
            <a:ext cx="2317750" cy="900311"/>
          </a:xfrm>
          <a:prstGeom prst="roundRect">
            <a:avLst>
              <a:gd name="adj" fmla="val 8111"/>
            </a:avLst>
          </a:prstGeom>
          <a:solidFill>
            <a:srgbClr val="FCFCF9"/>
          </a:solidFill>
          <a:ln w="6350">
            <a:solidFill>
              <a:srgbClr val="D8DCD2"/>
            </a:solidFill>
            <a:prstDash val="solid"/>
          </a:ln>
        </p:spPr>
        <p:txBody>
          <a:bodyPr wrap="square" lIns="108787" tIns="108787" rIns="47065" bIns="108787"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Identity</a:t>
            </a:r>
            <a:endParaRPr lang="en-US" sz="1200" dirty="0"/>
          </a:p>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Domain controllers</a:t>
            </a:r>
            <a:endParaRPr lang="en-US" sz="1200" dirty="0"/>
          </a:p>
        </p:txBody>
      </p:sp>
      <p:sp>
        <p:nvSpPr>
          <p:cNvPr id="8" name="Shape 6"/>
          <p:cNvSpPr/>
          <p:nvPr/>
        </p:nvSpPr>
        <p:spPr>
          <a:xfrm>
            <a:off x="1028700" y="3525242"/>
            <a:ext cx="4775200" cy="1412081"/>
          </a:xfrm>
          <a:prstGeom prst="roundRect">
            <a:avLst>
              <a:gd name="adj" fmla="val 7195"/>
            </a:avLst>
          </a:prstGeom>
          <a:solidFill>
            <a:srgbClr val="0F1B2D"/>
          </a:solidFill>
          <a:ln/>
        </p:spPr>
        <p:txBody>
          <a:bodyPr/>
          <a:lstStyle/>
          <a:p>
            <a:endParaRPr lang="en-TH"/>
          </a:p>
        </p:txBody>
      </p:sp>
      <p:sp>
        <p:nvSpPr>
          <p:cNvPr id="9" name="Text 7"/>
          <p:cNvSpPr/>
          <p:nvPr/>
        </p:nvSpPr>
        <p:spPr>
          <a:xfrm>
            <a:off x="1206500" y="3703042"/>
            <a:ext cx="455218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33D"/>
                </a:solidFill>
                <a:latin typeface="IBM Plex Sans" pitchFamily="34" charset="0"/>
                <a:ea typeface="IBM Plex Sans" pitchFamily="34" charset="-122"/>
                <a:cs typeface="IBM Plex Sans" pitchFamily="34" charset="-120"/>
              </a:rPr>
              <a:t>MANAGEMENT SUB · THE SCHEDULER</a:t>
            </a:r>
            <a:endParaRPr lang="en-US" sz="1200" dirty="0"/>
          </a:p>
        </p:txBody>
      </p:sp>
      <p:sp>
        <p:nvSpPr>
          <p:cNvPr id="10" name="Text 8"/>
          <p:cNvSpPr/>
          <p:nvPr/>
        </p:nvSpPr>
        <p:spPr>
          <a:xfrm>
            <a:off x="1206500" y="4017963"/>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5F0"/>
                </a:solidFill>
                <a:latin typeface="IBM Plex Sans" pitchFamily="34" charset="0"/>
                <a:ea typeface="IBM Plex Sans" pitchFamily="34" charset="-122"/>
                <a:cs typeface="IBM Plex Sans" pitchFamily="34" charset="-120"/>
              </a:rPr>
              <a:t>Function App (Flex Consumption, Python 3.11)</a:t>
            </a:r>
            <a:endParaRPr lang="en-US" sz="1200" dirty="0"/>
          </a:p>
        </p:txBody>
      </p:sp>
      <p:sp>
        <p:nvSpPr>
          <p:cNvPr id="11" name="Text 9"/>
          <p:cNvSpPr/>
          <p:nvPr/>
        </p:nvSpPr>
        <p:spPr>
          <a:xfrm>
            <a:off x="3467100" y="4017963"/>
            <a:ext cx="22237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5F0"/>
                </a:solidFill>
                <a:latin typeface="IBM Plex Sans" pitchFamily="34" charset="0"/>
                <a:ea typeface="IBM Plex Sans" pitchFamily="34" charset="-122"/>
                <a:cs typeface="IBM Plex Sans" pitchFamily="34" charset="-120"/>
              </a:rPr>
              <a:t>App Configuration: profiles and settings</a:t>
            </a:r>
            <a:endParaRPr lang="en-US" sz="1200" dirty="0"/>
          </a:p>
        </p:txBody>
      </p:sp>
      <p:sp>
        <p:nvSpPr>
          <p:cNvPr id="12" name="Text 10"/>
          <p:cNvSpPr/>
          <p:nvPr/>
        </p:nvSpPr>
        <p:spPr>
          <a:xfrm>
            <a:off x="1206500" y="4546203"/>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5F0"/>
                </a:solidFill>
                <a:latin typeface="IBM Plex Sans" pitchFamily="34" charset="0"/>
                <a:ea typeface="IBM Plex Sans" pitchFamily="34" charset="-122"/>
                <a:cs typeface="IBM Plex Sans" pitchFamily="34" charset="-120"/>
              </a:rPr>
              <a:t>Managed identity: no secrets</a:t>
            </a:r>
            <a:endParaRPr lang="en-US" sz="1200" dirty="0"/>
          </a:p>
        </p:txBody>
      </p:sp>
      <p:sp>
        <p:nvSpPr>
          <p:cNvPr id="13" name="Text 11"/>
          <p:cNvSpPr/>
          <p:nvPr/>
        </p:nvSpPr>
        <p:spPr>
          <a:xfrm>
            <a:off x="3467100" y="4546203"/>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5F0"/>
                </a:solidFill>
                <a:latin typeface="IBM Plex Sans" pitchFamily="34" charset="0"/>
                <a:ea typeface="IBM Plex Sans" pitchFamily="34" charset="-122"/>
                <a:cs typeface="IBM Plex Sans" pitchFamily="34" charset="-120"/>
              </a:rPr>
              <a:t>Application Insights and alerts</a:t>
            </a:r>
            <a:endParaRPr lang="en-US" sz="1200" dirty="0"/>
          </a:p>
        </p:txBody>
      </p:sp>
      <p:pic>
        <p:nvPicPr>
          <p:cNvPr id="14" name="Image 0" descr="arrow-right"/>
          <p:cNvPicPr>
            <a:picLocks noChangeAspect="1"/>
          </p:cNvPicPr>
          <p:nvPr/>
        </p:nvPicPr>
        <p:blipFill>
          <a:blip r:embed="rId3"/>
          <a:srcRect/>
          <a:stretch/>
        </p:blipFill>
        <p:spPr>
          <a:xfrm>
            <a:off x="6553200" y="3127772"/>
            <a:ext cx="609600" cy="304800"/>
          </a:xfrm>
          <a:prstGeom prst="rect">
            <a:avLst/>
          </a:prstGeom>
        </p:spPr>
      </p:pic>
      <p:sp>
        <p:nvSpPr>
          <p:cNvPr id="15" name="Text 12"/>
          <p:cNvSpPr/>
          <p:nvPr/>
        </p:nvSpPr>
        <p:spPr>
          <a:xfrm>
            <a:off x="6197600" y="3534172"/>
            <a:ext cx="1320800"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D4ED8"/>
                </a:solidFill>
                <a:latin typeface="IBM Plex Sans" pitchFamily="34" charset="0"/>
                <a:ea typeface="IBM Plex Sans" pitchFamily="34" charset="-122"/>
                <a:cs typeface="IBM Plex Sans" pitchFamily="34" charset="-120"/>
              </a:rPr>
              <a:t>Custom role at in-scope MGs</a:t>
            </a:r>
            <a:endParaRPr lang="en-US" sz="1200" dirty="0"/>
          </a:p>
        </p:txBody>
      </p:sp>
      <p:sp>
        <p:nvSpPr>
          <p:cNvPr id="16" name="Shape 13"/>
          <p:cNvSpPr/>
          <p:nvPr/>
        </p:nvSpPr>
        <p:spPr>
          <a:xfrm>
            <a:off x="7702550" y="2090241"/>
            <a:ext cx="3670300" cy="876201"/>
          </a:xfrm>
          <a:prstGeom prst="roundRect">
            <a:avLst>
              <a:gd name="adj" fmla="val 10871"/>
            </a:avLst>
          </a:prstGeom>
          <a:solidFill>
            <a:srgbClr val="E3EAFB"/>
          </a:solidFill>
          <a:ln w="12700">
            <a:solidFill>
              <a:srgbClr val="1D4ED8"/>
            </a:solidFill>
            <a:prstDash val="solid"/>
          </a:ln>
        </p:spPr>
        <p:txBody>
          <a:bodyPr/>
          <a:lstStyle/>
          <a:p>
            <a:endParaRPr lang="en-TH"/>
          </a:p>
        </p:txBody>
      </p:sp>
      <p:sp>
        <p:nvSpPr>
          <p:cNvPr id="17" name="Text 14"/>
          <p:cNvSpPr/>
          <p:nvPr/>
        </p:nvSpPr>
        <p:spPr>
          <a:xfrm>
            <a:off x="7886700" y="2274391"/>
            <a:ext cx="34010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Landing Zones MG</a:t>
            </a:r>
            <a:endParaRPr lang="en-US" sz="1600" dirty="0"/>
          </a:p>
        </p:txBody>
      </p:sp>
      <p:sp>
        <p:nvSpPr>
          <p:cNvPr id="18" name="Text 15"/>
          <p:cNvSpPr/>
          <p:nvPr/>
        </p:nvSpPr>
        <p:spPr>
          <a:xfrm>
            <a:off x="7886700" y="2568972"/>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Corp and Online spokes · in scope</a:t>
            </a:r>
            <a:endParaRPr lang="en-US" sz="1200" dirty="0"/>
          </a:p>
        </p:txBody>
      </p:sp>
      <p:sp>
        <p:nvSpPr>
          <p:cNvPr id="19" name="Shape 16"/>
          <p:cNvSpPr/>
          <p:nvPr/>
        </p:nvSpPr>
        <p:spPr>
          <a:xfrm>
            <a:off x="7702550" y="3106142"/>
            <a:ext cx="3670300" cy="876201"/>
          </a:xfrm>
          <a:prstGeom prst="roundRect">
            <a:avLst>
              <a:gd name="adj" fmla="val 10871"/>
            </a:avLst>
          </a:prstGeom>
          <a:solidFill>
            <a:srgbClr val="E3EAFB"/>
          </a:solidFill>
          <a:ln w="12700">
            <a:solidFill>
              <a:srgbClr val="1D4ED8"/>
            </a:solidFill>
            <a:prstDash val="solid"/>
          </a:ln>
        </p:spPr>
        <p:txBody>
          <a:bodyPr/>
          <a:lstStyle/>
          <a:p>
            <a:endParaRPr lang="en-TH"/>
          </a:p>
        </p:txBody>
      </p:sp>
      <p:sp>
        <p:nvSpPr>
          <p:cNvPr id="20" name="Text 17"/>
          <p:cNvSpPr/>
          <p:nvPr/>
        </p:nvSpPr>
        <p:spPr>
          <a:xfrm>
            <a:off x="7886700" y="3290292"/>
            <a:ext cx="34010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Sandbox MG</a:t>
            </a:r>
            <a:endParaRPr lang="en-US" sz="1600" dirty="0"/>
          </a:p>
        </p:txBody>
      </p:sp>
      <p:sp>
        <p:nvSpPr>
          <p:cNvPr id="21" name="Text 18"/>
          <p:cNvSpPr/>
          <p:nvPr/>
        </p:nvSpPr>
        <p:spPr>
          <a:xfrm>
            <a:off x="7886700" y="3584873"/>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Sandbox subscriptions · in scope</a:t>
            </a:r>
            <a:endParaRPr lang="en-US" sz="1200" dirty="0"/>
          </a:p>
        </p:txBody>
      </p:sp>
      <p:sp>
        <p:nvSpPr>
          <p:cNvPr id="22" name="Shape 19"/>
          <p:cNvSpPr/>
          <p:nvPr/>
        </p:nvSpPr>
        <p:spPr>
          <a:xfrm>
            <a:off x="7702550" y="4122043"/>
            <a:ext cx="3670300" cy="876201"/>
          </a:xfrm>
          <a:prstGeom prst="roundRect">
            <a:avLst>
              <a:gd name="adj" fmla="val 10871"/>
            </a:avLst>
          </a:prstGeom>
          <a:solidFill>
            <a:srgbClr val="FBEFD9"/>
          </a:solidFill>
          <a:ln w="12700">
            <a:solidFill>
              <a:srgbClr val="9A5B00"/>
            </a:solidFill>
            <a:prstDash val="dash"/>
          </a:ln>
        </p:spPr>
        <p:txBody>
          <a:bodyPr/>
          <a:lstStyle/>
          <a:p>
            <a:endParaRPr lang="en-TH"/>
          </a:p>
        </p:txBody>
      </p:sp>
      <p:sp>
        <p:nvSpPr>
          <p:cNvPr id="23" name="Text 20"/>
          <p:cNvSpPr/>
          <p:nvPr/>
        </p:nvSpPr>
        <p:spPr>
          <a:xfrm>
            <a:off x="7886700" y="4306193"/>
            <a:ext cx="34010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Production subscriptions</a:t>
            </a:r>
            <a:endParaRPr lang="en-US" sz="1600" dirty="0"/>
          </a:p>
        </p:txBody>
      </p:sp>
      <p:sp>
        <p:nvSpPr>
          <p:cNvPr id="24" name="Text 21"/>
          <p:cNvSpPr/>
          <p:nvPr/>
        </p:nvSpPr>
        <p:spPr>
          <a:xfrm>
            <a:off x="7886700" y="4600773"/>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Tagged environment=prod · always skipped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SEVEN RESOURCE TYPES IN PHASE 1</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What it manages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6972300" cy="3336330"/>
        </p:xfrm>
        <a:graphic>
          <a:graphicData uri="http://schemas.openxmlformats.org/drawingml/2006/table">
            <a:tbl>
              <a:tblPr/>
              <a:tblGrid>
                <a:gridCol w="2370582">
                  <a:extLst>
                    <a:ext uri="{9D8B030D-6E8A-4147-A177-3AD203B41FA5}">
                      <a16:colId xmlns:a16="http://schemas.microsoft.com/office/drawing/2014/main" val="20000"/>
                    </a:ext>
                  </a:extLst>
                </a:gridCol>
                <a:gridCol w="3067812">
                  <a:extLst>
                    <a:ext uri="{9D8B030D-6E8A-4147-A177-3AD203B41FA5}">
                      <a16:colId xmlns:a16="http://schemas.microsoft.com/office/drawing/2014/main" val="20001"/>
                    </a:ext>
                  </a:extLst>
                </a:gridCol>
                <a:gridCol w="1533906">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Resource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Stop action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Starts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Virtual machines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Deallocate, so compute isn't billed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VM scale sets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Deallocate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AKS clusters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Stop cluster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08:15</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App Gateway v2</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Stop</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08:15</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4"/>
                  </a:ext>
                </a:extLst>
              </a:tr>
              <a:tr h="590352">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PostgreSQL Flexible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Stop; re-stopped after 7-day auto-restart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5"/>
                  </a:ext>
                </a:extLst>
              </a:tr>
              <a:tr h="590352">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MySQL Flexible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Stop; re-stopped after 7-day auto-restart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SQL Managed Instance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Stop</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08:00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8058150" y="1890911"/>
            <a:ext cx="3314700" cy="1907480"/>
          </a:xfrm>
          <a:prstGeom prst="roundRect">
            <a:avLst>
              <a:gd name="adj" fmla="val 4993"/>
            </a:avLst>
          </a:prstGeom>
          <a:solidFill>
            <a:srgbClr val="FBEFD9"/>
          </a:solidFill>
          <a:ln w="12700">
            <a:solidFill>
              <a:srgbClr val="9A5B00"/>
            </a:solidFill>
            <a:prstDash val="dash"/>
          </a:ln>
        </p:spPr>
        <p:txBody>
          <a:bodyPr/>
          <a:lstStyle/>
          <a:p>
            <a:endParaRPr lang="en-TH"/>
          </a:p>
        </p:txBody>
      </p:sp>
      <p:sp>
        <p:nvSpPr>
          <p:cNvPr id="6" name="Text 3"/>
          <p:cNvSpPr/>
          <p:nvPr/>
        </p:nvSpPr>
        <p:spPr>
          <a:xfrm>
            <a:off x="8267700" y="2100461"/>
            <a:ext cx="298246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Out of scope</a:t>
            </a:r>
            <a:endParaRPr lang="en-US" sz="1600" dirty="0"/>
          </a:p>
        </p:txBody>
      </p:sp>
      <p:sp>
        <p:nvSpPr>
          <p:cNvPr id="7" name="Text 4"/>
          <p:cNvSpPr/>
          <p:nvPr/>
        </p:nvSpPr>
        <p:spPr>
          <a:xfrm>
            <a:off x="8366506" y="2445841"/>
            <a:ext cx="2876042" cy="11684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0F1B2D"/>
                </a:solidFill>
                <a:latin typeface="IBM Plex Sans" pitchFamily="34" charset="0"/>
                <a:ea typeface="IBM Plex Sans" pitchFamily="34" charset="-122"/>
                <a:cs typeface="IBM Plex Sans" pitchFamily="34" charset="-120"/>
              </a:rPr>
              <a:t>Azure SQL Database (no stop operation, D-08)</a:t>
            </a:r>
            <a:endParaRPr lang="en-US" sz="1200" dirty="0"/>
          </a:p>
          <a:p>
            <a:pPr marL="155194" indent="-155194" algn="l">
              <a:lnSpc>
                <a:spcPts val="1800"/>
              </a:lnSpc>
              <a:buSzPct val="100000"/>
              <a:buChar char="•"/>
            </a:pPr>
            <a:r>
              <a:rPr lang="en-US" sz="1200" dirty="0">
                <a:solidFill>
                  <a:srgbClr val="0F1B2D"/>
                </a:solidFill>
                <a:latin typeface="IBM Plex Sans" pitchFamily="34" charset="0"/>
                <a:ea typeface="IBM Plex Sans" pitchFamily="34" charset="-122"/>
                <a:cs typeface="IBM Plex Sans" pitchFamily="34" charset="-120"/>
              </a:rPr>
              <a:t>Cosmos DB (no stop operation)</a:t>
            </a:r>
            <a:endParaRPr lang="en-US" sz="1200" dirty="0"/>
          </a:p>
          <a:p>
            <a:pPr marL="155194" indent="-155194" algn="l">
              <a:lnSpc>
                <a:spcPts val="1800"/>
              </a:lnSpc>
              <a:buSzPct val="100000"/>
              <a:buChar char="•"/>
            </a:pPr>
            <a:r>
              <a:rPr lang="en-US" sz="1200" dirty="0">
                <a:solidFill>
                  <a:srgbClr val="0F1B2D"/>
                </a:solidFill>
                <a:latin typeface="IBM Plex Sans" pitchFamily="34" charset="0"/>
                <a:ea typeface="IBM Plex Sans" pitchFamily="34" charset="-122"/>
                <a:cs typeface="IBM Plex Sans" pitchFamily="34" charset="-120"/>
              </a:rPr>
              <a:t>Hub and platform services</a:t>
            </a:r>
            <a:endParaRPr lang="en-US" sz="1200" dirty="0"/>
          </a:p>
          <a:p>
            <a:pPr marL="155194" indent="-155194" algn="l">
              <a:lnSpc>
                <a:spcPts val="1800"/>
              </a:lnSpc>
              <a:buSzPct val="100000"/>
              <a:buChar char="•"/>
            </a:pPr>
            <a:r>
              <a:rPr lang="en-US" sz="1200" dirty="0">
                <a:solidFill>
                  <a:srgbClr val="0F1B2D"/>
                </a:solidFill>
                <a:latin typeface="IBM Plex Sans" pitchFamily="34" charset="0"/>
                <a:ea typeface="IBM Plex Sans" pitchFamily="34" charset="-122"/>
                <a:cs typeface="IBM Plex Sans" pitchFamily="34" charset="-120"/>
              </a:rPr>
              <a:t>Anything in production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MON–FRI · ASIA/BANGKOK (UTC+7)</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The standard schedule</a:t>
            </a:r>
            <a:endParaRPr lang="en-US" sz="3600" dirty="0"/>
          </a:p>
        </p:txBody>
      </p:sp>
      <p:sp>
        <p:nvSpPr>
          <p:cNvPr id="4" name="Shape 2"/>
          <p:cNvSpPr/>
          <p:nvPr/>
        </p:nvSpPr>
        <p:spPr>
          <a:xfrm>
            <a:off x="3225800" y="2011561"/>
            <a:ext cx="8153400" cy="2489200"/>
          </a:xfrm>
          <a:prstGeom prst="roundRect">
            <a:avLst>
              <a:gd name="adj" fmla="val 3061"/>
            </a:avLst>
          </a:prstGeom>
          <a:solidFill>
            <a:srgbClr val="E9ECE4"/>
          </a:solidFill>
          <a:ln/>
        </p:spPr>
        <p:txBody>
          <a:bodyPr/>
          <a:lstStyle/>
          <a:p>
            <a:endParaRPr lang="en-TH"/>
          </a:p>
        </p:txBody>
      </p:sp>
      <p:sp>
        <p:nvSpPr>
          <p:cNvPr id="5" name="Text 3"/>
          <p:cNvSpPr/>
          <p:nvPr/>
        </p:nvSpPr>
        <p:spPr>
          <a:xfrm>
            <a:off x="812800" y="2138561"/>
            <a:ext cx="22237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Databases</a:t>
            </a:r>
            <a:endParaRPr lang="en-US" sz="1600" dirty="0"/>
          </a:p>
        </p:txBody>
      </p:sp>
      <p:sp>
        <p:nvSpPr>
          <p:cNvPr id="6" name="Text 4"/>
          <p:cNvSpPr/>
          <p:nvPr/>
        </p:nvSpPr>
        <p:spPr>
          <a:xfrm>
            <a:off x="812800" y="2407741"/>
            <a:ext cx="222377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PostgreSQL, MySQL, SQL MI</a:t>
            </a:r>
            <a:endParaRPr lang="en-US" sz="1200" dirty="0"/>
          </a:p>
        </p:txBody>
      </p:sp>
      <p:sp>
        <p:nvSpPr>
          <p:cNvPr id="7" name="Text 5"/>
          <p:cNvSpPr/>
          <p:nvPr/>
        </p:nvSpPr>
        <p:spPr>
          <a:xfrm>
            <a:off x="812800" y="2938661"/>
            <a:ext cx="22237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Platforms</a:t>
            </a:r>
            <a:endParaRPr lang="en-US" sz="1600" dirty="0"/>
          </a:p>
        </p:txBody>
      </p:sp>
      <p:sp>
        <p:nvSpPr>
          <p:cNvPr id="8" name="Text 6"/>
          <p:cNvSpPr/>
          <p:nvPr/>
        </p:nvSpPr>
        <p:spPr>
          <a:xfrm>
            <a:off x="812800" y="3207841"/>
            <a:ext cx="222377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AKS, App Gateway</a:t>
            </a:r>
            <a:endParaRPr lang="en-US" sz="1200" dirty="0"/>
          </a:p>
        </p:txBody>
      </p:sp>
      <p:sp>
        <p:nvSpPr>
          <p:cNvPr id="9" name="Text 7"/>
          <p:cNvSpPr/>
          <p:nvPr/>
        </p:nvSpPr>
        <p:spPr>
          <a:xfrm>
            <a:off x="812800" y="3738761"/>
            <a:ext cx="22237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Compute</a:t>
            </a:r>
            <a:endParaRPr lang="en-US" sz="1600" dirty="0"/>
          </a:p>
        </p:txBody>
      </p:sp>
      <p:sp>
        <p:nvSpPr>
          <p:cNvPr id="10" name="Text 8"/>
          <p:cNvSpPr/>
          <p:nvPr/>
        </p:nvSpPr>
        <p:spPr>
          <a:xfrm>
            <a:off x="812800" y="4007941"/>
            <a:ext cx="2223770"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A5568"/>
                </a:solidFill>
                <a:latin typeface="IBM Plex Sans" pitchFamily="34" charset="0"/>
                <a:ea typeface="IBM Plex Sans" pitchFamily="34" charset="-122"/>
                <a:cs typeface="IBM Plex Sans" pitchFamily="34" charset="-120"/>
              </a:rPr>
              <a:t>VMs, VM scale sets</a:t>
            </a:r>
            <a:endParaRPr lang="en-US" sz="1200" dirty="0"/>
          </a:p>
        </p:txBody>
      </p:sp>
      <p:sp>
        <p:nvSpPr>
          <p:cNvPr id="11" name="Shape 9"/>
          <p:cNvSpPr/>
          <p:nvPr/>
        </p:nvSpPr>
        <p:spPr>
          <a:xfrm>
            <a:off x="3905250" y="2138561"/>
            <a:ext cx="6457950" cy="508000"/>
          </a:xfrm>
          <a:prstGeom prst="roundRect">
            <a:avLst>
              <a:gd name="adj" fmla="val 15000"/>
            </a:avLst>
          </a:prstGeom>
          <a:solidFill>
            <a:srgbClr val="1D4ED8"/>
          </a:solidFill>
          <a:ln/>
        </p:spPr>
        <p:txBody>
          <a:bodyPr/>
          <a:lstStyle/>
          <a:p>
            <a:endParaRPr lang="en-TH"/>
          </a:p>
        </p:txBody>
      </p:sp>
      <p:sp>
        <p:nvSpPr>
          <p:cNvPr id="12" name="Shape 10"/>
          <p:cNvSpPr/>
          <p:nvPr/>
        </p:nvSpPr>
        <p:spPr>
          <a:xfrm>
            <a:off x="4076700" y="2938661"/>
            <a:ext cx="6286500" cy="508000"/>
          </a:xfrm>
          <a:prstGeom prst="roundRect">
            <a:avLst>
              <a:gd name="adj" fmla="val 15000"/>
            </a:avLst>
          </a:prstGeom>
          <a:solidFill>
            <a:srgbClr val="1D4ED8"/>
          </a:solidFill>
          <a:ln/>
        </p:spPr>
        <p:txBody>
          <a:bodyPr/>
          <a:lstStyle/>
          <a:p>
            <a:endParaRPr lang="en-TH"/>
          </a:p>
        </p:txBody>
      </p:sp>
      <p:sp>
        <p:nvSpPr>
          <p:cNvPr id="13" name="Shape 11"/>
          <p:cNvSpPr/>
          <p:nvPr/>
        </p:nvSpPr>
        <p:spPr>
          <a:xfrm>
            <a:off x="4241800" y="3738761"/>
            <a:ext cx="6121400" cy="508000"/>
          </a:xfrm>
          <a:prstGeom prst="roundRect">
            <a:avLst>
              <a:gd name="adj" fmla="val 15000"/>
            </a:avLst>
          </a:prstGeom>
          <a:solidFill>
            <a:srgbClr val="1D4ED8"/>
          </a:solidFill>
          <a:ln/>
        </p:spPr>
        <p:txBody>
          <a:bodyPr/>
          <a:lstStyle/>
          <a:p>
            <a:endParaRPr lang="en-TH"/>
          </a:p>
        </p:txBody>
      </p:sp>
      <p:sp>
        <p:nvSpPr>
          <p:cNvPr id="14" name="Text 12"/>
          <p:cNvSpPr/>
          <p:nvPr/>
        </p:nvSpPr>
        <p:spPr>
          <a:xfrm>
            <a:off x="4057650" y="2284611"/>
            <a:ext cx="32702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5F0"/>
                </a:solidFill>
                <a:latin typeface="IBM Plex Sans" pitchFamily="34" charset="0"/>
                <a:ea typeface="IBM Plex Sans" pitchFamily="34" charset="-122"/>
                <a:cs typeface="IBM Plex Sans" pitchFamily="34" charset="-120"/>
              </a:rPr>
              <a:t>Running 08:00 → 17:30</a:t>
            </a:r>
            <a:endParaRPr lang="en-US" sz="1200" dirty="0"/>
          </a:p>
        </p:txBody>
      </p:sp>
      <p:sp>
        <p:nvSpPr>
          <p:cNvPr id="15" name="Text 13"/>
          <p:cNvSpPr/>
          <p:nvPr/>
        </p:nvSpPr>
        <p:spPr>
          <a:xfrm>
            <a:off x="4229100" y="3084711"/>
            <a:ext cx="32702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5F0"/>
                </a:solidFill>
                <a:latin typeface="IBM Plex Sans" pitchFamily="34" charset="0"/>
                <a:ea typeface="IBM Plex Sans" pitchFamily="34" charset="-122"/>
                <a:cs typeface="IBM Plex Sans" pitchFamily="34" charset="-120"/>
              </a:rPr>
              <a:t>Running 08:15 → 17:30</a:t>
            </a:r>
            <a:endParaRPr lang="en-US" sz="1200" dirty="0"/>
          </a:p>
        </p:txBody>
      </p:sp>
      <p:sp>
        <p:nvSpPr>
          <p:cNvPr id="16" name="Text 14"/>
          <p:cNvSpPr/>
          <p:nvPr/>
        </p:nvSpPr>
        <p:spPr>
          <a:xfrm>
            <a:off x="4394200" y="3884811"/>
            <a:ext cx="32702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5F0"/>
                </a:solidFill>
                <a:latin typeface="IBM Plex Sans" pitchFamily="34" charset="0"/>
                <a:ea typeface="IBM Plex Sans" pitchFamily="34" charset="-122"/>
                <a:cs typeface="IBM Plex Sans" pitchFamily="34" charset="-120"/>
              </a:rPr>
              <a:t>Running 08:30 → 17:30</a:t>
            </a:r>
            <a:endParaRPr lang="en-US" sz="1200" dirty="0"/>
          </a:p>
        </p:txBody>
      </p:sp>
      <p:pic>
        <p:nvPicPr>
          <p:cNvPr id="17" name="Image 0" descr="connector"/>
          <p:cNvPicPr>
            <a:picLocks noChangeAspect="1"/>
          </p:cNvPicPr>
          <p:nvPr/>
        </p:nvPicPr>
        <p:blipFill>
          <a:blip r:embed="rId3"/>
          <a:srcRect/>
          <a:stretch/>
        </p:blipFill>
        <p:spPr>
          <a:xfrm>
            <a:off x="10312400" y="1909961"/>
            <a:ext cx="101600" cy="2667000"/>
          </a:xfrm>
          <a:prstGeom prst="rect">
            <a:avLst/>
          </a:prstGeom>
        </p:spPr>
      </p:pic>
      <p:sp>
        <p:nvSpPr>
          <p:cNvPr id="18" name="Text 15"/>
          <p:cNvSpPr/>
          <p:nvPr/>
        </p:nvSpPr>
        <p:spPr>
          <a:xfrm>
            <a:off x="28829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07:00</a:t>
            </a:r>
            <a:endParaRPr lang="en-US" sz="1200" dirty="0"/>
          </a:p>
        </p:txBody>
      </p:sp>
      <p:sp>
        <p:nvSpPr>
          <p:cNvPr id="19" name="Text 16"/>
          <p:cNvSpPr/>
          <p:nvPr/>
        </p:nvSpPr>
        <p:spPr>
          <a:xfrm>
            <a:off x="42418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09:00</a:t>
            </a:r>
            <a:endParaRPr lang="en-US" sz="1200" dirty="0"/>
          </a:p>
        </p:txBody>
      </p:sp>
      <p:sp>
        <p:nvSpPr>
          <p:cNvPr id="20" name="Text 17"/>
          <p:cNvSpPr/>
          <p:nvPr/>
        </p:nvSpPr>
        <p:spPr>
          <a:xfrm>
            <a:off x="56007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11:00</a:t>
            </a:r>
            <a:endParaRPr lang="en-US" sz="1200" dirty="0"/>
          </a:p>
        </p:txBody>
      </p:sp>
      <p:sp>
        <p:nvSpPr>
          <p:cNvPr id="21" name="Text 18"/>
          <p:cNvSpPr/>
          <p:nvPr/>
        </p:nvSpPr>
        <p:spPr>
          <a:xfrm>
            <a:off x="69596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13:00</a:t>
            </a:r>
            <a:endParaRPr lang="en-US" sz="1200" dirty="0"/>
          </a:p>
        </p:txBody>
      </p:sp>
      <p:sp>
        <p:nvSpPr>
          <p:cNvPr id="22" name="Text 19"/>
          <p:cNvSpPr/>
          <p:nvPr/>
        </p:nvSpPr>
        <p:spPr>
          <a:xfrm>
            <a:off x="83185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15:00</a:t>
            </a:r>
            <a:endParaRPr lang="en-US" sz="1200" dirty="0"/>
          </a:p>
        </p:txBody>
      </p:sp>
      <p:sp>
        <p:nvSpPr>
          <p:cNvPr id="23" name="Text 20"/>
          <p:cNvSpPr/>
          <p:nvPr/>
        </p:nvSpPr>
        <p:spPr>
          <a:xfrm>
            <a:off x="9677400" y="4627761"/>
            <a:ext cx="685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17:00</a:t>
            </a:r>
            <a:endParaRPr lang="en-US" sz="1200" dirty="0"/>
          </a:p>
        </p:txBody>
      </p:sp>
      <p:sp>
        <p:nvSpPr>
          <p:cNvPr id="24" name="Text 21"/>
          <p:cNvSpPr/>
          <p:nvPr/>
        </p:nvSpPr>
        <p:spPr>
          <a:xfrm>
            <a:off x="10693400" y="4627761"/>
            <a:ext cx="685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19:00</a:t>
            </a:r>
            <a:endParaRPr lang="en-US" sz="1200" dirty="0"/>
          </a:p>
        </p:txBody>
      </p:sp>
      <p:sp>
        <p:nvSpPr>
          <p:cNvPr id="25" name="Text 22"/>
          <p:cNvSpPr/>
          <p:nvPr/>
        </p:nvSpPr>
        <p:spPr>
          <a:xfrm>
            <a:off x="3225800" y="4919861"/>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IBM Plex Sans" pitchFamily="34" charset="0"/>
                <a:ea typeface="IBM Plex Sans" pitchFamily="34" charset="-122"/>
                <a:cs typeface="IBM Plex Sans" pitchFamily="34" charset="-120"/>
              </a:rPr>
              <a:t>Stopped before the start, after 17:30, and all weekend</a:t>
            </a:r>
            <a:endParaRPr lang="en-US" sz="1200" dirty="0"/>
          </a:p>
        </p:txBody>
      </p:sp>
      <p:sp>
        <p:nvSpPr>
          <p:cNvPr id="26" name="Text 23"/>
          <p:cNvSpPr/>
          <p:nvPr/>
        </p:nvSpPr>
        <p:spPr>
          <a:xfrm>
            <a:off x="7847330" y="4919861"/>
            <a:ext cx="353187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5B00"/>
                </a:solidFill>
                <a:latin typeface="IBM Plex Sans" pitchFamily="34" charset="0"/>
                <a:ea typeface="IBM Plex Sans" pitchFamily="34" charset="-122"/>
                <a:cs typeface="IBM Plex Sans" pitchFamily="34" charset="-120"/>
              </a:rPr>
              <a:t>17:30 stop · VMs first, databases last</a:t>
            </a:r>
            <a:endParaRPr lang="en-US" sz="1200" dirty="0"/>
          </a:p>
        </p:txBody>
      </p:sp>
      <p:sp>
        <p:nvSpPr>
          <p:cNvPr id="27" name="Text 24"/>
          <p:cNvSpPr/>
          <p:nvPr/>
        </p:nvSpPr>
        <p:spPr>
          <a:xfrm>
            <a:off x="812800" y="556756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2D"/>
                </a:solidFill>
                <a:latin typeface="IBM Plex Sans" pitchFamily="34" charset="0"/>
                <a:ea typeface="IBM Plex Sans" pitchFamily="34" charset="-122"/>
                <a:cs typeface="IBM Plex Sans" pitchFamily="34" charset="-120"/>
              </a:rPr>
              <a:t>Dependencies start first, so applications find their databases ready at 08:30.</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OPT IN WITH ONE TAG</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Onboarding with tags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155626"/>
        </p:xfrm>
        <a:graphic>
          <a:graphicData uri="http://schemas.openxmlformats.org/drawingml/2006/table">
            <a:tbl>
              <a:tblPr/>
              <a:tblGrid>
                <a:gridCol w="2743962">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5171313">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Tag</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tc>
                  <a:txBody>
                    <a:bodyPr/>
                    <a:lstStyle/>
                    <a:p>
                      <a:pPr marL="0" indent="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8BAB4"/>
                      </a:solidFill>
                      <a:prstDash val="solid"/>
                      <a:round/>
                      <a:headEnd type="none" w="med" len="med"/>
                      <a:tailEnd type="none" w="med" len="med"/>
                    </a:lnL>
                    <a:lnR w="12700" cap="flat" cmpd="sng" algn="ctr">
                      <a:solidFill>
                        <a:srgbClr val="B8BAB4"/>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8BAB4"/>
                      </a:solidFill>
                      <a:prstDash val="solid"/>
                      <a:round/>
                      <a:headEnd type="none" w="med" len="med"/>
                      <a:tailEnd type="none" w="med" len="med"/>
                    </a:lnB>
                    <a:solidFill>
                      <a:srgbClr val="E6E9E1"/>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schedule-profile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weekday-0830-1730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Opts in; the most specific level wins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B8BAB4"/>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schedule-enabled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false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Opts out without removing the profile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schedule-override-state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running or stopped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State to hold during a temporary override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schedule-override-until</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2026-10-10T21:00+07:00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When the override ends and the schedule resumes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F1B2D"/>
                          </a:solidFill>
                          <a:latin typeface="IBM Plex Sans" pitchFamily="34" charset="0"/>
                          <a:ea typeface="IBM Plex Sans" pitchFamily="34" charset="-122"/>
                          <a:cs typeface="IBM Plex Sans" pitchFamily="34" charset="-120"/>
                        </a:rPr>
                        <a:t>schedule-order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Start order, 1 first; stops run in reverse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306888"/>
            <a:ext cx="10566400" cy="1041400"/>
          </a:xfrm>
          <a:prstGeom prst="roundRect">
            <a:avLst>
              <a:gd name="adj" fmla="val 9756"/>
            </a:avLst>
          </a:prstGeom>
          <a:solidFill>
            <a:srgbClr val="0F1B2D"/>
          </a:solidFill>
          <a:ln/>
        </p:spPr>
        <p:txBody>
          <a:bodyPr wrap="square" lIns="173442" tIns="148042" rIns="0" bIns="122642" rtlCol="0" anchor="t">
            <a:normAutofit/>
          </a:bodyPr>
          <a:lstStyle/>
          <a:p>
            <a:pPr marL="0" indent="0" algn="l">
              <a:lnSpc>
                <a:spcPts val="1800"/>
              </a:lnSpc>
              <a:buNone/>
            </a:pPr>
            <a:r>
              <a:rPr lang="en-US" sz="1200" dirty="0">
                <a:solidFill>
                  <a:srgbClr val="F4F5F0"/>
                </a:solidFill>
                <a:latin typeface="JetBrains Mono" pitchFamily="49" charset="0"/>
                <a:ea typeface="JetBrains Mono" pitchFamily="49" charset="-122"/>
                <a:cs typeface="JetBrains Mono" pitchFamily="49" charset="-120"/>
              </a:rPr>
              <a:t>az tag update --operation Merge \</a:t>
            </a:r>
            <a:endParaRPr lang="en-US" sz="1200" dirty="0"/>
          </a:p>
          <a:p>
            <a:pPr marL="0" indent="0" algn="l">
              <a:lnSpc>
                <a:spcPts val="1800"/>
              </a:lnSpc>
              <a:buNone/>
            </a:pPr>
            <a:r>
              <a:rPr lang="en-US" sz="1200" dirty="0">
                <a:solidFill>
                  <a:srgbClr val="F4F5F0"/>
                </a:solidFill>
                <a:latin typeface="JetBrains Mono" pitchFamily="49" charset="0"/>
                <a:ea typeface="JetBrains Mono" pitchFamily="49" charset="-122"/>
                <a:cs typeface="JetBrains Mono" pitchFamily="49" charset="-120"/>
              </a:rPr>
              <a:t>--resource-id "/subscriptions/&lt;sub-id&gt;/resourceGroups/&lt;rg&gt;" \</a:t>
            </a:r>
            <a:endParaRPr lang="en-US" sz="1200" dirty="0"/>
          </a:p>
          <a:p>
            <a:pPr marL="0" indent="0" algn="l">
              <a:lnSpc>
                <a:spcPts val="1800"/>
              </a:lnSpc>
              <a:buNone/>
            </a:pPr>
            <a:r>
              <a:rPr lang="en-US" sz="1200" dirty="0">
                <a:solidFill>
                  <a:srgbClr val="F4F5F0"/>
                </a:solidFill>
                <a:latin typeface="JetBrains Mono" pitchFamily="49" charset="0"/>
                <a:ea typeface="JetBrains Mono" pitchFamily="49" charset="-122"/>
                <a:cs typeface="JetBrains Mono" pitchFamily="49" charset="-120"/>
              </a:rPr>
              <a:t>--tags schedule-profile=weekday-0830-1730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DEFENCE IN DEPTH</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Safety guardrails</a:t>
            </a:r>
            <a:endParaRPr lang="en-US" sz="3600" dirty="0"/>
          </a:p>
        </p:txBody>
      </p:sp>
      <p:sp>
        <p:nvSpPr>
          <p:cNvPr id="4" name="Shape 2"/>
          <p:cNvSpPr/>
          <p:nvPr/>
        </p:nvSpPr>
        <p:spPr>
          <a:xfrm>
            <a:off x="815975" y="1938536"/>
            <a:ext cx="3380284" cy="1433711"/>
          </a:xfrm>
          <a:prstGeom prst="roundRect">
            <a:avLst>
              <a:gd name="adj" fmla="val 6865"/>
            </a:avLst>
          </a:prstGeom>
          <a:solidFill>
            <a:srgbClr val="FCFCF9"/>
          </a:solidFill>
          <a:ln w="6350">
            <a:solidFill>
              <a:srgbClr val="D8DCD2"/>
            </a:solidFill>
            <a:prstDash val="solid"/>
          </a:ln>
        </p:spPr>
        <p:txBody>
          <a:bodyPr/>
          <a:lstStyle/>
          <a:p>
            <a:endParaRPr lang="en-TH"/>
          </a:p>
        </p:txBody>
      </p:sp>
      <p:pic>
        <p:nvPicPr>
          <p:cNvPr id="5" name="Image 0" descr="Lock"/>
          <p:cNvPicPr>
            <a:picLocks noChangeAspect="1"/>
          </p:cNvPicPr>
          <p:nvPr/>
        </p:nvPicPr>
        <p:blipFill>
          <a:blip r:embed="rId3"/>
          <a:srcRect/>
          <a:stretch/>
        </p:blipFill>
        <p:spPr>
          <a:xfrm>
            <a:off x="1022350" y="2144911"/>
            <a:ext cx="304800" cy="304800"/>
          </a:xfrm>
          <a:prstGeom prst="rect">
            <a:avLst/>
          </a:prstGeom>
        </p:spPr>
      </p:pic>
      <p:sp>
        <p:nvSpPr>
          <p:cNvPr id="6" name="Text 3"/>
          <p:cNvSpPr/>
          <p:nvPr/>
        </p:nvSpPr>
        <p:spPr>
          <a:xfrm>
            <a:off x="1428750" y="2175371"/>
            <a:ext cx="26642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Production untouched</a:t>
            </a:r>
            <a:endParaRPr lang="en-US" sz="1600" dirty="0"/>
          </a:p>
        </p:txBody>
      </p:sp>
      <p:sp>
        <p:nvSpPr>
          <p:cNvPr id="7" name="Text 4"/>
          <p:cNvSpPr/>
          <p:nvPr/>
        </p:nvSpPr>
        <p:spPr>
          <a:xfrm>
            <a:off x="1022350" y="2525911"/>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Subscriptions tagged environment=prod are always skipped. There is no opt-in.</a:t>
            </a:r>
            <a:endParaRPr lang="en-US" sz="1200" dirty="0"/>
          </a:p>
        </p:txBody>
      </p:sp>
      <p:sp>
        <p:nvSpPr>
          <p:cNvPr id="8" name="Shape 5"/>
          <p:cNvSpPr/>
          <p:nvPr/>
        </p:nvSpPr>
        <p:spPr>
          <a:xfrm>
            <a:off x="4405809" y="1938536"/>
            <a:ext cx="3380284" cy="1433711"/>
          </a:xfrm>
          <a:prstGeom prst="roundRect">
            <a:avLst>
              <a:gd name="adj" fmla="val 6865"/>
            </a:avLst>
          </a:prstGeom>
          <a:solidFill>
            <a:srgbClr val="FCFCF9"/>
          </a:solidFill>
          <a:ln w="6350">
            <a:solidFill>
              <a:srgbClr val="D8DCD2"/>
            </a:solidFill>
            <a:prstDash val="solid"/>
          </a:ln>
        </p:spPr>
        <p:txBody>
          <a:bodyPr/>
          <a:lstStyle/>
          <a:p>
            <a:endParaRPr lang="en-TH"/>
          </a:p>
        </p:txBody>
      </p:sp>
      <p:pic>
        <p:nvPicPr>
          <p:cNvPr id="9" name="Image 1" descr="Globe"/>
          <p:cNvPicPr>
            <a:picLocks noChangeAspect="1"/>
          </p:cNvPicPr>
          <p:nvPr/>
        </p:nvPicPr>
        <p:blipFill>
          <a:blip r:embed="rId4"/>
          <a:srcRect/>
          <a:stretch/>
        </p:blipFill>
        <p:spPr>
          <a:xfrm>
            <a:off x="4612184" y="2144911"/>
            <a:ext cx="304800" cy="304800"/>
          </a:xfrm>
          <a:prstGeom prst="rect">
            <a:avLst/>
          </a:prstGeom>
        </p:spPr>
      </p:pic>
      <p:sp>
        <p:nvSpPr>
          <p:cNvPr id="10" name="Text 6"/>
          <p:cNvSpPr/>
          <p:nvPr/>
        </p:nvSpPr>
        <p:spPr>
          <a:xfrm>
            <a:off x="5018584" y="2175371"/>
            <a:ext cx="1548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Hub stays up</a:t>
            </a:r>
            <a:endParaRPr lang="en-US" sz="1600" dirty="0"/>
          </a:p>
        </p:txBody>
      </p:sp>
      <p:sp>
        <p:nvSpPr>
          <p:cNvPr id="11" name="Text 7"/>
          <p:cNvSpPr/>
          <p:nvPr/>
        </p:nvSpPr>
        <p:spPr>
          <a:xfrm>
            <a:off x="4612184" y="2525911"/>
            <a:ext cx="30565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Platform MG excluded by scope, by RBAC, and by a hard deny list for firewalls, gateways and Bastion.</a:t>
            </a:r>
            <a:endParaRPr lang="en-US" sz="1200" dirty="0"/>
          </a:p>
        </p:txBody>
      </p:sp>
      <p:sp>
        <p:nvSpPr>
          <p:cNvPr id="12" name="Shape 8"/>
          <p:cNvSpPr/>
          <p:nvPr/>
        </p:nvSpPr>
        <p:spPr>
          <a:xfrm>
            <a:off x="7995642" y="1938536"/>
            <a:ext cx="3380284" cy="1433711"/>
          </a:xfrm>
          <a:prstGeom prst="roundRect">
            <a:avLst>
              <a:gd name="adj" fmla="val 6865"/>
            </a:avLst>
          </a:prstGeom>
          <a:solidFill>
            <a:srgbClr val="FCFCF9"/>
          </a:solidFill>
          <a:ln w="6350">
            <a:solidFill>
              <a:srgbClr val="D8DCD2"/>
            </a:solidFill>
            <a:prstDash val="solid"/>
          </a:ln>
        </p:spPr>
        <p:txBody>
          <a:bodyPr/>
          <a:lstStyle/>
          <a:p>
            <a:endParaRPr lang="en-TH"/>
          </a:p>
        </p:txBody>
      </p:sp>
      <p:pic>
        <p:nvPicPr>
          <p:cNvPr id="13" name="Image 2" descr="Search"/>
          <p:cNvPicPr>
            <a:picLocks noChangeAspect="1"/>
          </p:cNvPicPr>
          <p:nvPr/>
        </p:nvPicPr>
        <p:blipFill>
          <a:blip r:embed="rId5"/>
          <a:srcRect/>
          <a:stretch/>
        </p:blipFill>
        <p:spPr>
          <a:xfrm>
            <a:off x="8202017" y="2144911"/>
            <a:ext cx="304800" cy="304800"/>
          </a:xfrm>
          <a:prstGeom prst="rect">
            <a:avLst/>
          </a:prstGeom>
        </p:spPr>
      </p:pic>
      <p:sp>
        <p:nvSpPr>
          <p:cNvPr id="14" name="Text 9"/>
          <p:cNvSpPr/>
          <p:nvPr/>
        </p:nvSpPr>
        <p:spPr>
          <a:xfrm>
            <a:off x="8608417" y="2175371"/>
            <a:ext cx="14205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Dry run first</a:t>
            </a:r>
            <a:endParaRPr lang="en-US" sz="1600" dirty="0"/>
          </a:p>
        </p:txBody>
      </p:sp>
      <p:sp>
        <p:nvSpPr>
          <p:cNvPr id="15" name="Text 10"/>
          <p:cNvSpPr/>
          <p:nvPr/>
        </p:nvSpPr>
        <p:spPr>
          <a:xfrm>
            <a:off x="8202017" y="2525911"/>
            <a:ext cx="30565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Deploys in dry-run mode: logs every decision and changes nothing until we switch it on.</a:t>
            </a:r>
            <a:endParaRPr lang="en-US" sz="1200" dirty="0"/>
          </a:p>
        </p:txBody>
      </p:sp>
      <p:sp>
        <p:nvSpPr>
          <p:cNvPr id="16" name="Shape 11"/>
          <p:cNvSpPr/>
          <p:nvPr/>
        </p:nvSpPr>
        <p:spPr>
          <a:xfrm>
            <a:off x="815975" y="3581797"/>
            <a:ext cx="3380284" cy="1220391"/>
          </a:xfrm>
          <a:prstGeom prst="roundRect">
            <a:avLst>
              <a:gd name="adj" fmla="val 8065"/>
            </a:avLst>
          </a:prstGeom>
          <a:solidFill>
            <a:srgbClr val="FCFCF9"/>
          </a:solidFill>
          <a:ln w="6350">
            <a:solidFill>
              <a:srgbClr val="D8DCD2"/>
            </a:solidFill>
            <a:prstDash val="solid"/>
          </a:ln>
        </p:spPr>
        <p:txBody>
          <a:bodyPr/>
          <a:lstStyle/>
          <a:p>
            <a:endParaRPr lang="en-TH"/>
          </a:p>
        </p:txBody>
      </p:sp>
      <p:pic>
        <p:nvPicPr>
          <p:cNvPr id="17" name="Image 3" descr="Warning"/>
          <p:cNvPicPr>
            <a:picLocks noChangeAspect="1"/>
          </p:cNvPicPr>
          <p:nvPr/>
        </p:nvPicPr>
        <p:blipFill>
          <a:blip r:embed="rId6"/>
          <a:srcRect/>
          <a:stretch/>
        </p:blipFill>
        <p:spPr>
          <a:xfrm>
            <a:off x="1022350" y="3788172"/>
            <a:ext cx="304800" cy="304800"/>
          </a:xfrm>
          <a:prstGeom prst="rect">
            <a:avLst/>
          </a:prstGeom>
        </p:spPr>
      </p:pic>
      <p:sp>
        <p:nvSpPr>
          <p:cNvPr id="18" name="Text 12"/>
          <p:cNvSpPr/>
          <p:nvPr/>
        </p:nvSpPr>
        <p:spPr>
          <a:xfrm>
            <a:off x="1428750" y="3818632"/>
            <a:ext cx="127099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Action cap</a:t>
            </a:r>
            <a:endParaRPr lang="en-US" sz="1600" dirty="0"/>
          </a:p>
        </p:txBody>
      </p:sp>
      <p:sp>
        <p:nvSpPr>
          <p:cNvPr id="19" name="Text 13"/>
          <p:cNvSpPr/>
          <p:nvPr/>
        </p:nvSpPr>
        <p:spPr>
          <a:xfrm>
            <a:off x="1022350" y="4169172"/>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At most 200 actions per cycle. Reaching the cap defers the rest and raises an alert.</a:t>
            </a:r>
            <a:endParaRPr lang="en-US" sz="1200" dirty="0"/>
          </a:p>
        </p:txBody>
      </p:sp>
      <p:sp>
        <p:nvSpPr>
          <p:cNvPr id="20" name="Shape 14"/>
          <p:cNvSpPr/>
          <p:nvPr/>
        </p:nvSpPr>
        <p:spPr>
          <a:xfrm>
            <a:off x="4405809" y="3581797"/>
            <a:ext cx="3380284" cy="1220391"/>
          </a:xfrm>
          <a:prstGeom prst="roundRect">
            <a:avLst>
              <a:gd name="adj" fmla="val 8065"/>
            </a:avLst>
          </a:prstGeom>
          <a:solidFill>
            <a:srgbClr val="FCFCF9"/>
          </a:solidFill>
          <a:ln w="6350">
            <a:solidFill>
              <a:srgbClr val="D8DCD2"/>
            </a:solidFill>
            <a:prstDash val="solid"/>
          </a:ln>
        </p:spPr>
        <p:txBody>
          <a:bodyPr/>
          <a:lstStyle/>
          <a:p>
            <a:endParaRPr lang="en-TH"/>
          </a:p>
        </p:txBody>
      </p:sp>
      <p:pic>
        <p:nvPicPr>
          <p:cNvPr id="21" name="Image 4" descr="Key"/>
          <p:cNvPicPr>
            <a:picLocks noChangeAspect="1"/>
          </p:cNvPicPr>
          <p:nvPr/>
        </p:nvPicPr>
        <p:blipFill>
          <a:blip r:embed="rId7"/>
          <a:srcRect/>
          <a:stretch/>
        </p:blipFill>
        <p:spPr>
          <a:xfrm>
            <a:off x="4612184" y="3788172"/>
            <a:ext cx="304800" cy="304800"/>
          </a:xfrm>
          <a:prstGeom prst="rect">
            <a:avLst/>
          </a:prstGeom>
        </p:spPr>
      </p:pic>
      <p:sp>
        <p:nvSpPr>
          <p:cNvPr id="22" name="Text 15"/>
          <p:cNvSpPr/>
          <p:nvPr/>
        </p:nvSpPr>
        <p:spPr>
          <a:xfrm>
            <a:off x="5018584" y="3818632"/>
            <a:ext cx="172676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Least privilege</a:t>
            </a:r>
            <a:endParaRPr lang="en-US" sz="1600" dirty="0"/>
          </a:p>
        </p:txBody>
      </p:sp>
      <p:sp>
        <p:nvSpPr>
          <p:cNvPr id="23" name="Text 16"/>
          <p:cNvSpPr/>
          <p:nvPr/>
        </p:nvSpPr>
        <p:spPr>
          <a:xfrm>
            <a:off x="4612184" y="4169172"/>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custom role with only read and start/stop actions, assigned at in-scope MGs only.</a:t>
            </a:r>
            <a:endParaRPr lang="en-US" sz="1200" dirty="0"/>
          </a:p>
        </p:txBody>
      </p:sp>
      <p:sp>
        <p:nvSpPr>
          <p:cNvPr id="24" name="Shape 17"/>
          <p:cNvSpPr/>
          <p:nvPr/>
        </p:nvSpPr>
        <p:spPr>
          <a:xfrm>
            <a:off x="7995642" y="3581797"/>
            <a:ext cx="3380284" cy="1220391"/>
          </a:xfrm>
          <a:prstGeom prst="roundRect">
            <a:avLst>
              <a:gd name="adj" fmla="val 8065"/>
            </a:avLst>
          </a:prstGeom>
          <a:solidFill>
            <a:srgbClr val="FCFCF9"/>
          </a:solidFill>
          <a:ln w="6350">
            <a:solidFill>
              <a:srgbClr val="D8DCD2"/>
            </a:solidFill>
            <a:prstDash val="solid"/>
          </a:ln>
        </p:spPr>
        <p:txBody>
          <a:bodyPr/>
          <a:lstStyle/>
          <a:p>
            <a:endParaRPr lang="en-TH"/>
          </a:p>
        </p:txBody>
      </p:sp>
      <p:pic>
        <p:nvPicPr>
          <p:cNvPr id="25" name="Image 5" descr="Verified"/>
          <p:cNvPicPr>
            <a:picLocks noChangeAspect="1"/>
          </p:cNvPicPr>
          <p:nvPr/>
        </p:nvPicPr>
        <p:blipFill>
          <a:blip r:embed="rId8"/>
          <a:srcRect/>
          <a:stretch/>
        </p:blipFill>
        <p:spPr>
          <a:xfrm>
            <a:off x="8202017" y="3788172"/>
            <a:ext cx="304800" cy="304800"/>
          </a:xfrm>
          <a:prstGeom prst="rect">
            <a:avLst/>
          </a:prstGeom>
        </p:spPr>
      </p:pic>
      <p:sp>
        <p:nvSpPr>
          <p:cNvPr id="26" name="Text 18"/>
          <p:cNvSpPr/>
          <p:nvPr/>
        </p:nvSpPr>
        <p:spPr>
          <a:xfrm>
            <a:off x="8608417" y="3818632"/>
            <a:ext cx="12557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No secrets</a:t>
            </a:r>
            <a:endParaRPr lang="en-US" sz="1600" dirty="0"/>
          </a:p>
        </p:txBody>
      </p:sp>
      <p:sp>
        <p:nvSpPr>
          <p:cNvPr id="27" name="Text 19"/>
          <p:cNvSpPr/>
          <p:nvPr/>
        </p:nvSpPr>
        <p:spPr>
          <a:xfrm>
            <a:off x="8202017" y="4169172"/>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Managed identity only: no keys, connection strings or passwords anywhere.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RUNNING IT DAY TO DAY</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Day-2 operations</a:t>
            </a:r>
            <a:endParaRPr lang="en-US" sz="3600" dirty="0"/>
          </a:p>
        </p:txBody>
      </p:sp>
      <p:sp>
        <p:nvSpPr>
          <p:cNvPr id="4" name="Shape 2"/>
          <p:cNvSpPr/>
          <p:nvPr/>
        </p:nvSpPr>
        <p:spPr>
          <a:xfrm>
            <a:off x="815975" y="2691805"/>
            <a:ext cx="3380284" cy="2078930"/>
          </a:xfrm>
          <a:prstGeom prst="roundRect">
            <a:avLst>
              <a:gd name="adj" fmla="val 4734"/>
            </a:avLst>
          </a:prstGeom>
          <a:solidFill>
            <a:srgbClr val="FCFCF9"/>
          </a:solidFill>
          <a:ln w="6350">
            <a:solidFill>
              <a:srgbClr val="D8DCD2"/>
            </a:solidFill>
            <a:prstDash val="solid"/>
          </a:ln>
        </p:spPr>
        <p:txBody>
          <a:bodyPr/>
          <a:lstStyle/>
          <a:p>
            <a:endParaRPr lang="en-TH"/>
          </a:p>
        </p:txBody>
      </p:sp>
      <p:pic>
        <p:nvPicPr>
          <p:cNvPr id="5" name="Image 0" descr="Settings"/>
          <p:cNvPicPr>
            <a:picLocks noChangeAspect="1"/>
          </p:cNvPicPr>
          <p:nvPr/>
        </p:nvPicPr>
        <p:blipFill>
          <a:blip r:embed="rId3"/>
          <a:srcRect/>
          <a:stretch/>
        </p:blipFill>
        <p:spPr>
          <a:xfrm>
            <a:off x="1022350" y="2898180"/>
            <a:ext cx="304800" cy="304800"/>
          </a:xfrm>
          <a:prstGeom prst="rect">
            <a:avLst/>
          </a:prstGeom>
        </p:spPr>
      </p:pic>
      <p:sp>
        <p:nvSpPr>
          <p:cNvPr id="6" name="Text 3"/>
          <p:cNvSpPr/>
          <p:nvPr/>
        </p:nvSpPr>
        <p:spPr>
          <a:xfrm>
            <a:off x="1022350" y="3304580"/>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Change a schedule</a:t>
            </a:r>
            <a:endParaRPr lang="en-US" sz="1600" dirty="0"/>
          </a:p>
        </p:txBody>
      </p:sp>
      <p:sp>
        <p:nvSpPr>
          <p:cNvPr id="7" name="Text 4"/>
          <p:cNvSpPr/>
          <p:nvPr/>
        </p:nvSpPr>
        <p:spPr>
          <a:xfrm>
            <a:off x="1121156" y="3649960"/>
            <a:ext cx="2950134"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Edit the profile file in Git</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Run terraform plan and apply</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Live within one cycle</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No code redeploy needed</a:t>
            </a:r>
            <a:endParaRPr lang="en-US" sz="1200" dirty="0"/>
          </a:p>
        </p:txBody>
      </p:sp>
      <p:sp>
        <p:nvSpPr>
          <p:cNvPr id="8" name="Shape 5"/>
          <p:cNvSpPr/>
          <p:nvPr/>
        </p:nvSpPr>
        <p:spPr>
          <a:xfrm>
            <a:off x="4405809" y="2691805"/>
            <a:ext cx="3380284" cy="2078930"/>
          </a:xfrm>
          <a:prstGeom prst="roundRect">
            <a:avLst>
              <a:gd name="adj" fmla="val 4734"/>
            </a:avLst>
          </a:prstGeom>
          <a:solidFill>
            <a:srgbClr val="FCFCF9"/>
          </a:solidFill>
          <a:ln w="6350">
            <a:solidFill>
              <a:srgbClr val="D8DCD2"/>
            </a:solidFill>
            <a:prstDash val="solid"/>
          </a:ln>
        </p:spPr>
        <p:txBody>
          <a:bodyPr/>
          <a:lstStyle/>
          <a:p>
            <a:endParaRPr lang="en-TH"/>
          </a:p>
        </p:txBody>
      </p:sp>
      <p:pic>
        <p:nvPicPr>
          <p:cNvPr id="9" name="Image 1" descr="Clock"/>
          <p:cNvPicPr>
            <a:picLocks noChangeAspect="1"/>
          </p:cNvPicPr>
          <p:nvPr/>
        </p:nvPicPr>
        <p:blipFill>
          <a:blip r:embed="rId4"/>
          <a:srcRect/>
          <a:stretch/>
        </p:blipFill>
        <p:spPr>
          <a:xfrm>
            <a:off x="4612184" y="2898180"/>
            <a:ext cx="304800" cy="304800"/>
          </a:xfrm>
          <a:prstGeom prst="rect">
            <a:avLst/>
          </a:prstGeom>
        </p:spPr>
      </p:pic>
      <p:sp>
        <p:nvSpPr>
          <p:cNvPr id="10" name="Text 6"/>
          <p:cNvSpPr/>
          <p:nvPr/>
        </p:nvSpPr>
        <p:spPr>
          <a:xfrm>
            <a:off x="4612184" y="3304580"/>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Work late or stop early</a:t>
            </a:r>
            <a:endParaRPr lang="en-US" sz="1600" dirty="0"/>
          </a:p>
        </p:txBody>
      </p:sp>
      <p:sp>
        <p:nvSpPr>
          <p:cNvPr id="11" name="Text 7"/>
          <p:cNvSpPr/>
          <p:nvPr/>
        </p:nvSpPr>
        <p:spPr>
          <a:xfrm>
            <a:off x="4710990" y="3649960"/>
            <a:ext cx="2950134"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Set an override state and end time</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Applied within 15 minutes</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Schedule resumes by itself</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Works on a resource or a group</a:t>
            </a:r>
            <a:endParaRPr lang="en-US" sz="1200" dirty="0"/>
          </a:p>
        </p:txBody>
      </p:sp>
      <p:sp>
        <p:nvSpPr>
          <p:cNvPr id="12" name="Shape 8"/>
          <p:cNvSpPr/>
          <p:nvPr/>
        </p:nvSpPr>
        <p:spPr>
          <a:xfrm>
            <a:off x="7995642" y="2691805"/>
            <a:ext cx="3380284" cy="2078930"/>
          </a:xfrm>
          <a:prstGeom prst="roundRect">
            <a:avLst>
              <a:gd name="adj" fmla="val 4734"/>
            </a:avLst>
          </a:prstGeom>
          <a:solidFill>
            <a:srgbClr val="FCFCF9"/>
          </a:solidFill>
          <a:ln w="6350">
            <a:solidFill>
              <a:srgbClr val="D8DCD2"/>
            </a:solidFill>
            <a:prstDash val="solid"/>
          </a:ln>
        </p:spPr>
        <p:txBody>
          <a:bodyPr/>
          <a:lstStyle/>
          <a:p>
            <a:endParaRPr lang="en-TH"/>
          </a:p>
        </p:txBody>
      </p:sp>
      <p:pic>
        <p:nvPicPr>
          <p:cNvPr id="13" name="Image 2" descr="Activity"/>
          <p:cNvPicPr>
            <a:picLocks noChangeAspect="1"/>
          </p:cNvPicPr>
          <p:nvPr/>
        </p:nvPicPr>
        <p:blipFill>
          <a:blip r:embed="rId5"/>
          <a:srcRect/>
          <a:stretch/>
        </p:blipFill>
        <p:spPr>
          <a:xfrm>
            <a:off x="8202017" y="2898180"/>
            <a:ext cx="304800" cy="304800"/>
          </a:xfrm>
          <a:prstGeom prst="rect">
            <a:avLst/>
          </a:prstGeom>
        </p:spPr>
      </p:pic>
      <p:sp>
        <p:nvSpPr>
          <p:cNvPr id="14" name="Text 9"/>
          <p:cNvSpPr/>
          <p:nvPr/>
        </p:nvSpPr>
        <p:spPr>
          <a:xfrm>
            <a:off x="8202017" y="3304580"/>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Watch it</a:t>
            </a:r>
            <a:endParaRPr lang="en-US" sz="1600" dirty="0"/>
          </a:p>
        </p:txBody>
      </p:sp>
      <p:sp>
        <p:nvSpPr>
          <p:cNvPr id="15" name="Text 10"/>
          <p:cNvSpPr/>
          <p:nvPr/>
        </p:nvSpPr>
        <p:spPr>
          <a:xfrm>
            <a:off x="8300823" y="3649960"/>
            <a:ext cx="2950134" cy="9398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Every decision logged</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Alert if no cycle for 45 min</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Alert on repeated failures</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Alert when the action cap is hit</a:t>
            </a:r>
            <a:endParaRPr lang="en-US" sz="1200" dirty="0"/>
          </a:p>
        </p:txBody>
      </p:sp>
      <p:sp>
        <p:nvSpPr>
          <p:cNvPr id="16" name="Text 11"/>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Rollback is one setting: switch dry run back on, and the next cycle stops acting.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4ED8"/>
                </a:solidFill>
                <a:latin typeface="IBM Plex Sans" pitchFamily="34" charset="0"/>
                <a:ea typeface="IBM Plex Sans" pitchFamily="34" charset="-122"/>
                <a:cs typeface="IBM Plex Sans" pitchFamily="34" charset="-120"/>
              </a:rPr>
              <a:t>AFTER GO-LIVE</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Space Grotesk" pitchFamily="34" charset="0"/>
                <a:ea typeface="Space Grotesk" pitchFamily="34" charset="-122"/>
                <a:cs typeface="Space Grotesk" pitchFamily="34" charset="-120"/>
              </a:rPr>
              <a:t>Phase 2 roadmap</a:t>
            </a:r>
            <a:endParaRPr lang="en-US" sz="3600" dirty="0"/>
          </a:p>
        </p:txBody>
      </p:sp>
      <p:sp>
        <p:nvSpPr>
          <p:cNvPr id="4" name="Shape 2"/>
          <p:cNvSpPr/>
          <p:nvPr/>
        </p:nvSpPr>
        <p:spPr>
          <a:xfrm>
            <a:off x="815975" y="2836664"/>
            <a:ext cx="3380284" cy="1789212"/>
          </a:xfrm>
          <a:prstGeom prst="roundRect">
            <a:avLst>
              <a:gd name="adj" fmla="val 5501"/>
            </a:avLst>
          </a:prstGeom>
          <a:solidFill>
            <a:srgbClr val="FCFCF9"/>
          </a:solidFill>
          <a:ln w="6350">
            <a:solidFill>
              <a:srgbClr val="D8DCD2"/>
            </a:solidFill>
            <a:prstDash val="solid"/>
          </a:ln>
        </p:spPr>
        <p:txBody>
          <a:bodyPr/>
          <a:lstStyle/>
          <a:p>
            <a:endParaRPr lang="en-TH"/>
          </a:p>
        </p:txBody>
      </p:sp>
      <p:sp>
        <p:nvSpPr>
          <p:cNvPr id="5" name="Text 3"/>
          <p:cNvSpPr/>
          <p:nvPr/>
        </p:nvSpPr>
        <p:spPr>
          <a:xfrm>
            <a:off x="1022350" y="3043039"/>
            <a:ext cx="1690787" cy="289520"/>
          </a:xfrm>
          <a:custGeom>
            <a:avLst/>
            <a:gdLst/>
            <a:ahLst/>
            <a:cxnLst/>
            <a:rect l="l" t="t" r="r" b="b"/>
            <a:pathLst>
              <a:path w="1690787" h="289520">
                <a:moveTo>
                  <a:pt x="144760" y="0"/>
                </a:moveTo>
                <a:lnTo>
                  <a:pt x="1546027" y="0"/>
                </a:lnTo>
                <a:arcTo wR="144760" hR="144760" stAng="16200000" swAng="5400000"/>
                <a:lnTo>
                  <a:pt x="1690787" y="144760"/>
                </a:lnTo>
                <a:arcTo wR="144760" hR="144760" stAng="0" swAng="5400000"/>
                <a:lnTo>
                  <a:pt x="144760" y="289520"/>
                </a:lnTo>
                <a:arcTo wR="144760" hR="144760" stAng="5400000" swAng="5400000"/>
                <a:lnTo>
                  <a:pt x="0" y="144760"/>
                </a:lnTo>
                <a:arcTo wR="144760" hR="144760" stAng="10800000" swAng="5400000"/>
                <a:close/>
              </a:path>
            </a:pathLst>
          </a:custGeom>
          <a:solidFill>
            <a:srgbClr val="E3EAFB"/>
          </a:solidFill>
          <a:ln/>
        </p:spPr>
        <p:txBody>
          <a:bodyPr wrap="none" lIns="0" tIns="0" rIns="0" bIns="0" rtlCol="0" anchor="ctr">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Decided · D-03, D-05</a:t>
            </a:r>
            <a:endParaRPr lang="en-US" sz="1200" dirty="0"/>
          </a:p>
        </p:txBody>
      </p:sp>
      <p:sp>
        <p:nvSpPr>
          <p:cNvPr id="6" name="Text 4"/>
          <p:cNvSpPr/>
          <p:nvPr/>
        </p:nvSpPr>
        <p:spPr>
          <a:xfrm>
            <a:off x="1022350" y="3434159"/>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On-demand start and stop</a:t>
            </a:r>
            <a:endParaRPr lang="en-US" sz="1600" dirty="0"/>
          </a:p>
        </p:txBody>
      </p:sp>
      <p:sp>
        <p:nvSpPr>
          <p:cNvPr id="7" name="Text 5"/>
          <p:cNvSpPr/>
          <p:nvPr/>
        </p:nvSpPr>
        <p:spPr>
          <a:xfrm>
            <a:off x="1022350" y="3779540"/>
            <a:ext cx="30565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 secured endpoint for operators. Each request sets a 4-hour override, so the next cycle doesn't undo it.</a:t>
            </a:r>
            <a:endParaRPr lang="en-US" sz="1200" dirty="0"/>
          </a:p>
        </p:txBody>
      </p:sp>
      <p:sp>
        <p:nvSpPr>
          <p:cNvPr id="8" name="Shape 6"/>
          <p:cNvSpPr/>
          <p:nvPr/>
        </p:nvSpPr>
        <p:spPr>
          <a:xfrm>
            <a:off x="4405809" y="2836664"/>
            <a:ext cx="3380284" cy="1789212"/>
          </a:xfrm>
          <a:prstGeom prst="roundRect">
            <a:avLst>
              <a:gd name="adj" fmla="val 5501"/>
            </a:avLst>
          </a:prstGeom>
          <a:solidFill>
            <a:srgbClr val="FCFCF9"/>
          </a:solidFill>
          <a:ln w="6350">
            <a:solidFill>
              <a:srgbClr val="D8DCD2"/>
            </a:solidFill>
            <a:prstDash val="solid"/>
          </a:ln>
        </p:spPr>
        <p:txBody>
          <a:bodyPr/>
          <a:lstStyle/>
          <a:p>
            <a:endParaRPr lang="en-TH"/>
          </a:p>
        </p:txBody>
      </p:sp>
      <p:sp>
        <p:nvSpPr>
          <p:cNvPr id="9" name="Text 7"/>
          <p:cNvSpPr/>
          <p:nvPr/>
        </p:nvSpPr>
        <p:spPr>
          <a:xfrm>
            <a:off x="4612184" y="3043039"/>
            <a:ext cx="1257895" cy="289520"/>
          </a:xfrm>
          <a:custGeom>
            <a:avLst/>
            <a:gdLst/>
            <a:ahLst/>
            <a:cxnLst/>
            <a:rect l="l" t="t" r="r" b="b"/>
            <a:pathLst>
              <a:path w="1257895" h="289520">
                <a:moveTo>
                  <a:pt x="144760" y="0"/>
                </a:moveTo>
                <a:lnTo>
                  <a:pt x="1113135" y="0"/>
                </a:lnTo>
                <a:arcTo wR="144760" hR="144760" stAng="16200000" swAng="5400000"/>
                <a:lnTo>
                  <a:pt x="1257895" y="144760"/>
                </a:lnTo>
                <a:arcTo wR="144760" hR="144760" stAng="0" swAng="5400000"/>
                <a:lnTo>
                  <a:pt x="144760" y="289520"/>
                </a:lnTo>
                <a:arcTo wR="144760" hR="144760" stAng="5400000" swAng="5400000"/>
                <a:lnTo>
                  <a:pt x="0" y="144760"/>
                </a:lnTo>
                <a:arcTo wR="144760" hR="144760" stAng="10800000" swAng="5400000"/>
                <a:close/>
              </a:path>
            </a:pathLst>
          </a:custGeom>
          <a:solidFill>
            <a:srgbClr val="E3EAFB"/>
          </a:solidFill>
          <a:ln/>
        </p:spPr>
        <p:txBody>
          <a:bodyPr wrap="none" lIns="0" tIns="0" rIns="0" bIns="0" rtlCol="0" anchor="ctr">
            <a:normAutofit/>
          </a:bodyPr>
          <a:lstStyle/>
          <a:p>
            <a:pPr marL="0" indent="0" algn="ctr">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Decided · D-07</a:t>
            </a:r>
            <a:endParaRPr lang="en-US" sz="1200" dirty="0"/>
          </a:p>
        </p:txBody>
      </p:sp>
      <p:sp>
        <p:nvSpPr>
          <p:cNvPr id="10" name="Text 8"/>
          <p:cNvSpPr/>
          <p:nvPr/>
        </p:nvSpPr>
        <p:spPr>
          <a:xfrm>
            <a:off x="4612184" y="3434159"/>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Public holiday calendars</a:t>
            </a:r>
            <a:endParaRPr lang="en-US" sz="1600" dirty="0"/>
          </a:p>
        </p:txBody>
      </p:sp>
      <p:sp>
        <p:nvSpPr>
          <p:cNvPr id="11" name="Text 9"/>
          <p:cNvSpPr/>
          <p:nvPr/>
        </p:nvSpPr>
        <p:spPr>
          <a:xfrm>
            <a:off x="4612184" y="3779540"/>
            <a:ext cx="30565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Profiles name a holiday calendar, and resources stay stopped on the listed dates.</a:t>
            </a:r>
            <a:endParaRPr lang="en-US" sz="1200" dirty="0"/>
          </a:p>
        </p:txBody>
      </p:sp>
      <p:sp>
        <p:nvSpPr>
          <p:cNvPr id="12" name="Shape 10"/>
          <p:cNvSpPr/>
          <p:nvPr/>
        </p:nvSpPr>
        <p:spPr>
          <a:xfrm>
            <a:off x="7995642" y="2836664"/>
            <a:ext cx="3380284" cy="1789212"/>
          </a:xfrm>
          <a:prstGeom prst="roundRect">
            <a:avLst>
              <a:gd name="adj" fmla="val 5501"/>
            </a:avLst>
          </a:prstGeom>
          <a:solidFill>
            <a:srgbClr val="FCFCF9"/>
          </a:solidFill>
          <a:ln w="6350">
            <a:solidFill>
              <a:srgbClr val="8A93A0"/>
            </a:solidFill>
            <a:prstDash val="dash"/>
          </a:ln>
        </p:spPr>
        <p:txBody>
          <a:bodyPr/>
          <a:lstStyle/>
          <a:p>
            <a:endParaRPr lang="en-TH"/>
          </a:p>
        </p:txBody>
      </p:sp>
      <p:sp>
        <p:nvSpPr>
          <p:cNvPr id="13" name="Text 11"/>
          <p:cNvSpPr/>
          <p:nvPr/>
        </p:nvSpPr>
        <p:spPr>
          <a:xfrm>
            <a:off x="8202017" y="3043039"/>
            <a:ext cx="1312267" cy="289520"/>
          </a:xfrm>
          <a:custGeom>
            <a:avLst/>
            <a:gdLst/>
            <a:ahLst/>
            <a:cxnLst/>
            <a:rect l="l" t="t" r="r" b="b"/>
            <a:pathLst>
              <a:path w="1312267" h="289520">
                <a:moveTo>
                  <a:pt x="144760" y="0"/>
                </a:moveTo>
                <a:lnTo>
                  <a:pt x="1167507" y="0"/>
                </a:lnTo>
                <a:arcTo wR="144760" hR="144760" stAng="16200000" swAng="5400000"/>
                <a:lnTo>
                  <a:pt x="1312267" y="144760"/>
                </a:lnTo>
                <a:arcTo wR="144760" hR="144760" stAng="0" swAng="5400000"/>
                <a:lnTo>
                  <a:pt x="144760" y="289520"/>
                </a:lnTo>
                <a:arcTo wR="144760" hR="144760" stAng="5400000" swAng="5400000"/>
                <a:lnTo>
                  <a:pt x="0" y="144760"/>
                </a:lnTo>
                <a:arcTo wR="144760" hR="144760" stAng="10800000" swAng="5400000"/>
                <a:close/>
              </a:path>
            </a:pathLst>
          </a:custGeom>
          <a:solidFill>
            <a:srgbClr val="E9ECE4"/>
          </a:solidFill>
          <a:ln/>
        </p:spPr>
        <p:txBody>
          <a:bodyPr wrap="none" lIns="0" tIns="0" rIns="0" bIns="0" rtlCol="0" anchor="ctr">
            <a:normAutofit/>
          </a:bodyPr>
          <a:lstStyle/>
          <a:p>
            <a:pPr marL="0" indent="0" algn="ctr">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Not yet decided</a:t>
            </a:r>
            <a:endParaRPr lang="en-US" sz="1200" dirty="0"/>
          </a:p>
        </p:txBody>
      </p:sp>
      <p:sp>
        <p:nvSpPr>
          <p:cNvPr id="14" name="Text 12"/>
          <p:cNvSpPr/>
          <p:nvPr/>
        </p:nvSpPr>
        <p:spPr>
          <a:xfrm>
            <a:off x="8202017" y="3434159"/>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2D"/>
                </a:solidFill>
                <a:latin typeface="Space Grotesk" pitchFamily="34" charset="0"/>
                <a:ea typeface="Space Grotesk" pitchFamily="34" charset="-122"/>
                <a:cs typeface="Space Grotesk" pitchFamily="34" charset="-120"/>
              </a:rPr>
              <a:t>Under consideration</a:t>
            </a:r>
            <a:endParaRPr lang="en-US" sz="1600" dirty="0"/>
          </a:p>
        </p:txBody>
      </p:sp>
      <p:sp>
        <p:nvSpPr>
          <p:cNvPr id="15" name="Text 13"/>
          <p:cNvSpPr/>
          <p:nvPr/>
        </p:nvSpPr>
        <p:spPr>
          <a:xfrm>
            <a:off x="8202017" y="3779540"/>
            <a:ext cx="30565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Private endpoints for App Configuration and storage. Pipeline-based deployment instead of Terraform CLI.</a:t>
            </a:r>
            <a:endParaRPr lang="en-US" sz="1200" dirty="0"/>
          </a:p>
        </p:txBody>
      </p:sp>
      <p:sp>
        <p:nvSpPr>
          <p:cNvPr id="16" name="Text 1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Until then: use override tags for ad-hoc needs and for long public holidays.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33D"/>
                </a:solidFill>
                <a:latin typeface="IBM Plex Sans" pitchFamily="34" charset="0"/>
                <a:ea typeface="IBM Plex Sans" pitchFamily="34" charset="-122"/>
                <a:cs typeface="IBM Plex Sans" pitchFamily="34" charset="-120"/>
              </a:rPr>
              <a:t>WHAT WE NEED FROM YOU</a:t>
            </a:r>
            <a:endParaRPr lang="en-US" sz="1200" dirty="0"/>
          </a:p>
        </p:txBody>
      </p:sp>
      <p:sp>
        <p:nvSpPr>
          <p:cNvPr id="3" name="Text 1"/>
          <p:cNvSpPr>
            <a:spLocks noGrp="1"/>
          </p:cNvSpPr>
          <p:nvPr>
            <p:ph type="title"/>
          </p:nvPr>
        </p:nvSpPr>
        <p:spPr>
          <a:xfrm>
            <a:off x="812800" y="112772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5F0"/>
                </a:solidFill>
                <a:latin typeface="Space Grotesk" pitchFamily="34" charset="0"/>
                <a:ea typeface="Space Grotesk" pitchFamily="34" charset="-122"/>
                <a:cs typeface="Space Grotesk" pitchFamily="34" charset="-120"/>
              </a:rPr>
              <a:t>Decisions and asks</a:t>
            </a:r>
            <a:endParaRPr lang="en-US" sz="3600" dirty="0"/>
          </a:p>
        </p:txBody>
      </p:sp>
      <p:sp>
        <p:nvSpPr>
          <p:cNvPr id="4" name="Shape 2"/>
          <p:cNvSpPr/>
          <p:nvPr/>
        </p:nvSpPr>
        <p:spPr>
          <a:xfrm>
            <a:off x="815975" y="2934692"/>
            <a:ext cx="5175250" cy="1448891"/>
          </a:xfrm>
          <a:prstGeom prst="roundRect">
            <a:avLst>
              <a:gd name="adj" fmla="val 6793"/>
            </a:avLst>
          </a:prstGeom>
          <a:solidFill>
            <a:srgbClr val="18273D"/>
          </a:solidFill>
          <a:ln w="6350">
            <a:solidFill>
              <a:srgbClr val="2E4060"/>
            </a:solidFill>
            <a:prstDash val="solid"/>
          </a:ln>
        </p:spPr>
        <p:txBody>
          <a:bodyPr/>
          <a:lstStyle/>
          <a:p>
            <a:endParaRPr lang="en-TH"/>
          </a:p>
        </p:txBody>
      </p:sp>
      <p:sp>
        <p:nvSpPr>
          <p:cNvPr id="5" name="Text 3"/>
          <p:cNvSpPr/>
          <p:nvPr/>
        </p:nvSpPr>
        <p:spPr>
          <a:xfrm>
            <a:off x="1022350" y="3141067"/>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5F0"/>
                </a:solidFill>
                <a:latin typeface="Space Grotesk" pitchFamily="34" charset="0"/>
                <a:ea typeface="Space Grotesk" pitchFamily="34" charset="-122"/>
                <a:cs typeface="Space Grotesk" pitchFamily="34" charset="-120"/>
              </a:rPr>
              <a:t>Confirm the scope</a:t>
            </a:r>
            <a:endParaRPr lang="en-US" sz="1600" dirty="0"/>
          </a:p>
        </p:txBody>
      </p:sp>
      <p:sp>
        <p:nvSpPr>
          <p:cNvPr id="6" name="Text 4"/>
          <p:cNvSpPr/>
          <p:nvPr/>
        </p:nvSpPr>
        <p:spPr>
          <a:xfrm>
            <a:off x="1022350" y="3461048"/>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pitchFamily="34" charset="0"/>
                <a:ea typeface="IBM Plex Sans" pitchFamily="34" charset="-122"/>
                <a:cs typeface="IBM Plex Sans" pitchFamily="34" charset="-120"/>
              </a:rPr>
              <a:t>Which management groups are in scope, and which subscriptions to exclude (OI-01).</a:t>
            </a:r>
            <a:endParaRPr lang="en-US" sz="1200" dirty="0"/>
          </a:p>
        </p:txBody>
      </p:sp>
      <p:sp>
        <p:nvSpPr>
          <p:cNvPr id="7" name="Text 5"/>
          <p:cNvSpPr/>
          <p:nvPr/>
        </p:nvSpPr>
        <p:spPr>
          <a:xfrm>
            <a:off x="1022350" y="3963888"/>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IBM Plex Sans" pitchFamily="34" charset="0"/>
                <a:ea typeface="IBM Plex Sans" pitchFamily="34" charset="-122"/>
                <a:cs typeface="IBM Plex Sans" pitchFamily="34" charset="-120"/>
              </a:rPr>
              <a:t>Owner: Platform team</a:t>
            </a:r>
            <a:endParaRPr lang="en-US" sz="1200" dirty="0"/>
          </a:p>
        </p:txBody>
      </p:sp>
      <p:sp>
        <p:nvSpPr>
          <p:cNvPr id="8" name="Shape 6"/>
          <p:cNvSpPr/>
          <p:nvPr/>
        </p:nvSpPr>
        <p:spPr>
          <a:xfrm>
            <a:off x="6200775" y="2934692"/>
            <a:ext cx="5175250" cy="1448891"/>
          </a:xfrm>
          <a:prstGeom prst="roundRect">
            <a:avLst>
              <a:gd name="adj" fmla="val 6793"/>
            </a:avLst>
          </a:prstGeom>
          <a:solidFill>
            <a:srgbClr val="18273D"/>
          </a:solidFill>
          <a:ln w="6350">
            <a:solidFill>
              <a:srgbClr val="2E4060"/>
            </a:solidFill>
            <a:prstDash val="solid"/>
          </a:ln>
        </p:spPr>
        <p:txBody>
          <a:bodyPr/>
          <a:lstStyle/>
          <a:p>
            <a:endParaRPr lang="en-TH"/>
          </a:p>
        </p:txBody>
      </p:sp>
      <p:sp>
        <p:nvSpPr>
          <p:cNvPr id="9" name="Text 7"/>
          <p:cNvSpPr/>
          <p:nvPr/>
        </p:nvSpPr>
        <p:spPr>
          <a:xfrm>
            <a:off x="6407150" y="3141067"/>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5F0"/>
                </a:solidFill>
                <a:latin typeface="Space Grotesk" pitchFamily="34" charset="0"/>
                <a:ea typeface="Space Grotesk" pitchFamily="34" charset="-122"/>
                <a:cs typeface="Space Grotesk" pitchFamily="34" charset="-120"/>
              </a:rPr>
              <a:t>Tag production reliably</a:t>
            </a:r>
            <a:endParaRPr lang="en-US" sz="1600" dirty="0"/>
          </a:p>
        </p:txBody>
      </p:sp>
      <p:sp>
        <p:nvSpPr>
          <p:cNvPr id="10" name="Text 8"/>
          <p:cNvSpPr/>
          <p:nvPr/>
        </p:nvSpPr>
        <p:spPr>
          <a:xfrm>
            <a:off x="6407150" y="3461048"/>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pitchFamily="34" charset="0"/>
                <a:ea typeface="IBM Plex Sans" pitchFamily="34" charset="-122"/>
                <a:cs typeface="IBM Plex Sans" pitchFamily="34" charset="-120"/>
              </a:rPr>
              <a:t>An Azure Policy that enforces environment=prod on every production subscription (A-08).</a:t>
            </a:r>
            <a:endParaRPr lang="en-US" sz="1200" dirty="0"/>
          </a:p>
        </p:txBody>
      </p:sp>
      <p:sp>
        <p:nvSpPr>
          <p:cNvPr id="11" name="Text 9"/>
          <p:cNvSpPr/>
          <p:nvPr/>
        </p:nvSpPr>
        <p:spPr>
          <a:xfrm>
            <a:off x="6407150" y="3963888"/>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IBM Plex Sans" pitchFamily="34" charset="0"/>
                <a:ea typeface="IBM Plex Sans" pitchFamily="34" charset="-122"/>
                <a:cs typeface="IBM Plex Sans" pitchFamily="34" charset="-120"/>
              </a:rPr>
              <a:t>Owner: Governance</a:t>
            </a:r>
            <a:endParaRPr lang="en-US" sz="1200" dirty="0"/>
          </a:p>
        </p:txBody>
      </p:sp>
      <p:sp>
        <p:nvSpPr>
          <p:cNvPr id="12" name="Shape 10"/>
          <p:cNvSpPr/>
          <p:nvPr/>
        </p:nvSpPr>
        <p:spPr>
          <a:xfrm>
            <a:off x="815975" y="4593134"/>
            <a:ext cx="5175250" cy="1448891"/>
          </a:xfrm>
          <a:prstGeom prst="roundRect">
            <a:avLst>
              <a:gd name="adj" fmla="val 6793"/>
            </a:avLst>
          </a:prstGeom>
          <a:solidFill>
            <a:srgbClr val="18273D"/>
          </a:solidFill>
          <a:ln w="6350">
            <a:solidFill>
              <a:srgbClr val="2E4060"/>
            </a:solidFill>
            <a:prstDash val="solid"/>
          </a:ln>
        </p:spPr>
        <p:txBody>
          <a:bodyPr/>
          <a:lstStyle/>
          <a:p>
            <a:endParaRPr lang="en-TH"/>
          </a:p>
        </p:txBody>
      </p:sp>
      <p:sp>
        <p:nvSpPr>
          <p:cNvPr id="13" name="Text 11"/>
          <p:cNvSpPr/>
          <p:nvPr/>
        </p:nvSpPr>
        <p:spPr>
          <a:xfrm>
            <a:off x="1022350" y="4799509"/>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5F0"/>
                </a:solidFill>
                <a:latin typeface="Space Grotesk" pitchFamily="34" charset="0"/>
                <a:ea typeface="Space Grotesk" pitchFamily="34" charset="-122"/>
                <a:cs typeface="Space Grotesk" pitchFamily="34" charset="-120"/>
              </a:rPr>
              <a:t>Volunteer pilot workloads</a:t>
            </a:r>
            <a:endParaRPr lang="en-US" sz="1600" dirty="0"/>
          </a:p>
        </p:txBody>
      </p:sp>
      <p:sp>
        <p:nvSpPr>
          <p:cNvPr id="14" name="Text 12"/>
          <p:cNvSpPr/>
          <p:nvPr/>
        </p:nvSpPr>
        <p:spPr>
          <a:xfrm>
            <a:off x="1022350" y="5119489"/>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pitchFamily="34" charset="0"/>
                <a:ea typeface="IBM Plex Sans" pitchFamily="34" charset="-122"/>
                <a:cs typeface="IBM Plex Sans" pitchFamily="34" charset="-120"/>
              </a:rPr>
              <a:t>Tag a few dev or test resource groups with weekday-0830-1730 for the dry run.</a:t>
            </a:r>
            <a:endParaRPr lang="en-US" sz="1200" dirty="0"/>
          </a:p>
        </p:txBody>
      </p:sp>
      <p:sp>
        <p:nvSpPr>
          <p:cNvPr id="15" name="Text 13"/>
          <p:cNvSpPr/>
          <p:nvPr/>
        </p:nvSpPr>
        <p:spPr>
          <a:xfrm>
            <a:off x="1022350" y="5622330"/>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IBM Plex Sans" pitchFamily="34" charset="0"/>
                <a:ea typeface="IBM Plex Sans" pitchFamily="34" charset="-122"/>
                <a:cs typeface="IBM Plex Sans" pitchFamily="34" charset="-120"/>
              </a:rPr>
              <a:t>Owner: Workload owners</a:t>
            </a:r>
            <a:endParaRPr lang="en-US" sz="1200" dirty="0"/>
          </a:p>
        </p:txBody>
      </p:sp>
      <p:sp>
        <p:nvSpPr>
          <p:cNvPr id="16" name="Shape 14"/>
          <p:cNvSpPr/>
          <p:nvPr/>
        </p:nvSpPr>
        <p:spPr>
          <a:xfrm>
            <a:off x="6200775" y="4593134"/>
            <a:ext cx="5175250" cy="1448891"/>
          </a:xfrm>
          <a:prstGeom prst="roundRect">
            <a:avLst>
              <a:gd name="adj" fmla="val 6793"/>
            </a:avLst>
          </a:prstGeom>
          <a:solidFill>
            <a:srgbClr val="18273D"/>
          </a:solidFill>
          <a:ln w="6350">
            <a:solidFill>
              <a:srgbClr val="2E4060"/>
            </a:solidFill>
            <a:prstDash val="solid"/>
          </a:ln>
        </p:spPr>
        <p:txBody>
          <a:bodyPr/>
          <a:lstStyle/>
          <a:p>
            <a:endParaRPr lang="en-TH"/>
          </a:p>
        </p:txBody>
      </p:sp>
      <p:sp>
        <p:nvSpPr>
          <p:cNvPr id="17" name="Text 15"/>
          <p:cNvSpPr/>
          <p:nvPr/>
        </p:nvSpPr>
        <p:spPr>
          <a:xfrm>
            <a:off x="6407150" y="4799509"/>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5F0"/>
                </a:solidFill>
                <a:latin typeface="Space Grotesk" pitchFamily="34" charset="0"/>
                <a:ea typeface="Space Grotesk" pitchFamily="34" charset="-122"/>
                <a:cs typeface="Space Grotesk" pitchFamily="34" charset="-120"/>
              </a:rPr>
              <a:t>Agree the go-live gate</a:t>
            </a:r>
            <a:endParaRPr lang="en-US" sz="1600" dirty="0"/>
          </a:p>
        </p:txBody>
      </p:sp>
      <p:sp>
        <p:nvSpPr>
          <p:cNvPr id="18" name="Text 16"/>
          <p:cNvSpPr/>
          <p:nvPr/>
        </p:nvSpPr>
        <p:spPr>
          <a:xfrm>
            <a:off x="6407150" y="5119489"/>
            <a:ext cx="49053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0"/>
                </a:solidFill>
                <a:latin typeface="IBM Plex Sans" pitchFamily="34" charset="0"/>
                <a:ea typeface="IBM Plex Sans" pitchFamily="34" charset="-122"/>
                <a:cs typeface="IBM Plex Sans" pitchFamily="34" charset="-120"/>
              </a:rPr>
              <a:t>Go live after one business day of correct dry-run results, with no critical findings open.</a:t>
            </a:r>
            <a:endParaRPr lang="en-US" sz="1200" dirty="0"/>
          </a:p>
        </p:txBody>
      </p:sp>
      <p:sp>
        <p:nvSpPr>
          <p:cNvPr id="19" name="Text 17"/>
          <p:cNvSpPr/>
          <p:nvPr/>
        </p:nvSpPr>
        <p:spPr>
          <a:xfrm>
            <a:off x="6407150" y="5622330"/>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IBM Plex Sans" pitchFamily="34" charset="0"/>
                <a:ea typeface="IBM Plex Sans" pitchFamily="34" charset="-122"/>
                <a:cs typeface="IBM Plex Sans" pitchFamily="34" charset="-120"/>
              </a:rPr>
              <a:t>Owner: [Approver]</a:t>
            </a:r>
            <a:endParaRPr lang="en-US" sz="1200" dirty="0"/>
          </a:p>
        </p:txBody>
      </p:sp>
    </p:spTree>
  </p:cSld>
  <p:clrMapOvr>
    <a:masterClrMapping/>
  </p:clrMapOvr>
</p:sld>
</file>

<file path=ppt/theme/theme1.xml><?xml version="1.0" encoding="utf-8"?>
<a:theme xmlns:a="http://schemas.openxmlformats.org/drawingml/2006/main" name="Azure Resource Power Scheduler">
  <a:themeElements>
    <a:clrScheme name="Azure Resource Power Scheduler">
      <a:dk1>
        <a:srgbClr val="0F1B2D"/>
      </a:dk1>
      <a:lt1>
        <a:srgbClr val="F4F5F0"/>
      </a:lt1>
      <a:dk2>
        <a:srgbClr val="48525E"/>
      </a:dk2>
      <a:lt2>
        <a:srgbClr val="DDDFDD"/>
      </a:lt2>
      <a:accent1>
        <a:srgbClr val="1D4ED8"/>
      </a:accent1>
      <a:accent2>
        <a:srgbClr val="E8A33D"/>
      </a:accent2>
      <a:accent3>
        <a:srgbClr val="9A5B00"/>
      </a:accent3>
      <a:accent4>
        <a:srgbClr val="FCE7C3"/>
      </a:accent4>
      <a:accent5>
        <a:srgbClr val="4A5568"/>
      </a:accent5>
      <a:accent6>
        <a:srgbClr val="C9D3E0"/>
      </a:accent6>
      <a:hlink>
        <a:srgbClr val="0563C1"/>
      </a:hlink>
      <a:folHlink>
        <a:srgbClr val="954F72"/>
      </a:folHlink>
    </a:clrScheme>
    <a:fontScheme name="Azure Resource Power Scheduler">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1968</Words>
  <Application>Microsoft Macintosh PowerPoint</Application>
  <PresentationFormat>Widescreen</PresentationFormat>
  <Paragraphs>242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IBM Plex Sans</vt:lpstr>
      <vt:lpstr>JetBrains Mono</vt:lpstr>
      <vt:lpstr>Space Grotesk</vt:lpstr>
      <vt:lpstr>Azure Resource Power Scheduler</vt:lpstr>
      <vt:lpstr>Azure Resource Power Scheduler</vt:lpstr>
      <vt:lpstr>123 of 168 hours</vt:lpstr>
      <vt:lpstr>Goals</vt:lpstr>
      <vt:lpstr>Options considered</vt:lpstr>
      <vt:lpstr>How it works</vt:lpstr>
      <vt:lpstr>Where it runs</vt:lpstr>
      <vt:lpstr>What it manages</vt:lpstr>
      <vt:lpstr>The standard schedule</vt:lpstr>
      <vt:lpstr>Onboarding with tags</vt:lpstr>
      <vt:lpstr>Safety guardrails</vt:lpstr>
      <vt:lpstr>Day-2 operations</vt:lpstr>
      <vt:lpstr>Phase 2 roadmap</vt:lpstr>
      <vt:lpstr>Decisions and 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Resource Power Scheduler</dc:title>
  <dc:subject/>
  <dc:creator/>
  <cp:lastModifiedBy>Thanawat Manolamai</cp:lastModifiedBy>
  <cp:revision>2</cp:revision>
  <dcterms:created xsi:type="dcterms:W3CDTF">2026-10-03T13:59:56Z</dcterms:created>
  <dcterms:modified xsi:type="dcterms:W3CDTF">2026-10-03T14:21:57Z</dcterms:modified>
</cp:coreProperties>
</file>