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70" r:id="rId20"/>
    <p:sldId id="259" r:id="rId5"/>
    <p:sldId id="260" r:id="rId6"/>
    <p:sldId id="275" r:id="rId25"/>
    <p:sldId id="261" r:id="rId7"/>
    <p:sldId id="262" r:id="rId8"/>
    <p:sldId id="263" r:id="rId9"/>
    <p:sldId id="264" r:id="rId10"/>
    <p:sldId id="265" r:id="rId11"/>
    <p:sldId id="272" r:id="rId22"/>
    <p:sldId id="276" r:id="rId26"/>
    <p:sldId id="273" r:id="rId23"/>
    <p:sldId id="266" r:id="rId12"/>
    <p:sldId id="274" r:id="rId24"/>
    <p:sldId id="271" r:id="rId21"/>
    <p:sldId id="268" r:id="rId13"/>
    <p:sldId id="269" r:id="rId14"/>
    <p:sldId id="277" r:id="rId27"/>
    <p:sldId id="278"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6.xml"/><Relationship Id="rId13" Type="http://schemas.openxmlformats.org/officeDocument/2006/relationships/slide" Target="slides/slide19.xml"/><Relationship Id="rId14" Type="http://schemas.openxmlformats.org/officeDocument/2006/relationships/slide" Target="slides/slide20.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4.xml"/><Relationship Id="rId21" Type="http://schemas.openxmlformats.org/officeDocument/2006/relationships/slide" Target="slides/slide18.xml"/><Relationship Id="rId22" Type="http://schemas.openxmlformats.org/officeDocument/2006/relationships/slide" Target="slides/slide13.xml"/><Relationship Id="rId23" Type="http://schemas.openxmlformats.org/officeDocument/2006/relationships/slide" Target="slides/slide15.xml"/><Relationship Id="rId24" Type="http://schemas.openxmlformats.org/officeDocument/2006/relationships/slide" Target="slides/slide17.xml"/><Relationship Id="rId25" Type="http://schemas.openxmlformats.org/officeDocument/2006/relationships/slide" Target="slides/slide7.xml"/><Relationship Id="rId26" Type="http://schemas.openxmlformats.org/officeDocument/2006/relationships/slide" Target="slides/slide14.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027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the scheduler: one central service that powers non-production Azure resources up for working hours and down outside them. Since the design was approved we have built it, reviewed it, proven it in a demo tenant and taken it live there. Today: a short recap of how it works, what the demo proved, what it costs, and what we need to roll it out to our tenant.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simple arithmetic, not a measurement: 45 working hours out of 168 means roughly three quarters of a week is idle time for anything that runs 24×7. Our actual savings depend on how many workloads we onboard and their sizes.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targets we committed to in the requirements spec. The 40% is a target, not a forecast; we will measure it against the cost of in-scope resources before and after rollout.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four approaches. Azure Functions won because it is native, does not depend on Jenkins being available, can run every 15 minutes, and lets us change schedules without touching code. The Microsoft packaged solution only handles VMs, so it could not meet the database and AKS requirement.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reconciliation. We never just fire a stop at 17:30 and hope. Every 15 minutes the function works out what each resource should be doing right now and fixes any difference. If the function was down at 17:30, the next run catches up. If someone starts a VM by hand in the evening without an override, it gets stopped again. Operations are submitted without waiting for them to finish; the next cycle checks the result.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scheduler serves the whole tenant. It lives in the Management subscription alongside our other platform tooling, but it has no permissions there or anywhere in the Platform management group. Its custom role is assigned only at the Landing Zones and Sandbox management groups. Production subscriptions inside those groups are skipped by a hard rule in the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Seven resource types today. VM scale sets means Uniform mode; for Flexible scale sets we tag the member VMs instead. AKS is only ever stopped through the cluster itself, never by touching its node pools directly. Anything in production, the hub and platform services are out of scope by design.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standard profile, weekday-0830-1730, in Bangkok time. Databases get a 30-minute head start and AKS 15 minutes. We saw exactly this order on the live demo day: databases at 08:00, AKS at 08:15 and running about four and a half minutes later, VMs at 08:30, and the reverse order at 17:30.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 opt in by tagging a resource, a resource group or a whole subscription; the most specific tag wins. To work late or stop early, set an override state and an end time; the schedule resumes on its own afterwards. Note for the presenter: resource-group and subscription-level tags depend on review finding C2, which is being fixed now.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layers of protection. Production is excluded by a hard rule, the hub three ways. The action cap is now sized from the peak we measure in dry run. And the custom role is checked against the code in CI, a lesson from the demo where one missing read permission caused a scale set to be restarted every cycle.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Day-to-day there are three things people do: change a schedule through Git and Terraform, override for late work or an early stop, and watch it. For watching there are now two workbooks: one for individual start and stop actions, one for totals and trends that stays fast in large tenants. Rollback is one setting.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Large-tenant scaling is already done in version 0.7. The on-demand endpoint and holiday calendars are decided for phase 2. Container Instances and Container Apps are in the backlog. Production stays excluded; a safe design for any future production opt-in is written down but not planned.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with four asks. Approve the rollout using the runbook. Keep production tags enforced by policy, because the production rule depends on them. Volunteer a few pilot workloads for the dry run. And name an operators group so Terraform can be run by different people without changing role assignments.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Where we are in one line: designed, built, reviewed, dry-run, live. Three code-review rounds closed 29 findings. The demo tenant ran a full business day in dry run, went live on 6 October and ran its first full live business day on 7 October. Version 0.7 adds large-tenant support. The rollout to our own tenant follows the same steps.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Headline results from the demo tenant. 22 of 23 use cases proven live; the remaining one, changing a schedule, works by design and was simply not exercised. At 17:30 all eight scheduled resources were stopped with no failures. Nothing in production or the platform was touched. Three alert rules fired in live tests. Every start and stop in the Activity Log was made by the scheduler's own identity.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Verification did its job: it found real issues before any real tenant. AKS node pools could have been stopped directly; now they are skipped and logged. Scale set state could not be read; now it is read per instance, and Flexible scale sets are skipped with clear guidance. A missing read permission caused restarts every cycle; the role is fixed and a CI test now checks the code against the role. Deployment settings are fixed in Terraform and checked by the runbook.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Running cost for a whole tenant is about 40 US dollars a month, inside our 50-dollar target. Most of it is App Configuration on the Standard tier. The Function App itself is close to free because it only runs briefly every 15 minutes. Log volume grows with tenant size, and large tenants can switch off routine no-op records.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rollout follows the per-tenant runbook. Agree the settings first: scope only the non-production management groups, name an operators group, confirm the production tag. Deploy with the post-deploy checks, run at least one full business day in dry run and measure the peak, then flip one setting to go live and confirm the first live day. Rollback is one setting.</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design in one picture. A timer fires every 15 minutes. The Function App reads its settings from App Configuration and finds tagged resources through Resource Graph, including tags inherited from resource groups and subscriptions. It decides what each resource should be doing and starts or stops only what differs, through Azure Resource Manager, using its managed identity and a custom role that allows only read and start/stop at the in-scope management groups. Every decision is logged to Application Insights, which drives the alerts and the two workbooks. Terraform deploys all of it, one deployment per tenant.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Everything the scheduler supports, in six groups: 23 use cases in total, 22 proven live in the demo tenant. The one not exercised live, changing a schedule, works by design: it is a config change applied by Terraform. Along the bottom are the main things it does not do, each by decision. The appendix lists every use case.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Appendix, part 1: use cases 1 to 12, covering scheduling, scope and tagging, and overrides. The same list, with links to the evidence, is in docs/USE_CASES.md.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Appendix, part 2: use cases 13 to 23, covering safety, self-healing, and monitoring and audit. All proven live in the demo tenant on 6 and 7 October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5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0F1B2D"/>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361"/>
            <a:ext cx="10566400" cy="4109839"/>
          </a:xfrm>
          <a:prstGeom prst="rect">
            <a:avLst/>
          </a:prstGeom>
          <a:noFill/>
          <a:ln/>
        </p:spPr>
        <p:txBody>
          <a:bodyPr wrap="square" lIns="0" tIns="0" rIns="0" bIns="0" rtlCol="0" anchor="t"/>
          <a:lstStyle>
            <a:lvl1pPr marL="0" indent="0" algn="l">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0F1B2D"/>
                </a:solidFill>
                <a:latin typeface="Space Grotesk" pitchFamily="34" charset="0"/>
                <a:ea typeface="Space Grotesk" pitchFamily="34" charset="-122"/>
                <a:cs typeface="Space Grotes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1935361"/>
            <a:ext cx="10566400" cy="4109839"/>
          </a:xfrm>
          <a:prstGeom prst="rect">
            <a:avLst/>
          </a:prstGeom>
          <a:noFill/>
          <a:ln/>
        </p:spPr>
        <p:txBody>
          <a:bodyPr wrap="square" lIns="0" tIns="0" rIns="0" bIns="0" rtlCol="0" anchor="t"/>
          <a:lstStyle>
            <a:lvl1pPr marL="0" indent="0" algn="l">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pic>
        <p:nvPicPr>
          <p:cNvPr id="2" name="Image 0" descr="Clock"/>
          <p:cNvPicPr>
            <a:picLocks noChangeAspect="1"/>
          </p:cNvPicPr>
          <p:nvPr/>
        </p:nvPicPr>
        <p:blipFill>
          <a:blip r:embed="rId3"/>
          <a:srcRect/>
          <a:stretch/>
        </p:blipFill>
        <p:spPr>
          <a:xfrm>
            <a:off x="9144000" y="812800"/>
            <a:ext cx="1422400" cy="1422400"/>
          </a:xfrm>
          <a:prstGeom prst="rect">
            <a:avLst/>
          </a:prstGeom>
        </p:spPr>
      </p:pic>
      <p:sp>
        <p:nvSpPr>
          <p:cNvPr id="3"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E8A33D"/>
                </a:solidFill>
                <a:latin typeface="IBM Plex Sans" pitchFamily="34" charset="0"/>
                <a:ea typeface="IBM Plex Sans" pitchFamily="34" charset="-122"/>
                <a:cs typeface="IBM Plex Sans" pitchFamily="34" charset="-120"/>
              </a:rPr>
              <a:t>CLOUD PLATFORM · SOLUTION OVERVIEW AND ROLLOUT</a:t>
            </a:r>
            <a:endParaRPr lang="en-US" sz="1200" dirty="0"/>
          </a:p>
        </p:txBody>
      </p:sp>
      <p:sp>
        <p:nvSpPr>
          <p:cNvPr id="4" name="Text 1"/>
          <p:cNvSpPr>
            <a:spLocks noGrp="1"/>
          </p:cNvSpPr>
          <p:nvPr>
            <p:ph type="title"/>
          </p:nvPr>
        </p:nvSpPr>
        <p:spPr>
          <a:xfrm>
            <a:off x="812800" y="2242840"/>
            <a:ext cx="10883392" cy="1625600"/>
          </a:xfrm>
          <a:prstGeom prst="rect">
            <a:avLst/>
          </a:prstGeom>
          <a:noFill/>
          <a:ln/>
        </p:spPr>
        <p:txBody>
          <a:bodyPr wrap="square" lIns="0" tIns="0" rIns="0" bIns="0" rtlCol="0" anchor="t"/>
          <a:lstStyle/>
          <a:p>
            <a:pPr marL="0" indent="0" algn="l">
              <a:lnSpc>
                <a:spcPts val="6300"/>
              </a:lnSpc>
              <a:buNone/>
            </a:pPr>
            <a:r>
              <a:rPr lang="en-US" sz="6000" b="1" i="0" dirty="0">
                <a:solidFill>
                  <a:srgbClr val="F4F5F0"/>
                </a:solidFill>
                <a:latin typeface="Space Grotesk" pitchFamily="34" charset="0"/>
                <a:ea typeface="Space Grotesk" pitchFamily="34" charset="-122"/>
                <a:cs typeface="Space Grotesk" pitchFamily="34" charset="-120"/>
              </a:rPr>
              <a:t>Azure Resource</a:t>
            </a:r>
            <a:endParaRPr lang="en-US" sz="6000" dirty="0"/>
          </a:p>
          <a:p>
            <a:pPr marL="0" indent="0" algn="l">
              <a:lnSpc>
                <a:spcPts val="6300"/>
              </a:lnSpc>
              <a:buNone/>
            </a:pPr>
            <a:r>
              <a:rPr lang="en-US" sz="6000" b="1" i="0" dirty="0">
                <a:solidFill>
                  <a:srgbClr val="F4F5F0"/>
                </a:solidFill>
                <a:latin typeface="Space Grotesk" pitchFamily="34" charset="0"/>
                <a:ea typeface="Space Grotesk" pitchFamily="34" charset="-122"/>
                <a:cs typeface="Space Grotesk" pitchFamily="34" charset="-120"/>
              </a:rPr>
              <a:t>Power Scheduler</a:t>
            </a:r>
            <a:endParaRPr lang="en-US" sz="6000" dirty="0"/>
          </a:p>
        </p:txBody>
      </p:sp>
      <p:sp>
        <p:nvSpPr>
          <p:cNvPr id="5" name="Text 2"/>
          <p:cNvSpPr/>
          <p:nvPr/>
        </p:nvSpPr>
        <p:spPr>
          <a:xfrm>
            <a:off x="812800" y="4046240"/>
            <a:ext cx="7521575" cy="594320"/>
          </a:xfrm>
          <a:prstGeom prst="rect">
            <a:avLst/>
          </a:prstGeom>
          <a:noFill/>
          <a:ln/>
        </p:spPr>
        <p:txBody>
          <a:bodyPr wrap="square" lIns="0" tIns="0" rIns="0" bIns="0" rtlCol="0" anchor="t"/>
          <a:lstStyle/>
          <a:p>
            <a:pPr marL="0" indent="0" algn="l">
              <a:lnSpc>
                <a:spcPts val="2240"/>
              </a:lnSpc>
              <a:buNone/>
            </a:pPr>
            <a:r>
              <a:rPr lang="en-US" sz="1600" dirty="0">
                <a:solidFill>
                  <a:srgbClr val="C9D3E0"/>
                </a:solidFill>
                <a:latin typeface="IBM Plex Sans" pitchFamily="34" charset="0"/>
                <a:ea typeface="IBM Plex Sans" pitchFamily="34" charset="-122"/>
                <a:cs typeface="IBM Plex Sans" pitchFamily="34" charset="-120"/>
              </a:rPr>
              <a:t>Starts and stops non-production Azure resources on a schedule — automatically, safely, and from one place.</a:t>
            </a:r>
            <a:endParaRPr lang="en-US" sz="1600" dirty="0"/>
          </a:p>
        </p:txBody>
      </p:sp>
      <p:sp>
        <p:nvSpPr>
          <p:cNvPr id="6" name="Text 3"/>
          <p:cNvSpPr/>
          <p:nvPr/>
        </p:nvSpPr>
        <p:spPr>
          <a:xfrm>
            <a:off x="812800" y="5831880"/>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C9D3E0"/>
                </a:solidFill>
                <a:latin typeface="IBM Plex Sans" pitchFamily="34" charset="0"/>
                <a:ea typeface="IBM Plex Sans" pitchFamily="34" charset="-122"/>
                <a:cs typeface="IBM Plex Sans" pitchFamily="34" charset="-120"/>
              </a:rPr>
              <a:t>Cloud Platform Team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4ED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FCE7C3"/>
                </a:solidFill>
                <a:latin typeface="IBM Plex Sans" pitchFamily="34" charset="0"/>
                <a:ea typeface="IBM Plex Sans" pitchFamily="34" charset="-122"/>
                <a:cs typeface="IBM Plex Sans" pitchFamily="34" charset="-120"/>
              </a:rPr>
              <a:t>THE PROBLEM</a:t>
            </a:r>
            <a:endParaRPr lang="en-US" sz="1200" dirty="0"/>
          </a:p>
        </p:txBody>
      </p:sp>
      <p:sp>
        <p:nvSpPr>
          <p:cNvPr id="3" name="Text 1"/>
          <p:cNvSpPr>
            <a:spLocks noGrp="1"/>
          </p:cNvSpPr>
          <p:nvPr>
            <p:ph type="title"/>
          </p:nvPr>
        </p:nvSpPr>
        <p:spPr>
          <a:xfrm>
            <a:off x="812800" y="2343150"/>
            <a:ext cx="10883392" cy="825500"/>
          </a:xfrm>
          <a:prstGeom prst="rect">
            <a:avLst/>
          </a:prstGeom>
          <a:noFill/>
          <a:ln/>
        </p:spPr>
        <p:txBody>
          <a:bodyPr wrap="square" lIns="0" tIns="0" rIns="0" bIns="0" rtlCol="0" anchor="t"/>
          <a:lstStyle/>
          <a:p>
            <a:pPr marL="0" indent="0" algn="l">
              <a:lnSpc>
                <a:spcPts val="6300"/>
              </a:lnSpc>
              <a:buNone/>
            </a:pPr>
            <a:r>
              <a:rPr lang="en-US" sz="6000" b="1" i="0" dirty="0">
                <a:solidFill>
                  <a:srgbClr val="F4F5F0"/>
                </a:solidFill>
                <a:latin typeface="Space Grotesk" pitchFamily="34" charset="0"/>
                <a:ea typeface="Space Grotesk" pitchFamily="34" charset="-122"/>
                <a:cs typeface="Space Grotesk" pitchFamily="34" charset="-120"/>
              </a:rPr>
              <a:t>123 of 168 hours</a:t>
            </a:r>
            <a:endParaRPr lang="en-US" sz="6000" dirty="0"/>
          </a:p>
        </p:txBody>
      </p:sp>
      <p:sp>
        <p:nvSpPr>
          <p:cNvPr id="4" name="Text 2"/>
          <p:cNvSpPr/>
          <p:nvPr/>
        </p:nvSpPr>
        <p:spPr>
          <a:xfrm>
            <a:off x="812800" y="3346450"/>
            <a:ext cx="9156700" cy="685800"/>
          </a:xfrm>
          <a:prstGeom prst="rect">
            <a:avLst/>
          </a:prstGeom>
          <a:noFill/>
          <a:ln/>
        </p:spPr>
        <p:txBody>
          <a:bodyPr wrap="square" lIns="0" tIns="0" rIns="0" bIns="0" rtlCol="0" anchor="t"/>
          <a:lstStyle/>
          <a:p>
            <a:pPr marL="0" indent="0" algn="l">
              <a:lnSpc>
                <a:spcPts val="2600"/>
              </a:lnSpc>
              <a:buNone/>
            </a:pPr>
            <a:r>
              <a:rPr lang="en-US" sz="2000" dirty="0">
                <a:solidFill>
                  <a:srgbClr val="F4F5F0"/>
                </a:solidFill>
                <a:latin typeface="IBM Plex Sans" pitchFamily="34" charset="0"/>
                <a:ea typeface="IBM Plex Sans" pitchFamily="34" charset="-122"/>
                <a:cs typeface="IBM Plex Sans" pitchFamily="34" charset="-120"/>
              </a:rPr>
              <a:t>is how long a 24×7 non-production workload runs each week outside our Mon–Fri, 08:30–17:30 working window.</a:t>
            </a:r>
            <a:endParaRPr lang="en-US" sz="2000" dirty="0"/>
          </a:p>
        </p:txBody>
      </p:sp>
      <p:sp>
        <p:nvSpPr>
          <p:cNvPr id="5" name="Text 3"/>
          <p:cNvSpPr/>
          <p:nvPr/>
        </p:nvSpPr>
        <p:spPr>
          <a:xfrm>
            <a:off x="812800" y="4210050"/>
            <a:ext cx="9156700" cy="594320"/>
          </a:xfrm>
          <a:prstGeom prst="rect">
            <a:avLst/>
          </a:prstGeom>
          <a:noFill/>
          <a:ln/>
        </p:spPr>
        <p:txBody>
          <a:bodyPr wrap="square" lIns="0" tIns="0" rIns="0" bIns="0" rtlCol="0" anchor="t"/>
          <a:lstStyle/>
          <a:p>
            <a:pPr marL="0" indent="0" algn="l">
              <a:lnSpc>
                <a:spcPts val="2240"/>
              </a:lnSpc>
              <a:buNone/>
            </a:pPr>
            <a:r>
              <a:rPr lang="en-US" sz="1600" dirty="0">
                <a:solidFill>
                  <a:srgbClr val="E3EAFB"/>
                </a:solidFill>
                <a:latin typeface="IBM Plex Sans" pitchFamily="34" charset="0"/>
                <a:ea typeface="IBM Plex Sans" pitchFamily="34" charset="-122"/>
                <a:cs typeface="IBM Plex Sans" pitchFamily="34" charset="-120"/>
              </a:rPr>
              <a:t>Many dev, test and UAT workloads in our spoke subscriptions run around the clock. We pay for compute in every one of those idle hours.</a:t>
            </a:r>
            <a:endParaRPr lang="en-US" sz="1600" dirty="0"/>
          </a:p>
        </p:txBody>
      </p:sp>
      <p:sp>
        <p:nvSpPr>
          <p:cNvPr id="6" name="Text 4"/>
          <p:cNvSpPr/>
          <p:nvPr/>
        </p:nvSpPr>
        <p:spPr>
          <a:xfrm>
            <a:off x="812800" y="6238280"/>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E3EAFB"/>
                </a:solidFill>
                <a:latin typeface="IBM Plex Sans" pitchFamily="34" charset="0"/>
                <a:ea typeface="IBM Plex Sans" pitchFamily="34" charset="-122"/>
                <a:cs typeface="IBM Plex Sans" pitchFamily="34" charset="-120"/>
              </a:rPr>
              <a:t>168 hours in a week − 45 working hours (5 days × 9 hours) = 123. Real savings are a little lower because databases start 30 minutes early.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WHAT SUCCESS LOOKS LIKE</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Goals</a:t>
            </a:r>
            <a:endParaRPr lang="en-US" sz="3600" dirty="0"/>
          </a:p>
        </p:txBody>
      </p:sp>
      <p:sp>
        <p:nvSpPr>
          <p:cNvPr id="4" name="Shape 2"/>
          <p:cNvSpPr/>
          <p:nvPr/>
        </p:nvSpPr>
        <p:spPr>
          <a:xfrm>
            <a:off x="815975" y="2859484"/>
            <a:ext cx="19849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5" name="Text 3"/>
          <p:cNvSpPr/>
          <p:nvPr/>
        </p:nvSpPr>
        <p:spPr>
          <a:xfrm>
            <a:off x="971550" y="3015059"/>
            <a:ext cx="17246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40%</a:t>
            </a:r>
            <a:endParaRPr lang="en-US" sz="3600" dirty="0"/>
          </a:p>
        </p:txBody>
      </p:sp>
      <p:sp>
        <p:nvSpPr>
          <p:cNvPr id="6" name="Text 4"/>
          <p:cNvSpPr/>
          <p:nvPr/>
        </p:nvSpPr>
        <p:spPr>
          <a:xfrm>
            <a:off x="971550" y="3594100"/>
            <a:ext cx="1724620" cy="87868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or more off compute cost for in-scope resources within 3 months</a:t>
            </a:r>
            <a:endParaRPr lang="en-US" sz="1200" dirty="0"/>
          </a:p>
        </p:txBody>
      </p:sp>
      <p:sp>
        <p:nvSpPr>
          <p:cNvPr id="7" name="Shape 5"/>
          <p:cNvSpPr/>
          <p:nvPr/>
        </p:nvSpPr>
        <p:spPr>
          <a:xfrm>
            <a:off x="2959695" y="2859484"/>
            <a:ext cx="19849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8" name="Text 6"/>
          <p:cNvSpPr/>
          <p:nvPr/>
        </p:nvSpPr>
        <p:spPr>
          <a:xfrm>
            <a:off x="3115270" y="3015059"/>
            <a:ext cx="17246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0</a:t>
            </a:r>
            <a:endParaRPr lang="en-US" sz="3600" dirty="0"/>
          </a:p>
        </p:txBody>
      </p:sp>
      <p:sp>
        <p:nvSpPr>
          <p:cNvPr id="9" name="Text 7"/>
          <p:cNvSpPr/>
          <p:nvPr/>
        </p:nvSpPr>
        <p:spPr>
          <a:xfrm>
            <a:off x="3115270" y="3594100"/>
            <a:ext cx="172462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manual start/stop tickets for onboarded workloads</a:t>
            </a:r>
            <a:endParaRPr lang="en-US" sz="1200" dirty="0"/>
          </a:p>
        </p:txBody>
      </p:sp>
      <p:sp>
        <p:nvSpPr>
          <p:cNvPr id="10" name="Shape 8"/>
          <p:cNvSpPr/>
          <p:nvPr/>
        </p:nvSpPr>
        <p:spPr>
          <a:xfrm>
            <a:off x="5103416" y="2859484"/>
            <a:ext cx="19850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11" name="Text 9"/>
          <p:cNvSpPr/>
          <p:nvPr/>
        </p:nvSpPr>
        <p:spPr>
          <a:xfrm>
            <a:off x="5258991" y="3015059"/>
            <a:ext cx="1724720" cy="528241"/>
          </a:xfrm>
          <a:prstGeom prst="rect">
            <a:avLst/>
          </a:prstGeom>
          <a:noFill/>
          <a:ln/>
        </p:spPr>
        <p:txBody>
          <a:bodyPr wrap="non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15 min</a:t>
            </a:r>
            <a:endParaRPr lang="en-US" sz="3600" dirty="0"/>
          </a:p>
        </p:txBody>
      </p:sp>
      <p:sp>
        <p:nvSpPr>
          <p:cNvPr id="12" name="Text 10"/>
          <p:cNvSpPr/>
          <p:nvPr/>
        </p:nvSpPr>
        <p:spPr>
          <a:xfrm>
            <a:off x="5258991" y="3594100"/>
            <a:ext cx="172472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or less for a schedule change to take effect</a:t>
            </a:r>
            <a:endParaRPr lang="en-US" sz="1200" dirty="0"/>
          </a:p>
        </p:txBody>
      </p:sp>
      <p:sp>
        <p:nvSpPr>
          <p:cNvPr id="13" name="Shape 11"/>
          <p:cNvSpPr/>
          <p:nvPr/>
        </p:nvSpPr>
        <p:spPr>
          <a:xfrm>
            <a:off x="7247235" y="2859484"/>
            <a:ext cx="19849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14" name="Text 12"/>
          <p:cNvSpPr/>
          <p:nvPr/>
        </p:nvSpPr>
        <p:spPr>
          <a:xfrm>
            <a:off x="7402810" y="3015059"/>
            <a:ext cx="17246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0</a:t>
            </a:r>
            <a:endParaRPr lang="en-US" sz="3600" dirty="0"/>
          </a:p>
        </p:txBody>
      </p:sp>
      <p:sp>
        <p:nvSpPr>
          <p:cNvPr id="15" name="Text 13"/>
          <p:cNvSpPr/>
          <p:nvPr/>
        </p:nvSpPr>
        <p:spPr>
          <a:xfrm>
            <a:off x="7402810" y="3594100"/>
            <a:ext cx="172462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incidents caused to shared platform services</a:t>
            </a:r>
            <a:endParaRPr lang="en-US" sz="1200" dirty="0"/>
          </a:p>
        </p:txBody>
      </p:sp>
      <p:sp>
        <p:nvSpPr>
          <p:cNvPr id="16" name="Shape 14"/>
          <p:cNvSpPr/>
          <p:nvPr/>
        </p:nvSpPr>
        <p:spPr>
          <a:xfrm>
            <a:off x="9390955" y="2859484"/>
            <a:ext cx="19850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17" name="Text 15"/>
          <p:cNvSpPr/>
          <p:nvPr/>
        </p:nvSpPr>
        <p:spPr>
          <a:xfrm>
            <a:off x="9546530" y="3015059"/>
            <a:ext cx="17247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100%</a:t>
            </a:r>
            <a:endParaRPr lang="en-US" sz="3600" dirty="0"/>
          </a:p>
        </p:txBody>
      </p:sp>
      <p:sp>
        <p:nvSpPr>
          <p:cNvPr id="18" name="Text 16"/>
          <p:cNvSpPr/>
          <p:nvPr/>
        </p:nvSpPr>
        <p:spPr>
          <a:xfrm>
            <a:off x="9546530" y="3594100"/>
            <a:ext cx="172472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of actions logged and queryable, with a monthly savings report</a:t>
            </a:r>
            <a:endParaRPr lang="en-US" sz="1200" dirty="0"/>
          </a:p>
        </p:txBody>
      </p:sp>
      <p:sp>
        <p:nvSpPr>
          <p:cNvPr id="19" name="Text 17"/>
          <p:cNvSpPr/>
          <p:nvPr/>
        </p:nvSpPr>
        <p:spPr>
          <a:xfrm>
            <a:off x="812800" y="5831880"/>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Targets from the requirements specification, objectives OBJ-01 to OBJ-05.</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WHERE WE ARE · OCTOBER 2026</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From design to a live service</a:t>
            </a:r>
            <a:endParaRPr lang="en-US" sz="3600" dirty="0"/>
          </a:p>
        </p:txBody>
      </p:sp>
      <p:sp>
        <p:nvSpPr>
          <p:cNvPr id="4" name="Shape 2"/>
          <p:cNvSpPr/>
          <p:nvPr/>
        </p:nvSpPr>
        <p:spPr>
          <a:xfrm>
            <a:off x="81597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5" name="Text 3"/>
          <p:cNvSpPr/>
          <p:nvPr/>
        </p:nvSpPr>
        <p:spPr>
          <a:xfrm>
            <a:off x="99695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1</a:t>
            </a:r>
            <a:endParaRPr lang="en-US" sz="1200" dirty="0"/>
          </a:p>
        </p:txBody>
      </p:sp>
      <p:sp>
        <p:nvSpPr>
          <p:cNvPr id="6" name="Text 4"/>
          <p:cNvSpPr/>
          <p:nvPr/>
        </p:nvSpPr>
        <p:spPr>
          <a:xfrm>
            <a:off x="99695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Reviewed</a:t>
            </a:r>
            <a:endParaRPr lang="en-US" sz="1600" dirty="0"/>
          </a:p>
        </p:txBody>
      </p:sp>
      <p:sp>
        <p:nvSpPr>
          <p:cNvPr id="7" name="Text 5"/>
          <p:cNvSpPr/>
          <p:nvPr/>
        </p:nvSpPr>
        <p:spPr>
          <a:xfrm>
            <a:off x="996950" y="3121720"/>
            <a:ext cx="13893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29 findings, all closed</a:t>
            </a:r>
            <a:endParaRPr lang="en-US" sz="1200" dirty="0"/>
          </a:p>
        </p:txBody>
      </p:sp>
      <p:pic>
        <p:nvPicPr>
          <p:cNvPr id="8" name="Image 0" descr="arrow-right"/>
          <p:cNvPicPr>
            <a:picLocks noChangeAspect="1"/>
          </p:cNvPicPr>
          <p:nvPr/>
        </p:nvPicPr>
        <p:blipFill>
          <a:blip r:embed="rId3"/>
          <a:srcRect/>
          <a:stretch/>
        </p:blipFill>
        <p:spPr>
          <a:xfrm>
            <a:off x="2621260" y="3274020"/>
            <a:ext cx="304800" cy="152400"/>
          </a:xfrm>
          <a:prstGeom prst="rect">
            <a:avLst/>
          </a:prstGeom>
        </p:spPr>
      </p:pic>
      <p:sp>
        <p:nvSpPr>
          <p:cNvPr id="9" name="Shape 6"/>
          <p:cNvSpPr/>
          <p:nvPr/>
        </p:nvSpPr>
        <p:spPr>
          <a:xfrm>
            <a:off x="3030835" y="2331244"/>
            <a:ext cx="1700609"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10" name="Text 7"/>
          <p:cNvSpPr/>
          <p:nvPr/>
        </p:nvSpPr>
        <p:spPr>
          <a:xfrm>
            <a:off x="3211810" y="2512219"/>
            <a:ext cx="1389459"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2</a:t>
            </a:r>
            <a:endParaRPr lang="en-US" sz="1200" dirty="0"/>
          </a:p>
        </p:txBody>
      </p:sp>
      <p:sp>
        <p:nvSpPr>
          <p:cNvPr id="11" name="Text 8"/>
          <p:cNvSpPr/>
          <p:nvPr/>
        </p:nvSpPr>
        <p:spPr>
          <a:xfrm>
            <a:off x="3211810" y="2801739"/>
            <a:ext cx="1389459"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Dry run</a:t>
            </a:r>
            <a:endParaRPr lang="en-US" sz="1600" dirty="0"/>
          </a:p>
        </p:txBody>
      </p:sp>
      <p:sp>
        <p:nvSpPr>
          <p:cNvPr id="12" name="Text 9"/>
          <p:cNvSpPr/>
          <p:nvPr/>
        </p:nvSpPr>
        <p:spPr>
          <a:xfrm>
            <a:off x="3211810" y="3121720"/>
            <a:ext cx="1389459"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Demo tenant, a full business day</a:t>
            </a:r>
            <a:endParaRPr lang="en-US" sz="1200" dirty="0"/>
          </a:p>
        </p:txBody>
      </p:sp>
      <p:pic>
        <p:nvPicPr>
          <p:cNvPr id="13" name="Image 1" descr="arrow-right"/>
          <p:cNvPicPr>
            <a:picLocks noChangeAspect="1"/>
          </p:cNvPicPr>
          <p:nvPr/>
        </p:nvPicPr>
        <p:blipFill>
          <a:blip r:embed="rId3"/>
          <a:srcRect/>
          <a:stretch/>
        </p:blipFill>
        <p:spPr>
          <a:xfrm>
            <a:off x="4836220" y="3274020"/>
            <a:ext cx="304800" cy="152400"/>
          </a:xfrm>
          <a:prstGeom prst="rect">
            <a:avLst/>
          </a:prstGeom>
        </p:spPr>
      </p:pic>
      <p:sp>
        <p:nvSpPr>
          <p:cNvPr id="14" name="Shape 10"/>
          <p:cNvSpPr/>
          <p:nvPr/>
        </p:nvSpPr>
        <p:spPr>
          <a:xfrm>
            <a:off x="524579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15" name="Text 11"/>
          <p:cNvSpPr/>
          <p:nvPr/>
        </p:nvSpPr>
        <p:spPr>
          <a:xfrm>
            <a:off x="542677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3</a:t>
            </a:r>
            <a:endParaRPr lang="en-US" sz="1200" dirty="0"/>
          </a:p>
        </p:txBody>
      </p:sp>
      <p:sp>
        <p:nvSpPr>
          <p:cNvPr id="16" name="Text 12"/>
          <p:cNvSpPr/>
          <p:nvPr/>
        </p:nvSpPr>
        <p:spPr>
          <a:xfrm>
            <a:off x="542677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Go-live</a:t>
            </a:r>
            <a:endParaRPr lang="en-US" sz="1600" dirty="0"/>
          </a:p>
        </p:txBody>
      </p:sp>
      <p:sp>
        <p:nvSpPr>
          <p:cNvPr id="17" name="Text 13"/>
          <p:cNvSpPr/>
          <p:nvPr/>
        </p:nvSpPr>
        <p:spPr>
          <a:xfrm>
            <a:off x="5426770" y="3121720"/>
            <a:ext cx="1389360" cy="1092002"/>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6 Oct 2026; the first live stop ran that same night</a:t>
            </a:r>
            <a:endParaRPr lang="en-US" sz="1200" dirty="0"/>
          </a:p>
        </p:txBody>
      </p:sp>
      <p:pic>
        <p:nvPicPr>
          <p:cNvPr id="18" name="Image 2" descr="arrow-right"/>
          <p:cNvPicPr>
            <a:picLocks noChangeAspect="1"/>
          </p:cNvPicPr>
          <p:nvPr/>
        </p:nvPicPr>
        <p:blipFill>
          <a:blip r:embed="rId3"/>
          <a:srcRect/>
          <a:stretch/>
        </p:blipFill>
        <p:spPr>
          <a:xfrm>
            <a:off x="7051080" y="3274020"/>
            <a:ext cx="304800" cy="152400"/>
          </a:xfrm>
          <a:prstGeom prst="rect">
            <a:avLst/>
          </a:prstGeom>
        </p:spPr>
      </p:pic>
      <p:sp>
        <p:nvSpPr>
          <p:cNvPr id="19" name="Shape 14"/>
          <p:cNvSpPr/>
          <p:nvPr/>
        </p:nvSpPr>
        <p:spPr>
          <a:xfrm>
            <a:off x="746065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20" name="Text 15"/>
          <p:cNvSpPr/>
          <p:nvPr/>
        </p:nvSpPr>
        <p:spPr>
          <a:xfrm>
            <a:off x="764163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4</a:t>
            </a:r>
            <a:endParaRPr lang="en-US" sz="1200" dirty="0"/>
          </a:p>
        </p:txBody>
      </p:sp>
      <p:sp>
        <p:nvSpPr>
          <p:cNvPr id="21" name="Text 16"/>
          <p:cNvSpPr/>
          <p:nvPr/>
        </p:nvSpPr>
        <p:spPr>
          <a:xfrm>
            <a:off x="764163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Live day</a:t>
            </a:r>
            <a:endParaRPr lang="en-US" sz="1600" dirty="0"/>
          </a:p>
        </p:txBody>
      </p:sp>
      <p:sp>
        <p:nvSpPr>
          <p:cNvPr id="22" name="Text 17"/>
          <p:cNvSpPr/>
          <p:nvPr/>
        </p:nvSpPr>
        <p:spPr>
          <a:xfrm>
            <a:off x="7641630" y="3121720"/>
            <a:ext cx="1389360" cy="87868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7 Oct: every start and stop ran on schedule</a:t>
            </a:r>
            <a:endParaRPr lang="en-US" sz="1200" dirty="0"/>
          </a:p>
        </p:txBody>
      </p:sp>
      <p:pic>
        <p:nvPicPr>
          <p:cNvPr id="23" name="Image 3" descr="arrow-right"/>
          <p:cNvPicPr>
            <a:picLocks noChangeAspect="1"/>
          </p:cNvPicPr>
          <p:nvPr/>
        </p:nvPicPr>
        <p:blipFill>
          <a:blip r:embed="rId3"/>
          <a:srcRect/>
          <a:stretch/>
        </p:blipFill>
        <p:spPr>
          <a:xfrm>
            <a:off x="9265940" y="3274020"/>
            <a:ext cx="304800" cy="152400"/>
          </a:xfrm>
          <a:prstGeom prst="rect">
            <a:avLst/>
          </a:prstGeom>
        </p:spPr>
      </p:pic>
      <p:sp>
        <p:nvSpPr>
          <p:cNvPr id="24" name="Shape 18"/>
          <p:cNvSpPr/>
          <p:nvPr/>
        </p:nvSpPr>
        <p:spPr>
          <a:xfrm>
            <a:off x="967551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25" name="Text 19"/>
          <p:cNvSpPr/>
          <p:nvPr/>
        </p:nvSpPr>
        <p:spPr>
          <a:xfrm>
            <a:off x="985649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5</a:t>
            </a:r>
            <a:endParaRPr lang="en-US" sz="1200" dirty="0"/>
          </a:p>
        </p:txBody>
      </p:sp>
      <p:sp>
        <p:nvSpPr>
          <p:cNvPr id="26" name="Text 20"/>
          <p:cNvSpPr/>
          <p:nvPr/>
        </p:nvSpPr>
        <p:spPr>
          <a:xfrm>
            <a:off x="9856490" y="2801739"/>
            <a:ext cx="1389360" cy="512961"/>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Ready to scale</a:t>
            </a:r>
            <a:endParaRPr lang="en-US" sz="1600" dirty="0"/>
          </a:p>
        </p:txBody>
      </p:sp>
      <p:sp>
        <p:nvSpPr>
          <p:cNvPr id="27" name="Text 21"/>
          <p:cNvSpPr/>
          <p:nvPr/>
        </p:nvSpPr>
        <p:spPr>
          <a:xfrm>
            <a:off x="9856490" y="3365500"/>
            <a:ext cx="13893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v0.7: large-tenant support, rollout runbook</a:t>
            </a:r>
            <a:endParaRPr lang="en-US" sz="1200" dirty="0"/>
          </a:p>
        </p:txBody>
      </p:sp>
      <p:sp>
        <p:nvSpPr>
          <p:cNvPr id="28" name="Text 22"/>
          <p:cNvSpPr/>
          <p:nvPr/>
        </p:nvSpPr>
        <p:spPr>
          <a:xfrm>
            <a:off x="812800" y="5069880"/>
            <a:ext cx="10566400" cy="975320"/>
          </a:xfrm>
          <a:prstGeom prst="roundRect">
            <a:avLst>
              <a:gd name="adj" fmla="val 10417"/>
            </a:avLst>
          </a:prstGeom>
          <a:solidFill>
            <a:srgbClr val="E3EAFB"/>
          </a:solidFill>
          <a:ln/>
        </p:spPr>
        <p:txBody>
          <a:bodyPr wrap="square" lIns="173442" tIns="173442" rIns="0" bIns="148042" rtlCol="0" anchor="t"/>
          <a:lstStyle/>
          <a:p>
            <a:pPr marL="0" indent="0" algn="l">
              <a:lnSpc>
                <a:spcPts val="2240"/>
              </a:lnSpc>
              <a:buNone/>
            </a:pPr>
            <a:r>
              <a:rPr lang="en-US" sz="1600" b="1" dirty="0">
                <a:solidFill>
                  <a:srgbClr val="0F1B2D"/>
                </a:solidFill>
                <a:latin typeface="IBM Plex Sans" pitchFamily="34" charset="0"/>
                <a:ea typeface="IBM Plex Sans" pitchFamily="34" charset="-122"/>
                <a:cs typeface="IBM Plex Sans" pitchFamily="34" charset="-120"/>
              </a:rPr>
              <a:t>Next: roll out to our tenant.</a:t>
            </a:r>
            <a:r>
              <a:rPr lang="en-US" sz="1600" dirty="0">
                <a:solidFill>
                  <a:srgbClr val="0F1B2D"/>
                </a:solidFill>
                <a:latin typeface="IBM Plex Sans" pitchFamily="34" charset="0"/>
                <a:ea typeface="IBM Plex Sans" pitchFamily="34" charset="-122"/>
                <a:cs typeface="IBM Plex Sans" pitchFamily="34" charset="-120"/>
              </a:rPr>
              <a:t> We follow the same steps as the demo, starting with a full business day in dry run.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DECISION D-01</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Options considered</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261"/>
          <a:ext cx="10553700" cy="2720679"/>
        </p:xfrm>
        <a:graphic>
          <a:graphicData uri="http://schemas.openxmlformats.org/drawingml/2006/table">
            <a:tbl>
              <a:tblPr/>
              <a:tblGrid>
                <a:gridCol w="2321814">
                  <a:extLst>
                    <a:ext uri="{9D8B030D-6E8A-4147-A177-3AD203B41FA5}">
                      <a16:colId xmlns:a16="http://schemas.microsoft.com/office/drawing/2014/main" val="20000"/>
                    </a:ext>
                  </a:extLst>
                </a:gridCol>
                <a:gridCol w="3271647">
                  <a:extLst>
                    <a:ext uri="{9D8B030D-6E8A-4147-A177-3AD203B41FA5}">
                      <a16:colId xmlns:a16="http://schemas.microsoft.com/office/drawing/2014/main" val="20001"/>
                    </a:ext>
                  </a:extLst>
                </a:gridCol>
                <a:gridCol w="3271647">
                  <a:extLst>
                    <a:ext uri="{9D8B030D-6E8A-4147-A177-3AD203B41FA5}">
                      <a16:colId xmlns:a16="http://schemas.microsoft.com/office/drawing/2014/main" val="20002"/>
                    </a:ext>
                  </a:extLst>
                </a:gridCol>
                <a:gridCol w="1688592">
                  <a:extLst>
                    <a:ext uri="{9D8B030D-6E8A-4147-A177-3AD203B41FA5}">
                      <a16:colId xmlns:a16="http://schemas.microsoft.com/office/drawing/2014/main" val="20003"/>
                    </a:ext>
                  </a:extLst>
                </a:gridCol>
              </a:tblGrid>
              <a:tr h="359271">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Option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Strengths</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Trade-offs</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Verdict</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extLst>
                  <a:ext uri="{0D108BD9-81ED-4DB2-BD59-A6C34878D82A}">
                    <a16:rowId xmlns:a16="http://schemas.microsoft.com/office/drawing/2014/main" val="10000"/>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 Jenkins pipeline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Tool we already run; changes reviewed in Git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Every scheduled run depends on Jenkins being up</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Not chosen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1"/>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B. Azure Automation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Native and low cost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One-hour minimum schedule; clumsy Git workflow</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Not chosen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2"/>
                  </a:ext>
                </a:extLst>
              </a:tr>
              <a:tr h="590352">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C. Azure Functions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B5BBC8"/>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5BBC8"/>
                      </a:solidFill>
                      <a:prstDash val="solid"/>
                      <a:round/>
                      <a:headEnd type="none" w="med" len="med"/>
                      <a:tailEnd type="none" w="med" len="med"/>
                    </a:lnB>
                    <a:solidFill>
                      <a:srgbClr val="E3EAFB"/>
                    </a:solidFill>
                  </a:tcPr>
                </a:tc>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Native, reliable, cheap; schedules change by config only</a:t>
                      </a:r>
                      <a:endParaRPr lang="en-US" sz="1300" dirty="0">
                        <a:latin typeface="IBM Plex Sans" charset="0"/>
                        <a:ea typeface="IBM Plex Sans" charset="0"/>
                        <a:cs typeface="IBM Plex Sans" charset="0"/>
                      </a:endParaRPr>
                    </a:p>
                  </a:txBody>
                  <a:tcPr marL="57785" marR="57785" marT="57785" marB="57785">
                    <a:lnL w="12700" cap="flat" cmpd="sng" algn="ctr">
                      <a:solidFill>
                        <a:srgbClr val="B5BBC8"/>
                      </a:solidFill>
                      <a:prstDash val="solid"/>
                      <a:round/>
                      <a:headEnd type="none" w="med" len="med"/>
                      <a:tailEnd type="none" w="med" len="med"/>
                    </a:lnL>
                    <a:lnR w="12700" cap="flat" cmpd="sng" algn="ctr">
                      <a:solidFill>
                        <a:srgbClr val="B5BBC8"/>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5BBC8"/>
                      </a:solidFill>
                      <a:prstDash val="solid"/>
                      <a:round/>
                      <a:headEnd type="none" w="med" len="med"/>
                      <a:tailEnd type="none" w="med" len="med"/>
                    </a:lnB>
                    <a:solidFill>
                      <a:srgbClr val="E3EAFB"/>
                    </a:solidFill>
                  </a:tcPr>
                </a:tc>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A small codebase for us to maintain</a:t>
                      </a:r>
                      <a:endParaRPr lang="en-US" sz="1300" dirty="0">
                        <a:latin typeface="IBM Plex Sans" charset="0"/>
                        <a:ea typeface="IBM Plex Sans" charset="0"/>
                        <a:cs typeface="IBM Plex Sans" charset="0"/>
                      </a:endParaRPr>
                    </a:p>
                  </a:txBody>
                  <a:tcPr marL="57785" marR="57785" marT="57785" marB="57785">
                    <a:lnL w="12700" cap="flat" cmpd="sng" algn="ctr">
                      <a:solidFill>
                        <a:srgbClr val="B5BBC8"/>
                      </a:solidFill>
                      <a:prstDash val="solid"/>
                      <a:round/>
                      <a:headEnd type="none" w="med" len="med"/>
                      <a:tailEnd type="none" w="med" len="med"/>
                    </a:lnL>
                    <a:lnR w="12700" cap="flat" cmpd="sng" algn="ctr">
                      <a:solidFill>
                        <a:srgbClr val="B5BBC8"/>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5BBC8"/>
                      </a:solidFill>
                      <a:prstDash val="solid"/>
                      <a:round/>
                      <a:headEnd type="none" w="med" len="med"/>
                      <a:tailEnd type="none" w="med" len="med"/>
                    </a:lnB>
                    <a:solidFill>
                      <a:srgbClr val="E3EAFB"/>
                    </a:solidFill>
                  </a:tcPr>
                </a:tc>
                <a:tc>
                  <a:txBody>
                    <a:bodyPr/>
                    <a:lstStyle/>
                    <a:p>
                      <a:pPr marL="0" indent="0">
                        <a:lnSpc>
                          <a:spcPts val="1820"/>
                        </a:lnSpc>
                        <a:buNone/>
                      </a:pPr>
                      <a:r>
                        <a:rPr lang="en-US" sz="1300" dirty="0">
                          <a:solidFill>
                            <a:srgbClr val="1D4ED8"/>
                          </a:solidFill>
                          <a:latin typeface="IBM Plex Sans" pitchFamily="34" charset="0"/>
                          <a:ea typeface="IBM Plex Sans" pitchFamily="34" charset="-122"/>
                          <a:cs typeface="IBM Plex Sans" pitchFamily="34" charset="-120"/>
                        </a:rPr>
                        <a:t>Selected</a:t>
                      </a:r>
                      <a:endParaRPr lang="en-US" sz="1300" dirty="0">
                        <a:latin typeface="IBM Plex Sans" charset="0"/>
                        <a:ea typeface="IBM Plex Sans" charset="0"/>
                        <a:cs typeface="IBM Plex Sans" charset="0"/>
                      </a:endParaRPr>
                    </a:p>
                  </a:txBody>
                  <a:tcPr marL="57785" marR="57785" marT="57785" marB="57785">
                    <a:lnL w="12700" cap="flat" cmpd="sng" algn="ctr">
                      <a:solidFill>
                        <a:srgbClr val="B5BBC8"/>
                      </a:solidFill>
                      <a:prstDash val="solid"/>
                      <a:round/>
                      <a:headEnd type="none" w="med" len="med"/>
                      <a:tailEnd type="none" w="med" len="med"/>
                    </a:lnL>
                    <a:lnR w="12700" cap="flat" cmpd="sng" algn="ctr">
                      <a:solidFill>
                        <a:srgbClr val="B5BBC8"/>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5BBC8"/>
                      </a:solidFill>
                      <a:prstDash val="solid"/>
                      <a:round/>
                      <a:headEnd type="none" w="med" len="med"/>
                      <a:tailEnd type="none" w="med" len="med"/>
                    </a:lnB>
                    <a:solidFill>
                      <a:srgbClr val="E3EAFB"/>
                    </a:solidFill>
                  </a:tcPr>
                </a:tc>
                <a:extLst>
                  <a:ext uri="{0D108BD9-81ED-4DB2-BD59-A6C34878D82A}">
                    <a16:rowId xmlns:a16="http://schemas.microsoft.com/office/drawing/2014/main" val="10003"/>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D. Start/Stop VMs v2</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Quick to deploy</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Virtual machines only — no AKS or databases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Not chosen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812800" y="4871938"/>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Option C runs as a timer-triggered Azure Function and is deployed with Terraform.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ONE CYCLE, EVERY 15 MINUTES</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How it works</a:t>
            </a:r>
            <a:endParaRPr lang="en-US" sz="3600" dirty="0"/>
          </a:p>
        </p:txBody>
      </p:sp>
      <p:sp>
        <p:nvSpPr>
          <p:cNvPr id="4" name="Shape 2"/>
          <p:cNvSpPr/>
          <p:nvPr/>
        </p:nvSpPr>
        <p:spPr>
          <a:xfrm>
            <a:off x="81597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5" name="Text 3"/>
          <p:cNvSpPr/>
          <p:nvPr/>
        </p:nvSpPr>
        <p:spPr>
          <a:xfrm>
            <a:off x="99695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1</a:t>
            </a:r>
            <a:endParaRPr lang="en-US" sz="1200" dirty="0"/>
          </a:p>
        </p:txBody>
      </p:sp>
      <p:sp>
        <p:nvSpPr>
          <p:cNvPr id="6" name="Text 4"/>
          <p:cNvSpPr/>
          <p:nvPr/>
        </p:nvSpPr>
        <p:spPr>
          <a:xfrm>
            <a:off x="99695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Timer fires</a:t>
            </a:r>
            <a:endParaRPr lang="en-US" sz="1600" dirty="0"/>
          </a:p>
        </p:txBody>
      </p:sp>
      <p:sp>
        <p:nvSpPr>
          <p:cNvPr id="7" name="Text 5"/>
          <p:cNvSpPr/>
          <p:nvPr/>
        </p:nvSpPr>
        <p:spPr>
          <a:xfrm>
            <a:off x="996950" y="3121720"/>
            <a:ext cx="13893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Every 15 minutes, in UTC</a:t>
            </a:r>
            <a:endParaRPr lang="en-US" sz="1200" dirty="0"/>
          </a:p>
        </p:txBody>
      </p:sp>
      <p:pic>
        <p:nvPicPr>
          <p:cNvPr id="8" name="Image 0" descr="arrow-right"/>
          <p:cNvPicPr>
            <a:picLocks noChangeAspect="1"/>
          </p:cNvPicPr>
          <p:nvPr/>
        </p:nvPicPr>
        <p:blipFill>
          <a:blip r:embed="rId3"/>
          <a:srcRect/>
          <a:stretch/>
        </p:blipFill>
        <p:spPr>
          <a:xfrm>
            <a:off x="2621260" y="3274020"/>
            <a:ext cx="304800" cy="152400"/>
          </a:xfrm>
          <a:prstGeom prst="rect">
            <a:avLst/>
          </a:prstGeom>
        </p:spPr>
      </p:pic>
      <p:sp>
        <p:nvSpPr>
          <p:cNvPr id="9" name="Shape 6"/>
          <p:cNvSpPr/>
          <p:nvPr/>
        </p:nvSpPr>
        <p:spPr>
          <a:xfrm>
            <a:off x="3030835" y="2331244"/>
            <a:ext cx="1700609"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10" name="Text 7"/>
          <p:cNvSpPr/>
          <p:nvPr/>
        </p:nvSpPr>
        <p:spPr>
          <a:xfrm>
            <a:off x="3211810" y="2512219"/>
            <a:ext cx="1389459"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2</a:t>
            </a:r>
            <a:endParaRPr lang="en-US" sz="1200" dirty="0"/>
          </a:p>
        </p:txBody>
      </p:sp>
      <p:sp>
        <p:nvSpPr>
          <p:cNvPr id="11" name="Text 8"/>
          <p:cNvSpPr/>
          <p:nvPr/>
        </p:nvSpPr>
        <p:spPr>
          <a:xfrm>
            <a:off x="3211810" y="2801739"/>
            <a:ext cx="1389459"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Load config</a:t>
            </a:r>
            <a:endParaRPr lang="en-US" sz="1600" dirty="0"/>
          </a:p>
        </p:txBody>
      </p:sp>
      <p:sp>
        <p:nvSpPr>
          <p:cNvPr id="12" name="Text 9"/>
          <p:cNvSpPr/>
          <p:nvPr/>
        </p:nvSpPr>
        <p:spPr>
          <a:xfrm>
            <a:off x="3211810" y="3121720"/>
            <a:ext cx="1389459"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Profiles and scopes from App Configuration</a:t>
            </a:r>
            <a:endParaRPr lang="en-US" sz="1200" dirty="0"/>
          </a:p>
        </p:txBody>
      </p:sp>
      <p:pic>
        <p:nvPicPr>
          <p:cNvPr id="13" name="Image 1" descr="arrow-right"/>
          <p:cNvPicPr>
            <a:picLocks noChangeAspect="1"/>
          </p:cNvPicPr>
          <p:nvPr/>
        </p:nvPicPr>
        <p:blipFill>
          <a:blip r:embed="rId3"/>
          <a:srcRect/>
          <a:stretch/>
        </p:blipFill>
        <p:spPr>
          <a:xfrm>
            <a:off x="4836220" y="3274020"/>
            <a:ext cx="304800" cy="152400"/>
          </a:xfrm>
          <a:prstGeom prst="rect">
            <a:avLst/>
          </a:prstGeom>
        </p:spPr>
      </p:pic>
      <p:sp>
        <p:nvSpPr>
          <p:cNvPr id="14" name="Shape 10"/>
          <p:cNvSpPr/>
          <p:nvPr/>
        </p:nvSpPr>
        <p:spPr>
          <a:xfrm>
            <a:off x="524579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15" name="Text 11"/>
          <p:cNvSpPr/>
          <p:nvPr/>
        </p:nvSpPr>
        <p:spPr>
          <a:xfrm>
            <a:off x="542677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3</a:t>
            </a:r>
            <a:endParaRPr lang="en-US" sz="1200" dirty="0"/>
          </a:p>
        </p:txBody>
      </p:sp>
      <p:sp>
        <p:nvSpPr>
          <p:cNvPr id="16" name="Text 12"/>
          <p:cNvSpPr/>
          <p:nvPr/>
        </p:nvSpPr>
        <p:spPr>
          <a:xfrm>
            <a:off x="542677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Discover</a:t>
            </a:r>
            <a:endParaRPr lang="en-US" sz="1600" dirty="0"/>
          </a:p>
        </p:txBody>
      </p:sp>
      <p:sp>
        <p:nvSpPr>
          <p:cNvPr id="17" name="Text 13"/>
          <p:cNvSpPr/>
          <p:nvPr/>
        </p:nvSpPr>
        <p:spPr>
          <a:xfrm>
            <a:off x="5426770" y="3121720"/>
            <a:ext cx="1389360" cy="1092002"/>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Tagged resources across management groups, via Resource Graph</a:t>
            </a:r>
            <a:endParaRPr lang="en-US" sz="1200" dirty="0"/>
          </a:p>
        </p:txBody>
      </p:sp>
      <p:pic>
        <p:nvPicPr>
          <p:cNvPr id="18" name="Image 2" descr="arrow-right"/>
          <p:cNvPicPr>
            <a:picLocks noChangeAspect="1"/>
          </p:cNvPicPr>
          <p:nvPr/>
        </p:nvPicPr>
        <p:blipFill>
          <a:blip r:embed="rId3"/>
          <a:srcRect/>
          <a:stretch/>
        </p:blipFill>
        <p:spPr>
          <a:xfrm>
            <a:off x="7051080" y="3274020"/>
            <a:ext cx="304800" cy="152400"/>
          </a:xfrm>
          <a:prstGeom prst="rect">
            <a:avLst/>
          </a:prstGeom>
        </p:spPr>
      </p:pic>
      <p:sp>
        <p:nvSpPr>
          <p:cNvPr id="19" name="Shape 14"/>
          <p:cNvSpPr/>
          <p:nvPr/>
        </p:nvSpPr>
        <p:spPr>
          <a:xfrm>
            <a:off x="746065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20" name="Text 15"/>
          <p:cNvSpPr/>
          <p:nvPr/>
        </p:nvSpPr>
        <p:spPr>
          <a:xfrm>
            <a:off x="764163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4</a:t>
            </a:r>
            <a:endParaRPr lang="en-US" sz="1200" dirty="0"/>
          </a:p>
        </p:txBody>
      </p:sp>
      <p:sp>
        <p:nvSpPr>
          <p:cNvPr id="21" name="Text 16"/>
          <p:cNvSpPr/>
          <p:nvPr/>
        </p:nvSpPr>
        <p:spPr>
          <a:xfrm>
            <a:off x="764163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Decide</a:t>
            </a:r>
            <a:endParaRPr lang="en-US" sz="1600" dirty="0"/>
          </a:p>
        </p:txBody>
      </p:sp>
      <p:sp>
        <p:nvSpPr>
          <p:cNvPr id="22" name="Text 17"/>
          <p:cNvSpPr/>
          <p:nvPr/>
        </p:nvSpPr>
        <p:spPr>
          <a:xfrm>
            <a:off x="7641630" y="3121720"/>
            <a:ext cx="1389360" cy="87868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Desired state from the profile's timezone and any override</a:t>
            </a:r>
            <a:endParaRPr lang="en-US" sz="1200" dirty="0"/>
          </a:p>
        </p:txBody>
      </p:sp>
      <p:pic>
        <p:nvPicPr>
          <p:cNvPr id="23" name="Image 3" descr="arrow-right"/>
          <p:cNvPicPr>
            <a:picLocks noChangeAspect="1"/>
          </p:cNvPicPr>
          <p:nvPr/>
        </p:nvPicPr>
        <p:blipFill>
          <a:blip r:embed="rId3"/>
          <a:srcRect/>
          <a:stretch/>
        </p:blipFill>
        <p:spPr>
          <a:xfrm>
            <a:off x="9265940" y="3274020"/>
            <a:ext cx="304800" cy="152400"/>
          </a:xfrm>
          <a:prstGeom prst="rect">
            <a:avLst/>
          </a:prstGeom>
        </p:spPr>
      </p:pic>
      <p:sp>
        <p:nvSpPr>
          <p:cNvPr id="24" name="Shape 18"/>
          <p:cNvSpPr/>
          <p:nvPr/>
        </p:nvSpPr>
        <p:spPr>
          <a:xfrm>
            <a:off x="967551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25" name="Text 19"/>
          <p:cNvSpPr/>
          <p:nvPr/>
        </p:nvSpPr>
        <p:spPr>
          <a:xfrm>
            <a:off x="985649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5</a:t>
            </a:r>
            <a:endParaRPr lang="en-US" sz="1200" dirty="0"/>
          </a:p>
        </p:txBody>
      </p:sp>
      <p:sp>
        <p:nvSpPr>
          <p:cNvPr id="26" name="Text 20"/>
          <p:cNvSpPr/>
          <p:nvPr/>
        </p:nvSpPr>
        <p:spPr>
          <a:xfrm>
            <a:off x="9856490" y="2801739"/>
            <a:ext cx="1389360" cy="512961"/>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Act on differences</a:t>
            </a:r>
            <a:endParaRPr lang="en-US" sz="1600" dirty="0"/>
          </a:p>
        </p:txBody>
      </p:sp>
      <p:sp>
        <p:nvSpPr>
          <p:cNvPr id="27" name="Text 21"/>
          <p:cNvSpPr/>
          <p:nvPr/>
        </p:nvSpPr>
        <p:spPr>
          <a:xfrm>
            <a:off x="9856490" y="3365500"/>
            <a:ext cx="13893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Start or stop only what differs, then log every decision</a:t>
            </a:r>
            <a:endParaRPr lang="en-US" sz="1200" dirty="0"/>
          </a:p>
        </p:txBody>
      </p:sp>
      <p:sp>
        <p:nvSpPr>
          <p:cNvPr id="28" name="Text 22"/>
          <p:cNvSpPr/>
          <p:nvPr/>
        </p:nvSpPr>
        <p:spPr>
          <a:xfrm>
            <a:off x="812800" y="5069880"/>
            <a:ext cx="10566400" cy="975320"/>
          </a:xfrm>
          <a:prstGeom prst="roundRect">
            <a:avLst>
              <a:gd name="adj" fmla="val 10417"/>
            </a:avLst>
          </a:prstGeom>
          <a:solidFill>
            <a:srgbClr val="E3EAFB"/>
          </a:solidFill>
          <a:ln/>
        </p:spPr>
        <p:txBody>
          <a:bodyPr wrap="square" lIns="173442" tIns="173442" rIns="0" bIns="148042" rtlCol="0" anchor="t"/>
          <a:lstStyle/>
          <a:p>
            <a:pPr marL="0" indent="0" algn="l">
              <a:lnSpc>
                <a:spcPts val="2240"/>
              </a:lnSpc>
              <a:buNone/>
            </a:pPr>
            <a:r>
              <a:rPr lang="en-US" sz="1600" b="1" dirty="0">
                <a:solidFill>
                  <a:srgbClr val="0F1B2D"/>
                </a:solidFill>
                <a:latin typeface="IBM Plex Sans" pitchFamily="34" charset="0"/>
                <a:ea typeface="IBM Plex Sans" pitchFamily="34" charset="-122"/>
                <a:cs typeface="IBM Plex Sans" pitchFamily="34" charset="-120"/>
              </a:rPr>
              <a:t>Reconciliation, not one-off jobs.</a:t>
            </a:r>
            <a:r>
              <a:rPr lang="en-US" sz="1600" dirty="0">
                <a:solidFill>
                  <a:srgbClr val="0F1B2D"/>
                </a:solidFill>
                <a:latin typeface="IBM Plex Sans" pitchFamily="34" charset="0"/>
                <a:ea typeface="IBM Plex Sans" pitchFamily="34" charset="-122"/>
                <a:cs typeface="IBM Plex Sans" pitchFamily="34" charset="-120"/>
              </a:rPr>
              <a:t> Each cycle compares what should be running with what is, so missed runs, manual starts and the 7-day database auto-restart all correct themselves.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SOLUTION DESIGN</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Solution design at a glance</a:t>
            </a:r>
            <a:endParaRPr lang="en-US" sz="3600" dirty="0"/>
          </a:p>
        </p:txBody>
      </p:sp>
      <p:sp>
        <p:nvSpPr>
          <p:cNvPr id="4" name="Rounded Rectangle 3"/>
          <p:cNvSpPr/>
          <p:nvPr/>
        </p:nvSpPr>
        <p:spPr>
          <a:xfrm>
            <a:off x="3657600" y="1965960"/>
            <a:ext cx="2011680" cy="914400"/>
          </a:xfrm>
          <a:prstGeom prst="roundRect">
            <a:avLst>
              <a:gd name="adj" fmla="val 8000"/>
            </a:avLst>
          </a:prstGeom>
          <a:solidFill>
            <a:srgbClr val="FCFCF9"/>
          </a:solidFill>
          <a:ln w="9525">
            <a:solidFill>
              <a:srgbClr val="D8DCD2"/>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App Configuration</a:t>
            </a:r>
          </a:p>
          <a:p>
            <a:pPr algn="l">
              <a:spcBef>
                <a:spcPts val="300"/>
              </a:spcBef>
            </a:pPr>
            <a:r>
              <a:rPr sz="1100">
                <a:solidFill>
                  <a:srgbClr val="4A5568"/>
                </a:solidFill>
                <a:latin typeface="IBM Plex Sans"/>
              </a:rPr>
              <a:t>Profiles, scopes and settings</a:t>
            </a:r>
          </a:p>
        </p:txBody>
      </p:sp>
      <p:sp>
        <p:nvSpPr>
          <p:cNvPr id="5" name="Rounded Rectangle 4"/>
          <p:cNvSpPr/>
          <p:nvPr/>
        </p:nvSpPr>
        <p:spPr>
          <a:xfrm>
            <a:off x="5852160" y="1965960"/>
            <a:ext cx="2011680" cy="914400"/>
          </a:xfrm>
          <a:prstGeom prst="roundRect">
            <a:avLst>
              <a:gd name="adj" fmla="val 8000"/>
            </a:avLst>
          </a:prstGeom>
          <a:solidFill>
            <a:srgbClr val="FCFCF9"/>
          </a:solidFill>
          <a:ln w="9525">
            <a:solidFill>
              <a:srgbClr val="D8DCD2"/>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Resource Graph</a:t>
            </a:r>
          </a:p>
          <a:p>
            <a:pPr algn="l">
              <a:spcBef>
                <a:spcPts val="300"/>
              </a:spcBef>
            </a:pPr>
            <a:r>
              <a:rPr sz="1100">
                <a:solidFill>
                  <a:srgbClr val="4A5568"/>
                </a:solidFill>
                <a:latin typeface="IBM Plex Sans"/>
              </a:rPr>
              <a:t>Tagged resources and inherited tags</a:t>
            </a:r>
          </a:p>
        </p:txBody>
      </p:sp>
      <p:sp>
        <p:nvSpPr>
          <p:cNvPr id="6" name="Rounded Rectangle 5"/>
          <p:cNvSpPr/>
          <p:nvPr/>
        </p:nvSpPr>
        <p:spPr>
          <a:xfrm>
            <a:off x="8412480" y="1965960"/>
            <a:ext cx="2962656" cy="914400"/>
          </a:xfrm>
          <a:prstGeom prst="roundRect">
            <a:avLst>
              <a:gd name="adj" fmla="val 8000"/>
            </a:avLst>
          </a:prstGeom>
          <a:solidFill>
            <a:srgbClr val="FCFCF9"/>
          </a:solidFill>
          <a:ln w="9525">
            <a:solidFill>
              <a:srgbClr val="D8DCD2"/>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Managed identity + custom role</a:t>
            </a:r>
          </a:p>
          <a:p>
            <a:pPr algn="l">
              <a:spcBef>
                <a:spcPts val="300"/>
              </a:spcBef>
            </a:pPr>
            <a:r>
              <a:rPr sz="1100">
                <a:solidFill>
                  <a:srgbClr val="4A5568"/>
                </a:solidFill>
                <a:latin typeface="IBM Plex Sans"/>
              </a:rPr>
              <a:t>Read and start/stop only, at in-scope MGs</a:t>
            </a:r>
          </a:p>
        </p:txBody>
      </p:sp>
      <p:sp>
        <p:nvSpPr>
          <p:cNvPr id="7" name="Rounded Rectangle 6"/>
          <p:cNvSpPr/>
          <p:nvPr/>
        </p:nvSpPr>
        <p:spPr>
          <a:xfrm>
            <a:off x="813816" y="3291840"/>
            <a:ext cx="2286000" cy="1143000"/>
          </a:xfrm>
          <a:prstGeom prst="roundRect">
            <a:avLst>
              <a:gd name="adj" fmla="val 8000"/>
            </a:avLst>
          </a:prstGeom>
          <a:solidFill>
            <a:srgbClr val="FCFCF9"/>
          </a:solidFill>
          <a:ln w="9525">
            <a:solidFill>
              <a:srgbClr val="D8DCD2"/>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Timer trigger</a:t>
            </a:r>
          </a:p>
          <a:p>
            <a:pPr algn="l">
              <a:spcBef>
                <a:spcPts val="300"/>
              </a:spcBef>
            </a:pPr>
            <a:r>
              <a:rPr sz="1100">
                <a:solidFill>
                  <a:srgbClr val="4A5568"/>
                </a:solidFill>
                <a:latin typeface="IBM Plex Sans"/>
              </a:rPr>
              <a:t>Every 15 minutes (UTC); catches up after missed runs</a:t>
            </a:r>
          </a:p>
        </p:txBody>
      </p:sp>
      <p:sp>
        <p:nvSpPr>
          <p:cNvPr id="8" name="Rounded Rectangle 7"/>
          <p:cNvSpPr/>
          <p:nvPr/>
        </p:nvSpPr>
        <p:spPr>
          <a:xfrm>
            <a:off x="3657600" y="3291840"/>
            <a:ext cx="4206240" cy="1143000"/>
          </a:xfrm>
          <a:prstGeom prst="roundRect">
            <a:avLst>
              <a:gd name="adj" fmla="val 8000"/>
            </a:avLst>
          </a:prstGeom>
          <a:solidFill>
            <a:srgbClr val="0F1B2D"/>
          </a:solidFill>
          <a:ln w="9525">
            <a:solidFill>
              <a:srgbClr val="0F1B2D"/>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F4F5F0"/>
                </a:solidFill>
                <a:latin typeface="Space Grotesk"/>
              </a:rPr>
              <a:t>Function App · reconcile engine</a:t>
            </a:r>
          </a:p>
          <a:p>
            <a:pPr algn="l">
              <a:spcBef>
                <a:spcPts val="300"/>
              </a:spcBef>
            </a:pPr>
            <a:r>
              <a:rPr sz="1100">
                <a:solidFill>
                  <a:srgbClr val="C9D3E0"/>
                </a:solidFill>
                <a:latin typeface="IBM Plex Sans"/>
              </a:rPr>
              <a:t>Flex Consumption, Python 3.11. Decides the desired state, then 7 handlers act in parallel, in dependency order</a:t>
            </a:r>
          </a:p>
        </p:txBody>
      </p:sp>
      <p:sp>
        <p:nvSpPr>
          <p:cNvPr id="9" name="Rounded Rectangle 8"/>
          <p:cNvSpPr/>
          <p:nvPr/>
        </p:nvSpPr>
        <p:spPr>
          <a:xfrm>
            <a:off x="8412480" y="3291840"/>
            <a:ext cx="2962656" cy="1143000"/>
          </a:xfrm>
          <a:prstGeom prst="roundRect">
            <a:avLst>
              <a:gd name="adj" fmla="val 8000"/>
            </a:avLst>
          </a:prstGeom>
          <a:solidFill>
            <a:srgbClr val="E3EAFB"/>
          </a:solidFill>
          <a:ln w="9525">
            <a:solidFill>
              <a:srgbClr val="1D4ED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Azure Resource Manager</a:t>
            </a:r>
          </a:p>
          <a:p>
            <a:pPr algn="l">
              <a:spcBef>
                <a:spcPts val="300"/>
              </a:spcBef>
            </a:pPr>
            <a:r>
              <a:rPr sz="1100">
                <a:solidFill>
                  <a:srgbClr val="4A5568"/>
                </a:solidFill>
                <a:latin typeface="IBM Plex Sans"/>
              </a:rPr>
              <a:t>Starts and stops VMs, scale sets, AKS, databases and App Gateway</a:t>
            </a:r>
          </a:p>
        </p:txBody>
      </p:sp>
      <p:sp>
        <p:nvSpPr>
          <p:cNvPr id="10" name="Rounded Rectangle 9"/>
          <p:cNvSpPr/>
          <p:nvPr/>
        </p:nvSpPr>
        <p:spPr>
          <a:xfrm>
            <a:off x="813816" y="4846320"/>
            <a:ext cx="2286000" cy="914400"/>
          </a:xfrm>
          <a:prstGeom prst="roundRect">
            <a:avLst>
              <a:gd name="adj" fmla="val 8000"/>
            </a:avLst>
          </a:prstGeom>
          <a:solidFill>
            <a:srgbClr val="FCFCF9"/>
          </a:solidFill>
          <a:ln w="9525">
            <a:solidFill>
              <a:srgbClr val="D8DCD2"/>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Terraform + CI</a:t>
            </a:r>
          </a:p>
          <a:p>
            <a:pPr algn="l">
              <a:spcBef>
                <a:spcPts val="300"/>
              </a:spcBef>
            </a:pPr>
            <a:r>
              <a:rPr sz="1100">
                <a:solidFill>
                  <a:srgbClr val="4A5568"/>
                </a:solidFill>
                <a:latin typeface="IBM Plex Sans"/>
              </a:rPr>
              <a:t>One deployment per tenant; tests and a role check on every push</a:t>
            </a:r>
          </a:p>
        </p:txBody>
      </p:sp>
      <p:sp>
        <p:nvSpPr>
          <p:cNvPr id="11" name="Rounded Rectangle 10"/>
          <p:cNvSpPr/>
          <p:nvPr/>
        </p:nvSpPr>
        <p:spPr>
          <a:xfrm>
            <a:off x="3657600" y="4846320"/>
            <a:ext cx="4206240" cy="914400"/>
          </a:xfrm>
          <a:prstGeom prst="roundRect">
            <a:avLst>
              <a:gd name="adj" fmla="val 8000"/>
            </a:avLst>
          </a:prstGeom>
          <a:solidFill>
            <a:srgbClr val="FCFCF9"/>
          </a:solidFill>
          <a:ln w="9525">
            <a:solidFill>
              <a:srgbClr val="D8DCD2"/>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Application Insights · Log Analytics</a:t>
            </a:r>
          </a:p>
          <a:p>
            <a:pPr algn="l">
              <a:spcBef>
                <a:spcPts val="300"/>
              </a:spcBef>
            </a:pPr>
            <a:r>
              <a:rPr sz="1100">
                <a:solidFill>
                  <a:srgbClr val="4A5568"/>
                </a:solidFill>
                <a:latin typeface="IBM Plex Sans"/>
              </a:rPr>
              <a:t>A decision record per resource and a summary per cycle</a:t>
            </a:r>
          </a:p>
        </p:txBody>
      </p:sp>
      <p:sp>
        <p:nvSpPr>
          <p:cNvPr id="12" name="Rounded Rectangle 11"/>
          <p:cNvSpPr/>
          <p:nvPr/>
        </p:nvSpPr>
        <p:spPr>
          <a:xfrm>
            <a:off x="8412480" y="4846320"/>
            <a:ext cx="2962656" cy="914400"/>
          </a:xfrm>
          <a:prstGeom prst="roundRect">
            <a:avLst>
              <a:gd name="adj" fmla="val 8000"/>
            </a:avLst>
          </a:prstGeom>
          <a:solidFill>
            <a:srgbClr val="FCFCF9"/>
          </a:solidFill>
          <a:ln w="9525">
            <a:solidFill>
              <a:srgbClr val="D8DCD2"/>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bIns="54864"/>
          <a:lstStyle/>
          <a:p>
            <a:pPr algn="l"/>
            <a:r>
              <a:rPr sz="1400" b="1">
                <a:solidFill>
                  <a:srgbClr val="0F1B2D"/>
                </a:solidFill>
                <a:latin typeface="Space Grotesk"/>
              </a:rPr>
              <a:t>Alerts and workbooks</a:t>
            </a:r>
          </a:p>
          <a:p>
            <a:pPr algn="l">
              <a:spcBef>
                <a:spcPts val="300"/>
              </a:spcBef>
            </a:pPr>
            <a:r>
              <a:rPr sz="1100">
                <a:solidFill>
                  <a:srgbClr val="4A5568"/>
                </a:solidFill>
                <a:latin typeface="IBM Plex Sans"/>
              </a:rPr>
              <a:t>4 alert rules; day-2 and summary workbooks</a:t>
            </a:r>
          </a:p>
        </p:txBody>
      </p:sp>
      <p:sp>
        <p:nvSpPr>
          <p:cNvPr id="13" name="Down Arrow 12"/>
          <p:cNvSpPr/>
          <p:nvPr/>
        </p:nvSpPr>
        <p:spPr>
          <a:xfrm>
            <a:off x="4553712" y="2926080"/>
            <a:ext cx="228600" cy="320040"/>
          </a:xfrm>
          <a:prstGeom prst="down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6748272" y="2926080"/>
            <a:ext cx="228600" cy="320040"/>
          </a:xfrm>
          <a:prstGeom prst="down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9784080" y="2926080"/>
            <a:ext cx="228600" cy="320040"/>
          </a:xfrm>
          <a:prstGeom prst="down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3182112" y="3749039"/>
            <a:ext cx="402336" cy="22860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ght Arrow 16"/>
          <p:cNvSpPr/>
          <p:nvPr/>
        </p:nvSpPr>
        <p:spPr>
          <a:xfrm>
            <a:off x="7936992" y="3749039"/>
            <a:ext cx="402336" cy="22860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17"/>
          <p:cNvSpPr/>
          <p:nvPr/>
        </p:nvSpPr>
        <p:spPr>
          <a:xfrm>
            <a:off x="5650992" y="4480560"/>
            <a:ext cx="228600" cy="320040"/>
          </a:xfrm>
          <a:prstGeom prst="down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7936992" y="5184648"/>
            <a:ext cx="402336" cy="22860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 y="5989320"/>
            <a:ext cx="10561320" cy="365760"/>
          </a:xfrm>
          <a:prstGeom prst="rect">
            <a:avLst/>
          </a:prstGeom>
          <a:noFill/>
        </p:spPr>
        <p:txBody>
          <a:bodyPr wrap="square" lIns="0" rIns="0" tIns="0" bIns="0">
            <a:spAutoFit/>
          </a:bodyPr>
          <a:lstStyle/>
          <a:p>
            <a:r>
              <a:rPr sz="1200">
                <a:solidFill>
                  <a:srgbClr val="4A5568"/>
                </a:solidFill>
                <a:latin typeface="IBM Plex Sans"/>
              </a:rPr>
              <a:t>Production and platform scopes are excluded before any action. No secrets: the managed identity is the only credential.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FITS OUR CAF LANDING ZONE</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Where it runs</a:t>
            </a:r>
            <a:endParaRPr lang="en-US" sz="3600" dirty="0"/>
          </a:p>
        </p:txBody>
      </p:sp>
      <p:sp>
        <p:nvSpPr>
          <p:cNvPr id="4" name="Shape 2"/>
          <p:cNvSpPr/>
          <p:nvPr/>
        </p:nvSpPr>
        <p:spPr>
          <a:xfrm>
            <a:off x="819150" y="1941711"/>
            <a:ext cx="5194300" cy="3205163"/>
          </a:xfrm>
          <a:prstGeom prst="roundRect">
            <a:avLst>
              <a:gd name="adj" fmla="val 3764"/>
            </a:avLst>
          </a:prstGeom>
          <a:solidFill>
            <a:srgbClr val="E9ECE4"/>
          </a:solidFill>
          <a:ln w="12700">
            <a:solidFill>
              <a:srgbClr val="8A93A0"/>
            </a:solidFill>
            <a:prstDash val="dash"/>
          </a:ln>
        </p:spPr>
        <p:txBody>
          <a:bodyPr/>
          <a:lstStyle/>
          <a:p>
            <a:endParaRPr lang="en-TH"/>
          </a:p>
        </p:txBody>
      </p:sp>
      <p:sp>
        <p:nvSpPr>
          <p:cNvPr id="5" name="Text 3"/>
          <p:cNvSpPr/>
          <p:nvPr/>
        </p:nvSpPr>
        <p:spPr>
          <a:xfrm>
            <a:off x="1028700" y="2151261"/>
            <a:ext cx="4918456"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4A5568"/>
                </a:solidFill>
                <a:latin typeface="IBM Plex Sans" pitchFamily="34" charset="0"/>
                <a:ea typeface="IBM Plex Sans" pitchFamily="34" charset="-122"/>
                <a:cs typeface="IBM Plex Sans" pitchFamily="34" charset="-120"/>
              </a:rPr>
              <a:t>PLATFORM MG · NEVER SCHEDULED</a:t>
            </a:r>
            <a:endParaRPr lang="en-US" sz="1200" dirty="0"/>
          </a:p>
        </p:txBody>
      </p:sp>
      <p:sp>
        <p:nvSpPr>
          <p:cNvPr id="6" name="Text 4"/>
          <p:cNvSpPr/>
          <p:nvPr/>
        </p:nvSpPr>
        <p:spPr>
          <a:xfrm>
            <a:off x="1031875" y="2494756"/>
            <a:ext cx="2317750" cy="900311"/>
          </a:xfrm>
          <a:prstGeom prst="roundRect">
            <a:avLst>
              <a:gd name="adj" fmla="val 8111"/>
            </a:avLst>
          </a:prstGeom>
          <a:solidFill>
            <a:srgbClr val="FCFCF9"/>
          </a:solidFill>
          <a:ln w="6350">
            <a:solidFill>
              <a:srgbClr val="D8DCD2"/>
            </a:solidFill>
            <a:prstDash val="solid"/>
          </a:ln>
        </p:spPr>
        <p:txBody>
          <a:bodyPr wrap="square" lIns="108787" tIns="108787" rIns="47065" bIns="83387" rtlCol="0" anchor="t"/>
          <a:lstStyle/>
          <a:p>
            <a:pPr marL="0" indent="0" algn="l">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Connectivity</a:t>
            </a:r>
            <a:endParaRPr lang="en-US" sz="1200" dirty="0"/>
          </a:p>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Hub VNet, firewall, gateways, DNS</a:t>
            </a:r>
            <a:endParaRPr lang="en-US" sz="1200" dirty="0"/>
          </a:p>
        </p:txBody>
      </p:sp>
      <p:sp>
        <p:nvSpPr>
          <p:cNvPr id="7" name="Text 5"/>
          <p:cNvSpPr/>
          <p:nvPr/>
        </p:nvSpPr>
        <p:spPr>
          <a:xfrm>
            <a:off x="3482975" y="2494756"/>
            <a:ext cx="2317750" cy="900311"/>
          </a:xfrm>
          <a:prstGeom prst="roundRect">
            <a:avLst>
              <a:gd name="adj" fmla="val 8111"/>
            </a:avLst>
          </a:prstGeom>
          <a:solidFill>
            <a:srgbClr val="FCFCF9"/>
          </a:solidFill>
          <a:ln w="6350">
            <a:solidFill>
              <a:srgbClr val="D8DCD2"/>
            </a:solidFill>
            <a:prstDash val="solid"/>
          </a:ln>
        </p:spPr>
        <p:txBody>
          <a:bodyPr wrap="square" lIns="108787" tIns="108787" rIns="47065" bIns="108787" rtlCol="0" anchor="t"/>
          <a:lstStyle/>
          <a:p>
            <a:pPr marL="0" indent="0" algn="l">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Identity</a:t>
            </a:r>
            <a:endParaRPr lang="en-US" sz="1200" dirty="0"/>
          </a:p>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Domain controllers</a:t>
            </a:r>
            <a:endParaRPr lang="en-US" sz="1200" dirty="0"/>
          </a:p>
        </p:txBody>
      </p:sp>
      <p:sp>
        <p:nvSpPr>
          <p:cNvPr id="8" name="Shape 6"/>
          <p:cNvSpPr/>
          <p:nvPr/>
        </p:nvSpPr>
        <p:spPr>
          <a:xfrm>
            <a:off x="1028700" y="3525242"/>
            <a:ext cx="4775200" cy="1412081"/>
          </a:xfrm>
          <a:prstGeom prst="roundRect">
            <a:avLst>
              <a:gd name="adj" fmla="val 7195"/>
            </a:avLst>
          </a:prstGeom>
          <a:solidFill>
            <a:srgbClr val="0F1B2D"/>
          </a:solidFill>
          <a:ln/>
        </p:spPr>
        <p:txBody>
          <a:bodyPr/>
          <a:lstStyle/>
          <a:p>
            <a:endParaRPr lang="en-TH"/>
          </a:p>
        </p:txBody>
      </p:sp>
      <p:sp>
        <p:nvSpPr>
          <p:cNvPr id="9" name="Text 7"/>
          <p:cNvSpPr/>
          <p:nvPr/>
        </p:nvSpPr>
        <p:spPr>
          <a:xfrm>
            <a:off x="1206500" y="3703042"/>
            <a:ext cx="4552188"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E8A33D"/>
                </a:solidFill>
                <a:latin typeface="IBM Plex Sans" pitchFamily="34" charset="0"/>
                <a:ea typeface="IBM Plex Sans" pitchFamily="34" charset="-122"/>
                <a:cs typeface="IBM Plex Sans" pitchFamily="34" charset="-120"/>
              </a:rPr>
              <a:t>MANAGEMENT SUB · THE SCHEDULER</a:t>
            </a:r>
            <a:endParaRPr lang="en-US" sz="1200" dirty="0"/>
          </a:p>
        </p:txBody>
      </p:sp>
      <p:sp>
        <p:nvSpPr>
          <p:cNvPr id="10" name="Text 8"/>
          <p:cNvSpPr/>
          <p:nvPr/>
        </p:nvSpPr>
        <p:spPr>
          <a:xfrm>
            <a:off x="1206500" y="4017963"/>
            <a:ext cx="2223770" cy="452041"/>
          </a:xfrm>
          <a:prstGeom prst="rect">
            <a:avLst/>
          </a:prstGeom>
          <a:noFill/>
          <a:ln/>
        </p:spPr>
        <p:txBody>
          <a:bodyPr wrap="square" lIns="0" tIns="0" rIns="0" bIns="0" rtlCol="0" anchor="t"/>
          <a:lstStyle/>
          <a:p>
            <a:pPr marL="0" indent="0" algn="l">
              <a:lnSpc>
                <a:spcPts val="1680"/>
              </a:lnSpc>
              <a:buNone/>
            </a:pPr>
            <a:r>
              <a:rPr lang="en-US" sz="1200" dirty="0">
                <a:solidFill>
                  <a:srgbClr val="F4F5F0"/>
                </a:solidFill>
                <a:latin typeface="IBM Plex Sans" pitchFamily="34" charset="0"/>
                <a:ea typeface="IBM Plex Sans" pitchFamily="34" charset="-122"/>
                <a:cs typeface="IBM Plex Sans" pitchFamily="34" charset="-120"/>
              </a:rPr>
              <a:t>Function App (Flex Consumption, Python 3.11)</a:t>
            </a:r>
            <a:endParaRPr lang="en-US" sz="1200" dirty="0"/>
          </a:p>
        </p:txBody>
      </p:sp>
      <p:sp>
        <p:nvSpPr>
          <p:cNvPr id="11" name="Text 9"/>
          <p:cNvSpPr/>
          <p:nvPr/>
        </p:nvSpPr>
        <p:spPr>
          <a:xfrm>
            <a:off x="3467100" y="4017963"/>
            <a:ext cx="2223770" cy="452041"/>
          </a:xfrm>
          <a:prstGeom prst="rect">
            <a:avLst/>
          </a:prstGeom>
          <a:noFill/>
          <a:ln/>
        </p:spPr>
        <p:txBody>
          <a:bodyPr wrap="square" lIns="0" tIns="0" rIns="0" bIns="0" rtlCol="0" anchor="t"/>
          <a:lstStyle/>
          <a:p>
            <a:pPr marL="0" indent="0" algn="l">
              <a:lnSpc>
                <a:spcPts val="1680"/>
              </a:lnSpc>
              <a:buNone/>
            </a:pPr>
            <a:r>
              <a:rPr lang="en-US" sz="1200" dirty="0">
                <a:solidFill>
                  <a:srgbClr val="F4F5F0"/>
                </a:solidFill>
                <a:latin typeface="IBM Plex Sans" pitchFamily="34" charset="0"/>
                <a:ea typeface="IBM Plex Sans" pitchFamily="34" charset="-122"/>
                <a:cs typeface="IBM Plex Sans" pitchFamily="34" charset="-120"/>
              </a:rPr>
              <a:t>App Configuration: profiles and settings</a:t>
            </a:r>
            <a:endParaRPr lang="en-US" sz="1200" dirty="0"/>
          </a:p>
        </p:txBody>
      </p:sp>
      <p:sp>
        <p:nvSpPr>
          <p:cNvPr id="12" name="Text 10"/>
          <p:cNvSpPr/>
          <p:nvPr/>
        </p:nvSpPr>
        <p:spPr>
          <a:xfrm>
            <a:off x="1206500" y="4546203"/>
            <a:ext cx="2223770" cy="238720"/>
          </a:xfrm>
          <a:prstGeom prst="rect">
            <a:avLst/>
          </a:prstGeom>
          <a:noFill/>
          <a:ln/>
        </p:spPr>
        <p:txBody>
          <a:bodyPr wrap="square" lIns="0" tIns="0" rIns="0" bIns="0" rtlCol="0" anchor="t"/>
          <a:lstStyle/>
          <a:p>
            <a:pPr marL="0" indent="0" algn="l">
              <a:lnSpc>
                <a:spcPts val="1680"/>
              </a:lnSpc>
              <a:buNone/>
            </a:pPr>
            <a:r>
              <a:rPr lang="en-US" sz="1200" dirty="0">
                <a:solidFill>
                  <a:srgbClr val="F4F5F0"/>
                </a:solidFill>
                <a:latin typeface="IBM Plex Sans" pitchFamily="34" charset="0"/>
                <a:ea typeface="IBM Plex Sans" pitchFamily="34" charset="-122"/>
                <a:cs typeface="IBM Plex Sans" pitchFamily="34" charset="-120"/>
              </a:rPr>
              <a:t>Managed identity: no secrets</a:t>
            </a:r>
            <a:endParaRPr lang="en-US" sz="1200" dirty="0"/>
          </a:p>
        </p:txBody>
      </p:sp>
      <p:sp>
        <p:nvSpPr>
          <p:cNvPr id="13" name="Text 11"/>
          <p:cNvSpPr/>
          <p:nvPr/>
        </p:nvSpPr>
        <p:spPr>
          <a:xfrm>
            <a:off x="3467100" y="4546203"/>
            <a:ext cx="2223770" cy="238720"/>
          </a:xfrm>
          <a:prstGeom prst="rect">
            <a:avLst/>
          </a:prstGeom>
          <a:noFill/>
          <a:ln/>
        </p:spPr>
        <p:txBody>
          <a:bodyPr wrap="square" lIns="0" tIns="0" rIns="0" bIns="0" rtlCol="0" anchor="t"/>
          <a:lstStyle/>
          <a:p>
            <a:pPr marL="0" indent="0" algn="l">
              <a:lnSpc>
                <a:spcPts val="1680"/>
              </a:lnSpc>
              <a:buNone/>
            </a:pPr>
            <a:r>
              <a:rPr lang="en-US" sz="1200" dirty="0">
                <a:solidFill>
                  <a:srgbClr val="F4F5F0"/>
                </a:solidFill>
                <a:latin typeface="IBM Plex Sans" pitchFamily="34" charset="0"/>
                <a:ea typeface="IBM Plex Sans" pitchFamily="34" charset="-122"/>
                <a:cs typeface="IBM Plex Sans" pitchFamily="34" charset="-120"/>
              </a:rPr>
              <a:t>App Insights and alerts</a:t>
            </a:r>
            <a:endParaRPr lang="en-US" sz="1200" dirty="0"/>
          </a:p>
        </p:txBody>
      </p:sp>
      <p:pic>
        <p:nvPicPr>
          <p:cNvPr id="14" name="Image 0" descr="arrow-right"/>
          <p:cNvPicPr>
            <a:picLocks noChangeAspect="1"/>
          </p:cNvPicPr>
          <p:nvPr/>
        </p:nvPicPr>
        <p:blipFill>
          <a:blip r:embed="rId3"/>
          <a:srcRect/>
          <a:stretch/>
        </p:blipFill>
        <p:spPr>
          <a:xfrm>
            <a:off x="6553200" y="3127772"/>
            <a:ext cx="609600" cy="304800"/>
          </a:xfrm>
          <a:prstGeom prst="rect">
            <a:avLst/>
          </a:prstGeom>
        </p:spPr>
      </p:pic>
      <p:sp>
        <p:nvSpPr>
          <p:cNvPr id="15" name="Text 12"/>
          <p:cNvSpPr/>
          <p:nvPr/>
        </p:nvSpPr>
        <p:spPr>
          <a:xfrm>
            <a:off x="6197600" y="3534172"/>
            <a:ext cx="1320800" cy="452041"/>
          </a:xfrm>
          <a:prstGeom prst="rect">
            <a:avLst/>
          </a:prstGeom>
          <a:noFill/>
          <a:ln/>
        </p:spPr>
        <p:txBody>
          <a:bodyPr wrap="square" lIns="0" tIns="0" rIns="0" bIns="0" rtlCol="0" anchor="t"/>
          <a:lstStyle/>
          <a:p>
            <a:pPr marL="0" indent="0" algn="ctr">
              <a:lnSpc>
                <a:spcPts val="1680"/>
              </a:lnSpc>
              <a:buNone/>
            </a:pPr>
            <a:r>
              <a:rPr lang="en-US" sz="1200" dirty="0">
                <a:solidFill>
                  <a:srgbClr val="1D4ED8"/>
                </a:solidFill>
                <a:latin typeface="IBM Plex Sans" pitchFamily="34" charset="0"/>
                <a:ea typeface="IBM Plex Sans" pitchFamily="34" charset="-122"/>
                <a:cs typeface="IBM Plex Sans" pitchFamily="34" charset="-120"/>
              </a:rPr>
              <a:t>Custom role at in-scope MGs</a:t>
            </a:r>
            <a:endParaRPr lang="en-US" sz="1200" dirty="0"/>
          </a:p>
        </p:txBody>
      </p:sp>
      <p:sp>
        <p:nvSpPr>
          <p:cNvPr id="16" name="Shape 13"/>
          <p:cNvSpPr/>
          <p:nvPr/>
        </p:nvSpPr>
        <p:spPr>
          <a:xfrm>
            <a:off x="7702550" y="2090241"/>
            <a:ext cx="3670300" cy="876201"/>
          </a:xfrm>
          <a:prstGeom prst="roundRect">
            <a:avLst>
              <a:gd name="adj" fmla="val 10871"/>
            </a:avLst>
          </a:prstGeom>
          <a:solidFill>
            <a:srgbClr val="E3EAFB"/>
          </a:solidFill>
          <a:ln w="12700">
            <a:solidFill>
              <a:srgbClr val="1D4ED8"/>
            </a:solidFill>
            <a:prstDash val="solid"/>
          </a:ln>
        </p:spPr>
        <p:txBody>
          <a:bodyPr/>
          <a:lstStyle/>
          <a:p>
            <a:endParaRPr lang="en-TH"/>
          </a:p>
        </p:txBody>
      </p:sp>
      <p:sp>
        <p:nvSpPr>
          <p:cNvPr id="17" name="Text 14"/>
          <p:cNvSpPr/>
          <p:nvPr/>
        </p:nvSpPr>
        <p:spPr>
          <a:xfrm>
            <a:off x="7886700" y="2274391"/>
            <a:ext cx="34010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Landing Zones MG</a:t>
            </a:r>
            <a:endParaRPr lang="en-US" sz="1600" dirty="0"/>
          </a:p>
        </p:txBody>
      </p:sp>
      <p:sp>
        <p:nvSpPr>
          <p:cNvPr id="18" name="Text 15"/>
          <p:cNvSpPr/>
          <p:nvPr/>
        </p:nvSpPr>
        <p:spPr>
          <a:xfrm>
            <a:off x="7886700" y="2568972"/>
            <a:ext cx="3401060" cy="238720"/>
          </a:xfrm>
          <a:prstGeom prst="rect">
            <a:avLst/>
          </a:prstGeom>
          <a:noFill/>
          <a:ln/>
        </p:spPr>
        <p:txBody>
          <a:bodyPr wrap="square" lIns="0" tIns="0" rIns="0" bIns="0" rtlCol="0" anchor="t"/>
          <a:lstStyle/>
          <a:p>
            <a:pPr marL="0" indent="0" algn="l">
              <a:lnSpc>
                <a:spcPts val="1680"/>
              </a:lnSpc>
              <a:buNone/>
            </a:pPr>
            <a:r>
              <a:rPr lang="en-US" sz="1200" dirty="0">
                <a:solidFill>
                  <a:srgbClr val="0F1B2D"/>
                </a:solidFill>
                <a:latin typeface="IBM Plex Sans" pitchFamily="34" charset="0"/>
                <a:ea typeface="IBM Plex Sans" pitchFamily="34" charset="-122"/>
                <a:cs typeface="IBM Plex Sans" pitchFamily="34" charset="-120"/>
              </a:rPr>
              <a:t>Corp and Online spokes · in scope</a:t>
            </a:r>
            <a:endParaRPr lang="en-US" sz="1200" dirty="0"/>
          </a:p>
        </p:txBody>
      </p:sp>
      <p:sp>
        <p:nvSpPr>
          <p:cNvPr id="19" name="Shape 16"/>
          <p:cNvSpPr/>
          <p:nvPr/>
        </p:nvSpPr>
        <p:spPr>
          <a:xfrm>
            <a:off x="7702550" y="3106142"/>
            <a:ext cx="3670300" cy="876201"/>
          </a:xfrm>
          <a:prstGeom prst="roundRect">
            <a:avLst>
              <a:gd name="adj" fmla="val 10871"/>
            </a:avLst>
          </a:prstGeom>
          <a:solidFill>
            <a:srgbClr val="E3EAFB"/>
          </a:solidFill>
          <a:ln w="12700">
            <a:solidFill>
              <a:srgbClr val="1D4ED8"/>
            </a:solidFill>
            <a:prstDash val="solid"/>
          </a:ln>
        </p:spPr>
        <p:txBody>
          <a:bodyPr/>
          <a:lstStyle/>
          <a:p>
            <a:endParaRPr lang="en-TH"/>
          </a:p>
        </p:txBody>
      </p:sp>
      <p:sp>
        <p:nvSpPr>
          <p:cNvPr id="20" name="Text 17"/>
          <p:cNvSpPr/>
          <p:nvPr/>
        </p:nvSpPr>
        <p:spPr>
          <a:xfrm>
            <a:off x="7886700" y="3290292"/>
            <a:ext cx="34010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Sandbox MG</a:t>
            </a:r>
            <a:endParaRPr lang="en-US" sz="1600" dirty="0"/>
          </a:p>
        </p:txBody>
      </p:sp>
      <p:sp>
        <p:nvSpPr>
          <p:cNvPr id="21" name="Text 18"/>
          <p:cNvSpPr/>
          <p:nvPr/>
        </p:nvSpPr>
        <p:spPr>
          <a:xfrm>
            <a:off x="7886700" y="3584873"/>
            <a:ext cx="3401060" cy="238720"/>
          </a:xfrm>
          <a:prstGeom prst="rect">
            <a:avLst/>
          </a:prstGeom>
          <a:noFill/>
          <a:ln/>
        </p:spPr>
        <p:txBody>
          <a:bodyPr wrap="square" lIns="0" tIns="0" rIns="0" bIns="0" rtlCol="0" anchor="t"/>
          <a:lstStyle/>
          <a:p>
            <a:pPr marL="0" indent="0" algn="l">
              <a:lnSpc>
                <a:spcPts val="1680"/>
              </a:lnSpc>
              <a:buNone/>
            </a:pPr>
            <a:r>
              <a:rPr lang="en-US" sz="1200" dirty="0">
                <a:solidFill>
                  <a:srgbClr val="0F1B2D"/>
                </a:solidFill>
                <a:latin typeface="IBM Plex Sans" pitchFamily="34" charset="0"/>
                <a:ea typeface="IBM Plex Sans" pitchFamily="34" charset="-122"/>
                <a:cs typeface="IBM Plex Sans" pitchFamily="34" charset="-120"/>
              </a:rPr>
              <a:t>Sandbox subscriptions · in scope</a:t>
            </a:r>
            <a:endParaRPr lang="en-US" sz="1200" dirty="0"/>
          </a:p>
        </p:txBody>
      </p:sp>
      <p:sp>
        <p:nvSpPr>
          <p:cNvPr id="22" name="Shape 19"/>
          <p:cNvSpPr/>
          <p:nvPr/>
        </p:nvSpPr>
        <p:spPr>
          <a:xfrm>
            <a:off x="7702550" y="4122043"/>
            <a:ext cx="3670300" cy="876201"/>
          </a:xfrm>
          <a:prstGeom prst="roundRect">
            <a:avLst>
              <a:gd name="adj" fmla="val 10871"/>
            </a:avLst>
          </a:prstGeom>
          <a:solidFill>
            <a:srgbClr val="FBEFD9"/>
          </a:solidFill>
          <a:ln w="12700">
            <a:solidFill>
              <a:srgbClr val="9A5B00"/>
            </a:solidFill>
            <a:prstDash val="dash"/>
          </a:ln>
        </p:spPr>
        <p:txBody>
          <a:bodyPr/>
          <a:lstStyle/>
          <a:p>
            <a:endParaRPr lang="en-TH"/>
          </a:p>
        </p:txBody>
      </p:sp>
      <p:sp>
        <p:nvSpPr>
          <p:cNvPr id="23" name="Text 20"/>
          <p:cNvSpPr/>
          <p:nvPr/>
        </p:nvSpPr>
        <p:spPr>
          <a:xfrm>
            <a:off x="7886700" y="4306193"/>
            <a:ext cx="34010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Production subscriptions</a:t>
            </a:r>
            <a:endParaRPr lang="en-US" sz="1600" dirty="0"/>
          </a:p>
        </p:txBody>
      </p:sp>
      <p:sp>
        <p:nvSpPr>
          <p:cNvPr id="24" name="Text 21"/>
          <p:cNvSpPr/>
          <p:nvPr/>
        </p:nvSpPr>
        <p:spPr>
          <a:xfrm>
            <a:off x="7886700" y="4600773"/>
            <a:ext cx="3401060" cy="238720"/>
          </a:xfrm>
          <a:prstGeom prst="rect">
            <a:avLst/>
          </a:prstGeom>
          <a:noFill/>
          <a:ln/>
        </p:spPr>
        <p:txBody>
          <a:bodyPr wrap="square" lIns="0" tIns="0" rIns="0" bIns="0" rtlCol="0" anchor="t"/>
          <a:lstStyle/>
          <a:p>
            <a:pPr marL="0" indent="0" algn="l">
              <a:lnSpc>
                <a:spcPts val="1680"/>
              </a:lnSpc>
              <a:buNone/>
            </a:pPr>
            <a:r>
              <a:rPr lang="en-US" sz="1200" dirty="0">
                <a:solidFill>
                  <a:srgbClr val="0F1B2D"/>
                </a:solidFill>
                <a:latin typeface="IBM Plex Sans" pitchFamily="34" charset="0"/>
                <a:ea typeface="IBM Plex Sans" pitchFamily="34" charset="-122"/>
                <a:cs typeface="IBM Plex Sans" pitchFamily="34" charset="-120"/>
              </a:rPr>
              <a:t>Tagged environment=prod · always skipped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SEVEN RESOURCE TYPES TODAY</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What it manages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261"/>
          <a:ext cx="6972300" cy="3336330"/>
        </p:xfrm>
        <a:graphic>
          <a:graphicData uri="http://schemas.openxmlformats.org/drawingml/2006/table">
            <a:tbl>
              <a:tblPr/>
              <a:tblGrid>
                <a:gridCol w="2370582">
                  <a:extLst>
                    <a:ext uri="{9D8B030D-6E8A-4147-A177-3AD203B41FA5}">
                      <a16:colId xmlns:a16="http://schemas.microsoft.com/office/drawing/2014/main" val="20000"/>
                    </a:ext>
                  </a:extLst>
                </a:gridCol>
                <a:gridCol w="3067812">
                  <a:extLst>
                    <a:ext uri="{9D8B030D-6E8A-4147-A177-3AD203B41FA5}">
                      <a16:colId xmlns:a16="http://schemas.microsoft.com/office/drawing/2014/main" val="20001"/>
                    </a:ext>
                  </a:extLst>
                </a:gridCol>
                <a:gridCol w="1533906">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Resource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Stop action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Starts at</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Virtual machines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Deallocate, so compute isn't billed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08:30</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VM scale sets (Uniform)</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Deallocate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08:30</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AKS clusters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Stop cluster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08:15</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App Gateway v2</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Stop</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08:15</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4"/>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PostgreSQL Flexible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Stop; re-stopped after 7-day auto-restart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08:00</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MySQL Flexible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Stop; re-stopped after 7-day auto-restart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08:00</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6"/>
                  </a:ext>
                </a:extLst>
              </a:tr>
              <a:tr h="359271">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SQL Managed Instance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Stop</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08:00</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Shape 2"/>
          <p:cNvSpPr/>
          <p:nvPr/>
        </p:nvSpPr>
        <p:spPr>
          <a:xfrm>
            <a:off x="8058150" y="1890911"/>
            <a:ext cx="3314700" cy="1907480"/>
          </a:xfrm>
          <a:prstGeom prst="roundRect">
            <a:avLst>
              <a:gd name="adj" fmla="val 4993"/>
            </a:avLst>
          </a:prstGeom>
          <a:solidFill>
            <a:srgbClr val="FBEFD9"/>
          </a:solidFill>
          <a:ln w="12700">
            <a:solidFill>
              <a:srgbClr val="9A5B00"/>
            </a:solidFill>
            <a:prstDash val="dash"/>
          </a:ln>
        </p:spPr>
        <p:txBody>
          <a:bodyPr/>
          <a:lstStyle/>
          <a:p>
            <a:endParaRPr lang="en-TH"/>
          </a:p>
        </p:txBody>
      </p:sp>
      <p:sp>
        <p:nvSpPr>
          <p:cNvPr id="6" name="Text 3"/>
          <p:cNvSpPr/>
          <p:nvPr/>
        </p:nvSpPr>
        <p:spPr>
          <a:xfrm>
            <a:off x="8267700" y="2100461"/>
            <a:ext cx="2982468"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Out of scope</a:t>
            </a:r>
            <a:endParaRPr lang="en-US" sz="1600" dirty="0"/>
          </a:p>
        </p:txBody>
      </p:sp>
      <p:sp>
        <p:nvSpPr>
          <p:cNvPr id="7" name="Text 4"/>
          <p:cNvSpPr/>
          <p:nvPr/>
        </p:nvSpPr>
        <p:spPr>
          <a:xfrm>
            <a:off x="8366506" y="2445841"/>
            <a:ext cx="2876042" cy="1168400"/>
          </a:xfrm>
          <a:prstGeom prst="rect">
            <a:avLst/>
          </a:prstGeom>
          <a:noFill/>
          <a:ln/>
        </p:spPr>
        <p:txBody>
          <a:bodyPr wrap="square" lIns="0" tIns="0" rIns="0" bIns="0" rtlCol="0" anchor="t"/>
          <a:lstStyle/>
          <a:p>
            <a:pPr marL="155194" indent="-155194" algn="l">
              <a:lnSpc>
                <a:spcPts val="1800"/>
              </a:lnSpc>
              <a:buSzPct val="100000"/>
              <a:buChar char="•"/>
            </a:pPr>
            <a:r>
              <a:rPr lang="en-US" sz="1200" dirty="0">
                <a:solidFill>
                  <a:srgbClr val="0F1B2D"/>
                </a:solidFill>
                <a:latin typeface="IBM Plex Sans" pitchFamily="34" charset="0"/>
                <a:ea typeface="IBM Plex Sans" pitchFamily="34" charset="-122"/>
                <a:cs typeface="IBM Plex Sans" pitchFamily="34" charset="-120"/>
              </a:rPr>
              <a:t>Azure SQL Database (D-08)</a:t>
            </a:r>
            <a:endParaRPr lang="en-US" sz="1200" dirty="0"/>
          </a:p>
          <a:p>
            <a:pPr marL="155194" indent="-155194" algn="l">
              <a:lnSpc>
                <a:spcPts val="1800"/>
              </a:lnSpc>
              <a:buSzPct val="100000"/>
              <a:buChar char="•"/>
            </a:pPr>
            <a:r>
              <a:rPr lang="en-US" sz="1200" dirty="0">
                <a:solidFill>
                  <a:srgbClr val="0F1B2D"/>
                </a:solidFill>
                <a:latin typeface="IBM Plex Sans" pitchFamily="34" charset="0"/>
                <a:ea typeface="IBM Plex Sans" pitchFamily="34" charset="-122"/>
                <a:cs typeface="IBM Plex Sans" pitchFamily="34" charset="-120"/>
              </a:rPr>
              <a:t>Cosmos DB (no stop operation)</a:t>
            </a:r>
            <a:endParaRPr lang="en-US" sz="1200" dirty="0"/>
          </a:p>
          <a:p>
            <a:pPr marL="155194" indent="-155194" algn="l">
              <a:lnSpc>
                <a:spcPts val="1800"/>
              </a:lnSpc>
              <a:buSzPct val="100000"/>
              <a:buChar char="•"/>
            </a:pPr>
            <a:r>
              <a:rPr lang="en-US" sz="1200" dirty="0">
                <a:solidFill>
                  <a:srgbClr val="0F1B2D"/>
                </a:solidFill>
                <a:latin typeface="IBM Plex Sans" pitchFamily="34" charset="0"/>
                <a:ea typeface="IBM Plex Sans" pitchFamily="34" charset="-122"/>
                <a:cs typeface="IBM Plex Sans" pitchFamily="34" charset="-120"/>
              </a:rPr>
              <a:t>AKS node pools directly</a:t>
            </a:r>
            <a:endParaRPr lang="en-US" sz="1200" dirty="0"/>
          </a:p>
          <a:p>
            <a:pPr marL="155194" indent="-155194" algn="l">
              <a:lnSpc>
                <a:spcPts val="1800"/>
              </a:lnSpc>
              <a:buSzPct val="100000"/>
              <a:buChar char="•"/>
            </a:pPr>
            <a:r>
              <a:rPr lang="en-US" sz="1200" dirty="0">
                <a:solidFill>
                  <a:srgbClr val="0F1B2D"/>
                </a:solidFill>
                <a:latin typeface="IBM Plex Sans" pitchFamily="34" charset="0"/>
                <a:ea typeface="IBM Plex Sans" pitchFamily="34" charset="-122"/>
                <a:cs typeface="IBM Plex Sans" pitchFamily="34" charset="-120"/>
              </a:rPr>
              <a:t>Hub, platform, production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MON–FRI · ASIA/BANGKOK (UTC+7)</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The standard schedule</a:t>
            </a:r>
            <a:endParaRPr lang="en-US" sz="3600" dirty="0"/>
          </a:p>
        </p:txBody>
      </p:sp>
      <p:sp>
        <p:nvSpPr>
          <p:cNvPr id="4" name="Shape 2"/>
          <p:cNvSpPr/>
          <p:nvPr/>
        </p:nvSpPr>
        <p:spPr>
          <a:xfrm>
            <a:off x="3225800" y="2011561"/>
            <a:ext cx="8153400" cy="2489200"/>
          </a:xfrm>
          <a:prstGeom prst="roundRect">
            <a:avLst>
              <a:gd name="adj" fmla="val 3061"/>
            </a:avLst>
          </a:prstGeom>
          <a:solidFill>
            <a:srgbClr val="E9ECE4"/>
          </a:solidFill>
          <a:ln/>
        </p:spPr>
        <p:txBody>
          <a:bodyPr/>
          <a:lstStyle/>
          <a:p>
            <a:endParaRPr lang="en-TH"/>
          </a:p>
        </p:txBody>
      </p:sp>
      <p:sp>
        <p:nvSpPr>
          <p:cNvPr id="5" name="Text 3"/>
          <p:cNvSpPr/>
          <p:nvPr/>
        </p:nvSpPr>
        <p:spPr>
          <a:xfrm>
            <a:off x="812800" y="2138561"/>
            <a:ext cx="222377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Databases</a:t>
            </a:r>
            <a:endParaRPr lang="en-US" sz="1600" dirty="0"/>
          </a:p>
        </p:txBody>
      </p:sp>
      <p:sp>
        <p:nvSpPr>
          <p:cNvPr id="6" name="Text 4"/>
          <p:cNvSpPr/>
          <p:nvPr/>
        </p:nvSpPr>
        <p:spPr>
          <a:xfrm>
            <a:off x="812800" y="2407741"/>
            <a:ext cx="2223770" cy="223441"/>
          </a:xfrm>
          <a:prstGeom prst="rect">
            <a:avLst/>
          </a:prstGeom>
          <a:noFill/>
          <a:ln/>
        </p:spPr>
        <p:txBody>
          <a:bodyPr wrap="square" lIns="0" tIns="0" rIns="0" bIns="0" rtlCol="0" anchor="t"/>
          <a:lstStyle/>
          <a:p>
            <a:pPr marL="0" indent="0" algn="l">
              <a:lnSpc>
                <a:spcPts val="1560"/>
              </a:lnSpc>
              <a:buNone/>
            </a:pPr>
            <a:r>
              <a:rPr lang="en-US" sz="1200" dirty="0">
                <a:solidFill>
                  <a:srgbClr val="4A5568"/>
                </a:solidFill>
                <a:latin typeface="IBM Plex Sans" pitchFamily="34" charset="0"/>
                <a:ea typeface="IBM Plex Sans" pitchFamily="34" charset="-122"/>
                <a:cs typeface="IBM Plex Sans" pitchFamily="34" charset="-120"/>
              </a:rPr>
              <a:t>PostgreSQL, MySQL, SQL MI</a:t>
            </a:r>
            <a:endParaRPr lang="en-US" sz="1200" dirty="0"/>
          </a:p>
        </p:txBody>
      </p:sp>
      <p:sp>
        <p:nvSpPr>
          <p:cNvPr id="7" name="Text 5"/>
          <p:cNvSpPr/>
          <p:nvPr/>
        </p:nvSpPr>
        <p:spPr>
          <a:xfrm>
            <a:off x="812800" y="2938661"/>
            <a:ext cx="222377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Platforms</a:t>
            </a:r>
            <a:endParaRPr lang="en-US" sz="1600" dirty="0"/>
          </a:p>
        </p:txBody>
      </p:sp>
      <p:sp>
        <p:nvSpPr>
          <p:cNvPr id="8" name="Text 6"/>
          <p:cNvSpPr/>
          <p:nvPr/>
        </p:nvSpPr>
        <p:spPr>
          <a:xfrm>
            <a:off x="812800" y="3207841"/>
            <a:ext cx="2223770" cy="223441"/>
          </a:xfrm>
          <a:prstGeom prst="rect">
            <a:avLst/>
          </a:prstGeom>
          <a:noFill/>
          <a:ln/>
        </p:spPr>
        <p:txBody>
          <a:bodyPr wrap="square" lIns="0" tIns="0" rIns="0" bIns="0" rtlCol="0" anchor="t"/>
          <a:lstStyle/>
          <a:p>
            <a:pPr marL="0" indent="0" algn="l">
              <a:lnSpc>
                <a:spcPts val="1560"/>
              </a:lnSpc>
              <a:buNone/>
            </a:pPr>
            <a:r>
              <a:rPr lang="en-US" sz="1200" dirty="0">
                <a:solidFill>
                  <a:srgbClr val="4A5568"/>
                </a:solidFill>
                <a:latin typeface="IBM Plex Sans" pitchFamily="34" charset="0"/>
                <a:ea typeface="IBM Plex Sans" pitchFamily="34" charset="-122"/>
                <a:cs typeface="IBM Plex Sans" pitchFamily="34" charset="-120"/>
              </a:rPr>
              <a:t>AKS, App Gateway</a:t>
            </a:r>
            <a:endParaRPr lang="en-US" sz="1200" dirty="0"/>
          </a:p>
        </p:txBody>
      </p:sp>
      <p:sp>
        <p:nvSpPr>
          <p:cNvPr id="9" name="Text 7"/>
          <p:cNvSpPr/>
          <p:nvPr/>
        </p:nvSpPr>
        <p:spPr>
          <a:xfrm>
            <a:off x="812800" y="3738761"/>
            <a:ext cx="222377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Compute</a:t>
            </a:r>
            <a:endParaRPr lang="en-US" sz="1600" dirty="0"/>
          </a:p>
        </p:txBody>
      </p:sp>
      <p:sp>
        <p:nvSpPr>
          <p:cNvPr id="10" name="Text 8"/>
          <p:cNvSpPr/>
          <p:nvPr/>
        </p:nvSpPr>
        <p:spPr>
          <a:xfrm>
            <a:off x="812800" y="4007941"/>
            <a:ext cx="2223770" cy="223441"/>
          </a:xfrm>
          <a:prstGeom prst="rect">
            <a:avLst/>
          </a:prstGeom>
          <a:noFill/>
          <a:ln/>
        </p:spPr>
        <p:txBody>
          <a:bodyPr wrap="square" lIns="0" tIns="0" rIns="0" bIns="0" rtlCol="0" anchor="t"/>
          <a:lstStyle/>
          <a:p>
            <a:pPr marL="0" indent="0" algn="l">
              <a:lnSpc>
                <a:spcPts val="1560"/>
              </a:lnSpc>
              <a:buNone/>
            </a:pPr>
            <a:r>
              <a:rPr lang="en-US" sz="1200" dirty="0">
                <a:solidFill>
                  <a:srgbClr val="4A5568"/>
                </a:solidFill>
                <a:latin typeface="IBM Plex Sans" pitchFamily="34" charset="0"/>
                <a:ea typeface="IBM Plex Sans" pitchFamily="34" charset="-122"/>
                <a:cs typeface="IBM Plex Sans" pitchFamily="34" charset="-120"/>
              </a:rPr>
              <a:t>VMs, VM scale sets</a:t>
            </a:r>
            <a:endParaRPr lang="en-US" sz="1200" dirty="0"/>
          </a:p>
        </p:txBody>
      </p:sp>
      <p:sp>
        <p:nvSpPr>
          <p:cNvPr id="11" name="Shape 9"/>
          <p:cNvSpPr/>
          <p:nvPr/>
        </p:nvSpPr>
        <p:spPr>
          <a:xfrm>
            <a:off x="3905250" y="2138561"/>
            <a:ext cx="6457950" cy="508000"/>
          </a:xfrm>
          <a:prstGeom prst="roundRect">
            <a:avLst>
              <a:gd name="adj" fmla="val 15000"/>
            </a:avLst>
          </a:prstGeom>
          <a:solidFill>
            <a:srgbClr val="1D4ED8"/>
          </a:solidFill>
          <a:ln/>
        </p:spPr>
        <p:txBody>
          <a:bodyPr/>
          <a:lstStyle/>
          <a:p>
            <a:endParaRPr lang="en-TH"/>
          </a:p>
        </p:txBody>
      </p:sp>
      <p:sp>
        <p:nvSpPr>
          <p:cNvPr id="12" name="Shape 10"/>
          <p:cNvSpPr/>
          <p:nvPr/>
        </p:nvSpPr>
        <p:spPr>
          <a:xfrm>
            <a:off x="4076700" y="2938661"/>
            <a:ext cx="6286500" cy="508000"/>
          </a:xfrm>
          <a:prstGeom prst="roundRect">
            <a:avLst>
              <a:gd name="adj" fmla="val 15000"/>
            </a:avLst>
          </a:prstGeom>
          <a:solidFill>
            <a:srgbClr val="1D4ED8"/>
          </a:solidFill>
          <a:ln/>
        </p:spPr>
        <p:txBody>
          <a:bodyPr/>
          <a:lstStyle/>
          <a:p>
            <a:endParaRPr lang="en-TH"/>
          </a:p>
        </p:txBody>
      </p:sp>
      <p:sp>
        <p:nvSpPr>
          <p:cNvPr id="13" name="Shape 11"/>
          <p:cNvSpPr/>
          <p:nvPr/>
        </p:nvSpPr>
        <p:spPr>
          <a:xfrm>
            <a:off x="4241800" y="3738761"/>
            <a:ext cx="6121400" cy="508000"/>
          </a:xfrm>
          <a:prstGeom prst="roundRect">
            <a:avLst>
              <a:gd name="adj" fmla="val 15000"/>
            </a:avLst>
          </a:prstGeom>
          <a:solidFill>
            <a:srgbClr val="1D4ED8"/>
          </a:solidFill>
          <a:ln/>
        </p:spPr>
        <p:txBody>
          <a:bodyPr/>
          <a:lstStyle/>
          <a:p>
            <a:endParaRPr lang="en-TH"/>
          </a:p>
        </p:txBody>
      </p:sp>
      <p:sp>
        <p:nvSpPr>
          <p:cNvPr id="14" name="Text 12"/>
          <p:cNvSpPr/>
          <p:nvPr/>
        </p:nvSpPr>
        <p:spPr>
          <a:xfrm>
            <a:off x="4057650" y="2284611"/>
            <a:ext cx="3270250" cy="238720"/>
          </a:xfrm>
          <a:prstGeom prst="rect">
            <a:avLst/>
          </a:prstGeom>
          <a:noFill/>
          <a:ln/>
        </p:spPr>
        <p:txBody>
          <a:bodyPr wrap="square" lIns="0" tIns="0" rIns="0" bIns="0" rtlCol="0" anchor="t"/>
          <a:lstStyle/>
          <a:p>
            <a:pPr marL="0" indent="0" algn="l">
              <a:lnSpc>
                <a:spcPts val="1680"/>
              </a:lnSpc>
              <a:buNone/>
            </a:pPr>
            <a:r>
              <a:rPr lang="en-US" sz="1200" b="1" dirty="0">
                <a:solidFill>
                  <a:srgbClr val="F4F5F0"/>
                </a:solidFill>
                <a:latin typeface="IBM Plex Sans" pitchFamily="34" charset="0"/>
                <a:ea typeface="IBM Plex Sans" pitchFamily="34" charset="-122"/>
                <a:cs typeface="IBM Plex Sans" pitchFamily="34" charset="-120"/>
              </a:rPr>
              <a:t>Running 08:00 → 17:30</a:t>
            </a:r>
            <a:endParaRPr lang="en-US" sz="1200" dirty="0"/>
          </a:p>
        </p:txBody>
      </p:sp>
      <p:sp>
        <p:nvSpPr>
          <p:cNvPr id="15" name="Text 13"/>
          <p:cNvSpPr/>
          <p:nvPr/>
        </p:nvSpPr>
        <p:spPr>
          <a:xfrm>
            <a:off x="4229100" y="3084711"/>
            <a:ext cx="3270250" cy="238720"/>
          </a:xfrm>
          <a:prstGeom prst="rect">
            <a:avLst/>
          </a:prstGeom>
          <a:noFill/>
          <a:ln/>
        </p:spPr>
        <p:txBody>
          <a:bodyPr wrap="square" lIns="0" tIns="0" rIns="0" bIns="0" rtlCol="0" anchor="t"/>
          <a:lstStyle/>
          <a:p>
            <a:pPr marL="0" indent="0" algn="l">
              <a:lnSpc>
                <a:spcPts val="1680"/>
              </a:lnSpc>
              <a:buNone/>
            </a:pPr>
            <a:r>
              <a:rPr lang="en-US" sz="1200" b="1" dirty="0">
                <a:solidFill>
                  <a:srgbClr val="F4F5F0"/>
                </a:solidFill>
                <a:latin typeface="IBM Plex Sans" pitchFamily="34" charset="0"/>
                <a:ea typeface="IBM Plex Sans" pitchFamily="34" charset="-122"/>
                <a:cs typeface="IBM Plex Sans" pitchFamily="34" charset="-120"/>
              </a:rPr>
              <a:t>Running 08:15 → 17:30</a:t>
            </a:r>
            <a:endParaRPr lang="en-US" sz="1200" dirty="0"/>
          </a:p>
        </p:txBody>
      </p:sp>
      <p:sp>
        <p:nvSpPr>
          <p:cNvPr id="16" name="Text 14"/>
          <p:cNvSpPr/>
          <p:nvPr/>
        </p:nvSpPr>
        <p:spPr>
          <a:xfrm>
            <a:off x="4394200" y="3884811"/>
            <a:ext cx="3270250" cy="238720"/>
          </a:xfrm>
          <a:prstGeom prst="rect">
            <a:avLst/>
          </a:prstGeom>
          <a:noFill/>
          <a:ln/>
        </p:spPr>
        <p:txBody>
          <a:bodyPr wrap="square" lIns="0" tIns="0" rIns="0" bIns="0" rtlCol="0" anchor="t"/>
          <a:lstStyle/>
          <a:p>
            <a:pPr marL="0" indent="0" algn="l">
              <a:lnSpc>
                <a:spcPts val="1680"/>
              </a:lnSpc>
              <a:buNone/>
            </a:pPr>
            <a:r>
              <a:rPr lang="en-US" sz="1200" b="1" dirty="0">
                <a:solidFill>
                  <a:srgbClr val="F4F5F0"/>
                </a:solidFill>
                <a:latin typeface="IBM Plex Sans" pitchFamily="34" charset="0"/>
                <a:ea typeface="IBM Plex Sans" pitchFamily="34" charset="-122"/>
                <a:cs typeface="IBM Plex Sans" pitchFamily="34" charset="-120"/>
              </a:rPr>
              <a:t>Running 08:30 → 17:30</a:t>
            </a:r>
            <a:endParaRPr lang="en-US" sz="1200" dirty="0"/>
          </a:p>
        </p:txBody>
      </p:sp>
      <p:pic>
        <p:nvPicPr>
          <p:cNvPr id="17" name="Image 0" descr="connector"/>
          <p:cNvPicPr>
            <a:picLocks noChangeAspect="1"/>
          </p:cNvPicPr>
          <p:nvPr/>
        </p:nvPicPr>
        <p:blipFill>
          <a:blip r:embed="rId3"/>
          <a:srcRect/>
          <a:stretch/>
        </p:blipFill>
        <p:spPr>
          <a:xfrm>
            <a:off x="10312400" y="1909961"/>
            <a:ext cx="101600" cy="2667000"/>
          </a:xfrm>
          <a:prstGeom prst="rect">
            <a:avLst/>
          </a:prstGeom>
        </p:spPr>
      </p:pic>
      <p:sp>
        <p:nvSpPr>
          <p:cNvPr id="18" name="Text 15"/>
          <p:cNvSpPr/>
          <p:nvPr/>
        </p:nvSpPr>
        <p:spPr>
          <a:xfrm>
            <a:off x="2882900" y="4627761"/>
            <a:ext cx="685800" cy="238720"/>
          </a:xfrm>
          <a:prstGeom prst="rect">
            <a:avLst/>
          </a:prstGeom>
          <a:noFill/>
          <a:ln/>
        </p:spPr>
        <p:txBody>
          <a:bodyPr wrap="square" lIns="0" tIns="0" rIns="0" bIns="0" rtlCol="0" anchor="t"/>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07:00</a:t>
            </a:r>
            <a:endParaRPr lang="en-US" sz="1200" dirty="0"/>
          </a:p>
        </p:txBody>
      </p:sp>
      <p:sp>
        <p:nvSpPr>
          <p:cNvPr id="19" name="Text 16"/>
          <p:cNvSpPr/>
          <p:nvPr/>
        </p:nvSpPr>
        <p:spPr>
          <a:xfrm>
            <a:off x="4241800" y="4627761"/>
            <a:ext cx="685800" cy="238720"/>
          </a:xfrm>
          <a:prstGeom prst="rect">
            <a:avLst/>
          </a:prstGeom>
          <a:noFill/>
          <a:ln/>
        </p:spPr>
        <p:txBody>
          <a:bodyPr wrap="square" lIns="0" tIns="0" rIns="0" bIns="0" rtlCol="0" anchor="t"/>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09:00</a:t>
            </a:r>
            <a:endParaRPr lang="en-US" sz="1200" dirty="0"/>
          </a:p>
        </p:txBody>
      </p:sp>
      <p:sp>
        <p:nvSpPr>
          <p:cNvPr id="20" name="Text 17"/>
          <p:cNvSpPr/>
          <p:nvPr/>
        </p:nvSpPr>
        <p:spPr>
          <a:xfrm>
            <a:off x="5600700" y="4627761"/>
            <a:ext cx="685800" cy="238720"/>
          </a:xfrm>
          <a:prstGeom prst="rect">
            <a:avLst/>
          </a:prstGeom>
          <a:noFill/>
          <a:ln/>
        </p:spPr>
        <p:txBody>
          <a:bodyPr wrap="square" lIns="0" tIns="0" rIns="0" bIns="0" rtlCol="0" anchor="t"/>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11:00</a:t>
            </a:r>
            <a:endParaRPr lang="en-US" sz="1200" dirty="0"/>
          </a:p>
        </p:txBody>
      </p:sp>
      <p:sp>
        <p:nvSpPr>
          <p:cNvPr id="21" name="Text 18"/>
          <p:cNvSpPr/>
          <p:nvPr/>
        </p:nvSpPr>
        <p:spPr>
          <a:xfrm>
            <a:off x="6959600" y="4627761"/>
            <a:ext cx="685800" cy="238720"/>
          </a:xfrm>
          <a:prstGeom prst="rect">
            <a:avLst/>
          </a:prstGeom>
          <a:noFill/>
          <a:ln/>
        </p:spPr>
        <p:txBody>
          <a:bodyPr wrap="square" lIns="0" tIns="0" rIns="0" bIns="0" rtlCol="0" anchor="t"/>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13:00</a:t>
            </a:r>
            <a:endParaRPr lang="en-US" sz="1200" dirty="0"/>
          </a:p>
        </p:txBody>
      </p:sp>
      <p:sp>
        <p:nvSpPr>
          <p:cNvPr id="22" name="Text 19"/>
          <p:cNvSpPr/>
          <p:nvPr/>
        </p:nvSpPr>
        <p:spPr>
          <a:xfrm>
            <a:off x="8318500" y="4627761"/>
            <a:ext cx="685800" cy="238720"/>
          </a:xfrm>
          <a:prstGeom prst="rect">
            <a:avLst/>
          </a:prstGeom>
          <a:noFill/>
          <a:ln/>
        </p:spPr>
        <p:txBody>
          <a:bodyPr wrap="square" lIns="0" tIns="0" rIns="0" bIns="0" rtlCol="0" anchor="t"/>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15:00</a:t>
            </a:r>
            <a:endParaRPr lang="en-US" sz="1200" dirty="0"/>
          </a:p>
        </p:txBody>
      </p:sp>
      <p:sp>
        <p:nvSpPr>
          <p:cNvPr id="23" name="Text 20"/>
          <p:cNvSpPr/>
          <p:nvPr/>
        </p:nvSpPr>
        <p:spPr>
          <a:xfrm>
            <a:off x="9677400" y="4627761"/>
            <a:ext cx="685800" cy="238720"/>
          </a:xfrm>
          <a:prstGeom prst="rect">
            <a:avLst/>
          </a:prstGeom>
          <a:noFill/>
          <a:ln/>
        </p:spPr>
        <p:txBody>
          <a:bodyPr wrap="square" lIns="0" tIns="0" rIns="0" bIns="0" rtlCol="0" anchor="t"/>
          <a:lstStyle/>
          <a:p>
            <a:pPr marL="0" indent="0" algn="ctr">
              <a:lnSpc>
                <a:spcPts val="1680"/>
              </a:lnSpc>
              <a:buNone/>
            </a:pPr>
            <a:r>
              <a:rPr lang="en-US" sz="1200" dirty="0">
                <a:solidFill>
                  <a:srgbClr val="4A5568"/>
                </a:solidFill>
                <a:latin typeface="IBM Plex Sans" pitchFamily="34" charset="0"/>
                <a:ea typeface="IBM Plex Sans" pitchFamily="34" charset="-122"/>
                <a:cs typeface="IBM Plex Sans" pitchFamily="34" charset="-120"/>
              </a:rPr>
              <a:t>17:00</a:t>
            </a:r>
            <a:endParaRPr lang="en-US" sz="1200" dirty="0"/>
          </a:p>
        </p:txBody>
      </p:sp>
      <p:sp>
        <p:nvSpPr>
          <p:cNvPr id="24" name="Text 21"/>
          <p:cNvSpPr/>
          <p:nvPr/>
        </p:nvSpPr>
        <p:spPr>
          <a:xfrm>
            <a:off x="10693400" y="4627761"/>
            <a:ext cx="685800" cy="238720"/>
          </a:xfrm>
          <a:prstGeom prst="rect">
            <a:avLst/>
          </a:prstGeom>
          <a:noFill/>
          <a:ln/>
        </p:spPr>
        <p:txBody>
          <a:bodyPr wrap="square" lIns="0" tIns="0" rIns="0" bIns="0" rtlCol="0" anchor="t"/>
          <a:lstStyle/>
          <a:p>
            <a:pPr marL="0" indent="0" algn="r">
              <a:lnSpc>
                <a:spcPts val="1680"/>
              </a:lnSpc>
              <a:buNone/>
            </a:pPr>
            <a:r>
              <a:rPr lang="en-US" sz="1200" dirty="0">
                <a:solidFill>
                  <a:srgbClr val="4A5568"/>
                </a:solidFill>
                <a:latin typeface="IBM Plex Sans" pitchFamily="34" charset="0"/>
                <a:ea typeface="IBM Plex Sans" pitchFamily="34" charset="-122"/>
                <a:cs typeface="IBM Plex Sans" pitchFamily="34" charset="-120"/>
              </a:rPr>
              <a:t>19:00</a:t>
            </a:r>
            <a:endParaRPr lang="en-US" sz="1200" dirty="0"/>
          </a:p>
        </p:txBody>
      </p:sp>
      <p:sp>
        <p:nvSpPr>
          <p:cNvPr id="25" name="Text 22"/>
          <p:cNvSpPr/>
          <p:nvPr/>
        </p:nvSpPr>
        <p:spPr>
          <a:xfrm>
            <a:off x="3225800" y="4919861"/>
            <a:ext cx="4578350" cy="238720"/>
          </a:xfrm>
          <a:prstGeom prst="rect">
            <a:avLst/>
          </a:prstGeom>
          <a:noFill/>
          <a:ln/>
        </p:spPr>
        <p:txBody>
          <a:bodyPr wrap="square" lIns="0" tIns="0" rIns="0" bIns="0" rtlCol="0" anchor="t"/>
          <a:lstStyle/>
          <a:p>
            <a:pPr marL="0" indent="0" algn="l">
              <a:lnSpc>
                <a:spcPts val="1680"/>
              </a:lnSpc>
              <a:buNone/>
            </a:pPr>
            <a:r>
              <a:rPr lang="en-US" sz="1200" dirty="0">
                <a:solidFill>
                  <a:srgbClr val="0F1B2D"/>
                </a:solidFill>
                <a:latin typeface="IBM Plex Sans" pitchFamily="34" charset="0"/>
                <a:ea typeface="IBM Plex Sans" pitchFamily="34" charset="-122"/>
                <a:cs typeface="IBM Plex Sans" pitchFamily="34" charset="-120"/>
              </a:rPr>
              <a:t>Stopped before the start, after 17:30, and all weekend</a:t>
            </a:r>
            <a:endParaRPr lang="en-US" sz="1200" dirty="0"/>
          </a:p>
        </p:txBody>
      </p:sp>
      <p:sp>
        <p:nvSpPr>
          <p:cNvPr id="26" name="Text 23"/>
          <p:cNvSpPr/>
          <p:nvPr/>
        </p:nvSpPr>
        <p:spPr>
          <a:xfrm>
            <a:off x="7847330" y="4919861"/>
            <a:ext cx="3531870" cy="238720"/>
          </a:xfrm>
          <a:prstGeom prst="rect">
            <a:avLst/>
          </a:prstGeom>
          <a:noFill/>
          <a:ln/>
        </p:spPr>
        <p:txBody>
          <a:bodyPr wrap="square" lIns="0" tIns="0" rIns="0" bIns="0" rtlCol="0" anchor="t"/>
          <a:lstStyle/>
          <a:p>
            <a:pPr marL="0" indent="0" algn="r">
              <a:lnSpc>
                <a:spcPts val="1680"/>
              </a:lnSpc>
              <a:buNone/>
            </a:pPr>
            <a:r>
              <a:rPr lang="en-US" sz="1200" dirty="0">
                <a:solidFill>
                  <a:srgbClr val="9A5B00"/>
                </a:solidFill>
                <a:latin typeface="IBM Plex Sans" pitchFamily="34" charset="0"/>
                <a:ea typeface="IBM Plex Sans" pitchFamily="34" charset="-122"/>
                <a:cs typeface="IBM Plex Sans" pitchFamily="34" charset="-120"/>
              </a:rPr>
              <a:t>17:30 stop · VMs first, databases last</a:t>
            </a:r>
            <a:endParaRPr lang="en-US" sz="1200" dirty="0"/>
          </a:p>
        </p:txBody>
      </p:sp>
      <p:sp>
        <p:nvSpPr>
          <p:cNvPr id="27" name="Text 24"/>
          <p:cNvSpPr/>
          <p:nvPr/>
        </p:nvSpPr>
        <p:spPr>
          <a:xfrm>
            <a:off x="812800" y="5567561"/>
            <a:ext cx="10883392" cy="309860"/>
          </a:xfrm>
          <a:prstGeom prst="rect">
            <a:avLst/>
          </a:prstGeom>
          <a:noFill/>
          <a:ln/>
        </p:spPr>
        <p:txBody>
          <a:bodyPr wrap="square" lIns="0" tIns="0" rIns="0" bIns="0" rtlCol="0" anchor="t"/>
          <a:lstStyle/>
          <a:p>
            <a:pPr marL="0" indent="0" algn="l">
              <a:lnSpc>
                <a:spcPts val="2240"/>
              </a:lnSpc>
              <a:buNone/>
            </a:pPr>
            <a:r>
              <a:rPr lang="en-US" sz="1600" dirty="0">
                <a:solidFill>
                  <a:srgbClr val="0F1B2D"/>
                </a:solidFill>
                <a:latin typeface="IBM Plex Sans" pitchFamily="34" charset="0"/>
                <a:ea typeface="IBM Plex Sans" pitchFamily="34" charset="-122"/>
                <a:cs typeface="IBM Plex Sans" pitchFamily="34" charset="-120"/>
              </a:rPr>
              <a:t>Dependencies start first, so applications find their databases ready at 08:30. Proven live on 7 Oct 2026.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OPT IN WITH ONE TAG</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Onboarding with tags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261"/>
          <a:ext cx="10553700" cy="2155626"/>
        </p:xfrm>
        <a:graphic>
          <a:graphicData uri="http://schemas.openxmlformats.org/drawingml/2006/table">
            <a:tbl>
              <a:tblPr/>
              <a:tblGrid>
                <a:gridCol w="2743962">
                  <a:extLst>
                    <a:ext uri="{9D8B030D-6E8A-4147-A177-3AD203B41FA5}">
                      <a16:colId xmlns:a16="http://schemas.microsoft.com/office/drawing/2014/main" val="20000"/>
                    </a:ext>
                  </a:extLst>
                </a:gridCol>
                <a:gridCol w="2638425">
                  <a:extLst>
                    <a:ext uri="{9D8B030D-6E8A-4147-A177-3AD203B41FA5}">
                      <a16:colId xmlns:a16="http://schemas.microsoft.com/office/drawing/2014/main" val="20001"/>
                    </a:ext>
                  </a:extLst>
                </a:gridCol>
                <a:gridCol w="5171313">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Tag</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Example</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What it does</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schedule-profile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weekday-0830-1730</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Opts in; the most specific level wins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schedule-enabled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false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Opts out without removing the profile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schedule-override-state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running or stopped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State to hold during a temporary override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schedule-override-until</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2026-10-10T21:00+07:00</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When the override ends and the schedule resumes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schedule-order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1</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Start order, 1 first; stops run in reverse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812800" y="4306888"/>
            <a:ext cx="10566400" cy="1041400"/>
          </a:xfrm>
          <a:prstGeom prst="roundRect">
            <a:avLst>
              <a:gd name="adj" fmla="val 9756"/>
            </a:avLst>
          </a:prstGeom>
          <a:solidFill>
            <a:srgbClr val="0F1B2D"/>
          </a:solidFill>
          <a:ln/>
        </p:spPr>
        <p:txBody>
          <a:bodyPr wrap="square" lIns="173442" tIns="148042" rIns="0" bIns="122642" rtlCol="0" anchor="t"/>
          <a:lstStyle/>
          <a:p>
            <a:pPr marL="0" indent="0" algn="l">
              <a:lnSpc>
                <a:spcPts val="1800"/>
              </a:lnSpc>
              <a:buNone/>
            </a:pPr>
            <a:r>
              <a:rPr lang="en-US" sz="1200" dirty="0">
                <a:solidFill>
                  <a:srgbClr val="F4F5F0"/>
                </a:solidFill>
                <a:latin typeface="JetBrains Mono" pitchFamily="49" charset="0"/>
                <a:ea typeface="JetBrains Mono" pitchFamily="49" charset="-122"/>
                <a:cs typeface="JetBrains Mono" pitchFamily="49" charset="-120"/>
              </a:rPr>
              <a:t>az tag update --operation Merge \</a:t>
            </a:r>
            <a:endParaRPr lang="en-US" sz="1200" dirty="0"/>
          </a:p>
          <a:p>
            <a:pPr marL="0" indent="0" algn="l">
              <a:lnSpc>
                <a:spcPts val="1800"/>
              </a:lnSpc>
              <a:buNone/>
            </a:pPr>
            <a:r>
              <a:rPr lang="en-US" sz="1200" dirty="0">
                <a:solidFill>
                  <a:srgbClr val="F4F5F0"/>
                </a:solidFill>
                <a:latin typeface="JetBrains Mono" pitchFamily="49" charset="0"/>
                <a:ea typeface="JetBrains Mono" pitchFamily="49" charset="-122"/>
                <a:cs typeface="JetBrains Mono" pitchFamily="49" charset="-120"/>
              </a:rPr>
              <a:t>--resource-id "/subscriptions/&lt;sub-id&gt;/resourceGroups/&lt;rg&gt;" \</a:t>
            </a:r>
            <a:endParaRPr lang="en-US" sz="1200" dirty="0"/>
          </a:p>
          <a:p>
            <a:pPr marL="0" indent="0" algn="l">
              <a:lnSpc>
                <a:spcPts val="1800"/>
              </a:lnSpc>
              <a:buNone/>
            </a:pPr>
            <a:r>
              <a:rPr lang="en-US" sz="1200" dirty="0">
                <a:solidFill>
                  <a:srgbClr val="F4F5F0"/>
                </a:solidFill>
                <a:latin typeface="JetBrains Mono" pitchFamily="49" charset="0"/>
                <a:ea typeface="JetBrains Mono" pitchFamily="49" charset="-122"/>
                <a:cs typeface="JetBrains Mono" pitchFamily="49" charset="-120"/>
              </a:rPr>
              <a:t>--tags schedule-profile=weekday-0830-1730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DEFENCE IN DEPTH</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Safety guardrails</a:t>
            </a:r>
            <a:endParaRPr lang="en-US" sz="3600" dirty="0"/>
          </a:p>
        </p:txBody>
      </p:sp>
      <p:sp>
        <p:nvSpPr>
          <p:cNvPr id="4" name="Shape 2"/>
          <p:cNvSpPr/>
          <p:nvPr/>
        </p:nvSpPr>
        <p:spPr>
          <a:xfrm>
            <a:off x="815975" y="1938536"/>
            <a:ext cx="3380284" cy="1433711"/>
          </a:xfrm>
          <a:prstGeom prst="roundRect">
            <a:avLst>
              <a:gd name="adj" fmla="val 6865"/>
            </a:avLst>
          </a:prstGeom>
          <a:solidFill>
            <a:srgbClr val="FCFCF9"/>
          </a:solidFill>
          <a:ln w="6350">
            <a:solidFill>
              <a:srgbClr val="D8DCD2"/>
            </a:solidFill>
            <a:prstDash val="solid"/>
          </a:ln>
        </p:spPr>
        <p:txBody>
          <a:bodyPr/>
          <a:lstStyle/>
          <a:p>
            <a:endParaRPr lang="en-TH"/>
          </a:p>
        </p:txBody>
      </p:sp>
      <p:pic>
        <p:nvPicPr>
          <p:cNvPr id="5" name="Image 0" descr="Lock"/>
          <p:cNvPicPr>
            <a:picLocks noChangeAspect="1"/>
          </p:cNvPicPr>
          <p:nvPr/>
        </p:nvPicPr>
        <p:blipFill>
          <a:blip r:embed="rId3"/>
          <a:srcRect/>
          <a:stretch/>
        </p:blipFill>
        <p:spPr>
          <a:xfrm>
            <a:off x="1022350" y="2144911"/>
            <a:ext cx="304800" cy="304800"/>
          </a:xfrm>
          <a:prstGeom prst="rect">
            <a:avLst/>
          </a:prstGeom>
        </p:spPr>
      </p:pic>
      <p:sp>
        <p:nvSpPr>
          <p:cNvPr id="6" name="Text 3"/>
          <p:cNvSpPr/>
          <p:nvPr/>
        </p:nvSpPr>
        <p:spPr>
          <a:xfrm>
            <a:off x="1428750" y="2175371"/>
            <a:ext cx="2664262"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Production untouched</a:t>
            </a:r>
            <a:endParaRPr lang="en-US" sz="1600" dirty="0"/>
          </a:p>
        </p:txBody>
      </p:sp>
      <p:sp>
        <p:nvSpPr>
          <p:cNvPr id="7" name="Text 4"/>
          <p:cNvSpPr/>
          <p:nvPr/>
        </p:nvSpPr>
        <p:spPr>
          <a:xfrm>
            <a:off x="1022350" y="2525911"/>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Subscriptions tagged environment=prod are always skipped. There is no opt-in.</a:t>
            </a:r>
            <a:endParaRPr lang="en-US" sz="1200" dirty="0"/>
          </a:p>
        </p:txBody>
      </p:sp>
      <p:sp>
        <p:nvSpPr>
          <p:cNvPr id="8" name="Shape 5"/>
          <p:cNvSpPr/>
          <p:nvPr/>
        </p:nvSpPr>
        <p:spPr>
          <a:xfrm>
            <a:off x="4405809" y="1938536"/>
            <a:ext cx="3380284" cy="1433711"/>
          </a:xfrm>
          <a:prstGeom prst="roundRect">
            <a:avLst>
              <a:gd name="adj" fmla="val 6865"/>
            </a:avLst>
          </a:prstGeom>
          <a:solidFill>
            <a:srgbClr val="FCFCF9"/>
          </a:solidFill>
          <a:ln w="6350">
            <a:solidFill>
              <a:srgbClr val="D8DCD2"/>
            </a:solidFill>
            <a:prstDash val="solid"/>
          </a:ln>
        </p:spPr>
        <p:txBody>
          <a:bodyPr/>
          <a:lstStyle/>
          <a:p>
            <a:endParaRPr lang="en-TH"/>
          </a:p>
        </p:txBody>
      </p:sp>
      <p:pic>
        <p:nvPicPr>
          <p:cNvPr id="9" name="Image 1" descr="Globe"/>
          <p:cNvPicPr>
            <a:picLocks noChangeAspect="1"/>
          </p:cNvPicPr>
          <p:nvPr/>
        </p:nvPicPr>
        <p:blipFill>
          <a:blip r:embed="rId4"/>
          <a:srcRect/>
          <a:stretch/>
        </p:blipFill>
        <p:spPr>
          <a:xfrm>
            <a:off x="4612184" y="2144911"/>
            <a:ext cx="304800" cy="304800"/>
          </a:xfrm>
          <a:prstGeom prst="rect">
            <a:avLst/>
          </a:prstGeom>
        </p:spPr>
      </p:pic>
      <p:sp>
        <p:nvSpPr>
          <p:cNvPr id="10" name="Text 6"/>
          <p:cNvSpPr/>
          <p:nvPr/>
        </p:nvSpPr>
        <p:spPr>
          <a:xfrm>
            <a:off x="5018584" y="2175371"/>
            <a:ext cx="1548051"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Hub stays up</a:t>
            </a:r>
            <a:endParaRPr lang="en-US" sz="1600" dirty="0"/>
          </a:p>
        </p:txBody>
      </p:sp>
      <p:sp>
        <p:nvSpPr>
          <p:cNvPr id="11" name="Text 7"/>
          <p:cNvSpPr/>
          <p:nvPr/>
        </p:nvSpPr>
        <p:spPr>
          <a:xfrm>
            <a:off x="4612184" y="2525911"/>
            <a:ext cx="30565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Platform MG excluded by scope, by RBAC, and by a hard deny list for firewalls, gateways and Bastion.</a:t>
            </a:r>
            <a:endParaRPr lang="en-US" sz="1200" dirty="0"/>
          </a:p>
        </p:txBody>
      </p:sp>
      <p:sp>
        <p:nvSpPr>
          <p:cNvPr id="12" name="Shape 8"/>
          <p:cNvSpPr/>
          <p:nvPr/>
        </p:nvSpPr>
        <p:spPr>
          <a:xfrm>
            <a:off x="7995642" y="1938536"/>
            <a:ext cx="3380284" cy="1433711"/>
          </a:xfrm>
          <a:prstGeom prst="roundRect">
            <a:avLst>
              <a:gd name="adj" fmla="val 6865"/>
            </a:avLst>
          </a:prstGeom>
          <a:solidFill>
            <a:srgbClr val="FCFCF9"/>
          </a:solidFill>
          <a:ln w="6350">
            <a:solidFill>
              <a:srgbClr val="D8DCD2"/>
            </a:solidFill>
            <a:prstDash val="solid"/>
          </a:ln>
        </p:spPr>
        <p:txBody>
          <a:bodyPr/>
          <a:lstStyle/>
          <a:p>
            <a:endParaRPr lang="en-TH"/>
          </a:p>
        </p:txBody>
      </p:sp>
      <p:pic>
        <p:nvPicPr>
          <p:cNvPr id="13" name="Image 2" descr="Search"/>
          <p:cNvPicPr>
            <a:picLocks noChangeAspect="1"/>
          </p:cNvPicPr>
          <p:nvPr/>
        </p:nvPicPr>
        <p:blipFill>
          <a:blip r:embed="rId5"/>
          <a:srcRect/>
          <a:stretch/>
        </p:blipFill>
        <p:spPr>
          <a:xfrm>
            <a:off x="8202017" y="2144911"/>
            <a:ext cx="304800" cy="304800"/>
          </a:xfrm>
          <a:prstGeom prst="rect">
            <a:avLst/>
          </a:prstGeom>
        </p:spPr>
      </p:pic>
      <p:sp>
        <p:nvSpPr>
          <p:cNvPr id="14" name="Text 9"/>
          <p:cNvSpPr/>
          <p:nvPr/>
        </p:nvSpPr>
        <p:spPr>
          <a:xfrm>
            <a:off x="8608417" y="2175371"/>
            <a:ext cx="1420535"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Dry run first</a:t>
            </a:r>
            <a:endParaRPr lang="en-US" sz="1600" dirty="0"/>
          </a:p>
        </p:txBody>
      </p:sp>
      <p:sp>
        <p:nvSpPr>
          <p:cNvPr id="15" name="Text 10"/>
          <p:cNvSpPr/>
          <p:nvPr/>
        </p:nvSpPr>
        <p:spPr>
          <a:xfrm>
            <a:off x="8202017" y="2525911"/>
            <a:ext cx="30565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Deploys in dry-run mode: logs every decision and changes nothing until we switch it on.</a:t>
            </a:r>
            <a:endParaRPr lang="en-US" sz="1200" dirty="0"/>
          </a:p>
        </p:txBody>
      </p:sp>
      <p:sp>
        <p:nvSpPr>
          <p:cNvPr id="16" name="Shape 11"/>
          <p:cNvSpPr/>
          <p:nvPr/>
        </p:nvSpPr>
        <p:spPr>
          <a:xfrm>
            <a:off x="815975" y="3581797"/>
            <a:ext cx="3380284" cy="1220391"/>
          </a:xfrm>
          <a:prstGeom prst="roundRect">
            <a:avLst>
              <a:gd name="adj" fmla="val 8065"/>
            </a:avLst>
          </a:prstGeom>
          <a:solidFill>
            <a:srgbClr val="FCFCF9"/>
          </a:solidFill>
          <a:ln w="6350">
            <a:solidFill>
              <a:srgbClr val="D8DCD2"/>
            </a:solidFill>
            <a:prstDash val="solid"/>
          </a:ln>
        </p:spPr>
        <p:txBody>
          <a:bodyPr/>
          <a:lstStyle/>
          <a:p>
            <a:endParaRPr lang="en-TH"/>
          </a:p>
        </p:txBody>
      </p:sp>
      <p:pic>
        <p:nvPicPr>
          <p:cNvPr id="17" name="Image 3" descr="Warning"/>
          <p:cNvPicPr>
            <a:picLocks noChangeAspect="1"/>
          </p:cNvPicPr>
          <p:nvPr/>
        </p:nvPicPr>
        <p:blipFill>
          <a:blip r:embed="rId6"/>
          <a:srcRect/>
          <a:stretch/>
        </p:blipFill>
        <p:spPr>
          <a:xfrm>
            <a:off x="1022350" y="3788172"/>
            <a:ext cx="304800" cy="304800"/>
          </a:xfrm>
          <a:prstGeom prst="rect">
            <a:avLst/>
          </a:prstGeom>
        </p:spPr>
      </p:pic>
      <p:sp>
        <p:nvSpPr>
          <p:cNvPr id="18" name="Text 12"/>
          <p:cNvSpPr/>
          <p:nvPr/>
        </p:nvSpPr>
        <p:spPr>
          <a:xfrm>
            <a:off x="1428750" y="3818632"/>
            <a:ext cx="1270992"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Action cap</a:t>
            </a:r>
            <a:endParaRPr lang="en-US" sz="1600" dirty="0"/>
          </a:p>
        </p:txBody>
      </p:sp>
      <p:sp>
        <p:nvSpPr>
          <p:cNvPr id="19" name="Text 13"/>
          <p:cNvSpPr/>
          <p:nvPr/>
        </p:nvSpPr>
        <p:spPr>
          <a:xfrm>
            <a:off x="1022350" y="4169172"/>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At most 200 per cycle, sized from the peak; excess waits and alerts.</a:t>
            </a:r>
            <a:endParaRPr lang="en-US" sz="1200" dirty="0"/>
          </a:p>
        </p:txBody>
      </p:sp>
      <p:sp>
        <p:nvSpPr>
          <p:cNvPr id="20" name="Shape 14"/>
          <p:cNvSpPr/>
          <p:nvPr/>
        </p:nvSpPr>
        <p:spPr>
          <a:xfrm>
            <a:off x="4405809" y="3581797"/>
            <a:ext cx="3380284" cy="1220391"/>
          </a:xfrm>
          <a:prstGeom prst="roundRect">
            <a:avLst>
              <a:gd name="adj" fmla="val 8065"/>
            </a:avLst>
          </a:prstGeom>
          <a:solidFill>
            <a:srgbClr val="FCFCF9"/>
          </a:solidFill>
          <a:ln w="6350">
            <a:solidFill>
              <a:srgbClr val="D8DCD2"/>
            </a:solidFill>
            <a:prstDash val="solid"/>
          </a:ln>
        </p:spPr>
        <p:txBody>
          <a:bodyPr/>
          <a:lstStyle/>
          <a:p>
            <a:endParaRPr lang="en-TH"/>
          </a:p>
        </p:txBody>
      </p:sp>
      <p:pic>
        <p:nvPicPr>
          <p:cNvPr id="21" name="Image 4" descr="Key"/>
          <p:cNvPicPr>
            <a:picLocks noChangeAspect="1"/>
          </p:cNvPicPr>
          <p:nvPr/>
        </p:nvPicPr>
        <p:blipFill>
          <a:blip r:embed="rId7"/>
          <a:srcRect/>
          <a:stretch/>
        </p:blipFill>
        <p:spPr>
          <a:xfrm>
            <a:off x="4612184" y="3788172"/>
            <a:ext cx="304800" cy="304800"/>
          </a:xfrm>
          <a:prstGeom prst="rect">
            <a:avLst/>
          </a:prstGeom>
        </p:spPr>
      </p:pic>
      <p:sp>
        <p:nvSpPr>
          <p:cNvPr id="22" name="Text 15"/>
          <p:cNvSpPr/>
          <p:nvPr/>
        </p:nvSpPr>
        <p:spPr>
          <a:xfrm>
            <a:off x="5018584" y="3818632"/>
            <a:ext cx="1726763"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Least privilege</a:t>
            </a:r>
            <a:endParaRPr lang="en-US" sz="1600" dirty="0"/>
          </a:p>
        </p:txBody>
      </p:sp>
      <p:sp>
        <p:nvSpPr>
          <p:cNvPr id="23" name="Text 16"/>
          <p:cNvSpPr/>
          <p:nvPr/>
        </p:nvSpPr>
        <p:spPr>
          <a:xfrm>
            <a:off x="4612184" y="4169172"/>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Read and start/stop actions only, at in-scope MGs; checked in CI.</a:t>
            </a:r>
            <a:endParaRPr lang="en-US" sz="1200" dirty="0"/>
          </a:p>
        </p:txBody>
      </p:sp>
      <p:sp>
        <p:nvSpPr>
          <p:cNvPr id="24" name="Shape 17"/>
          <p:cNvSpPr/>
          <p:nvPr/>
        </p:nvSpPr>
        <p:spPr>
          <a:xfrm>
            <a:off x="7995642" y="3581797"/>
            <a:ext cx="3380284" cy="1220391"/>
          </a:xfrm>
          <a:prstGeom prst="roundRect">
            <a:avLst>
              <a:gd name="adj" fmla="val 8065"/>
            </a:avLst>
          </a:prstGeom>
          <a:solidFill>
            <a:srgbClr val="FCFCF9"/>
          </a:solidFill>
          <a:ln w="6350">
            <a:solidFill>
              <a:srgbClr val="D8DCD2"/>
            </a:solidFill>
            <a:prstDash val="solid"/>
          </a:ln>
        </p:spPr>
        <p:txBody>
          <a:bodyPr/>
          <a:lstStyle/>
          <a:p>
            <a:endParaRPr lang="en-TH"/>
          </a:p>
        </p:txBody>
      </p:sp>
      <p:pic>
        <p:nvPicPr>
          <p:cNvPr id="25" name="Image 5" descr="Verified"/>
          <p:cNvPicPr>
            <a:picLocks noChangeAspect="1"/>
          </p:cNvPicPr>
          <p:nvPr/>
        </p:nvPicPr>
        <p:blipFill>
          <a:blip r:embed="rId8"/>
          <a:srcRect/>
          <a:stretch/>
        </p:blipFill>
        <p:spPr>
          <a:xfrm>
            <a:off x="8202017" y="3788172"/>
            <a:ext cx="304800" cy="304800"/>
          </a:xfrm>
          <a:prstGeom prst="rect">
            <a:avLst/>
          </a:prstGeom>
        </p:spPr>
      </p:pic>
      <p:sp>
        <p:nvSpPr>
          <p:cNvPr id="26" name="Text 18"/>
          <p:cNvSpPr/>
          <p:nvPr/>
        </p:nvSpPr>
        <p:spPr>
          <a:xfrm>
            <a:off x="8608417" y="3818632"/>
            <a:ext cx="1255752"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No secrets</a:t>
            </a:r>
            <a:endParaRPr lang="en-US" sz="1600" dirty="0"/>
          </a:p>
        </p:txBody>
      </p:sp>
      <p:sp>
        <p:nvSpPr>
          <p:cNvPr id="27" name="Text 19"/>
          <p:cNvSpPr/>
          <p:nvPr/>
        </p:nvSpPr>
        <p:spPr>
          <a:xfrm>
            <a:off x="8202017" y="4169172"/>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Managed identity only: no keys, connection strings or passwords.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PROVEN IN A LIVE DEMO TENANT</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Demo results</a:t>
            </a:r>
            <a:endParaRPr lang="en-US" sz="3600" dirty="0"/>
          </a:p>
        </p:txBody>
      </p:sp>
      <p:sp>
        <p:nvSpPr>
          <p:cNvPr id="4" name="Shape 2"/>
          <p:cNvSpPr/>
          <p:nvPr/>
        </p:nvSpPr>
        <p:spPr>
          <a:xfrm>
            <a:off x="815975" y="2859484"/>
            <a:ext cx="19849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5" name="Text 3"/>
          <p:cNvSpPr/>
          <p:nvPr/>
        </p:nvSpPr>
        <p:spPr>
          <a:xfrm>
            <a:off x="971550" y="3015059"/>
            <a:ext cx="17246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22/23</a:t>
            </a:r>
            <a:endParaRPr lang="en-US" sz="3600" dirty="0"/>
          </a:p>
        </p:txBody>
      </p:sp>
      <p:sp>
        <p:nvSpPr>
          <p:cNvPr id="6" name="Text 4"/>
          <p:cNvSpPr/>
          <p:nvPr/>
        </p:nvSpPr>
        <p:spPr>
          <a:xfrm>
            <a:off x="971550" y="3594100"/>
            <a:ext cx="1724620" cy="87868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use cases proven live; the last (changing a schedule) works by design</a:t>
            </a:r>
            <a:endParaRPr lang="en-US" sz="1200" dirty="0"/>
          </a:p>
        </p:txBody>
      </p:sp>
      <p:sp>
        <p:nvSpPr>
          <p:cNvPr id="7" name="Shape 5"/>
          <p:cNvSpPr/>
          <p:nvPr/>
        </p:nvSpPr>
        <p:spPr>
          <a:xfrm>
            <a:off x="2959695" y="2859484"/>
            <a:ext cx="19849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8" name="Text 6"/>
          <p:cNvSpPr/>
          <p:nvPr/>
        </p:nvSpPr>
        <p:spPr>
          <a:xfrm>
            <a:off x="3115270" y="3015059"/>
            <a:ext cx="17246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8/8</a:t>
            </a:r>
            <a:endParaRPr lang="en-US" sz="3600" dirty="0"/>
          </a:p>
        </p:txBody>
      </p:sp>
      <p:sp>
        <p:nvSpPr>
          <p:cNvPr id="9" name="Text 7"/>
          <p:cNvSpPr/>
          <p:nvPr/>
        </p:nvSpPr>
        <p:spPr>
          <a:xfrm>
            <a:off x="3115270" y="3594100"/>
            <a:ext cx="172462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scheduled resources stopped at 17:30, with no failures</a:t>
            </a:r>
            <a:endParaRPr lang="en-US" sz="1200" dirty="0"/>
          </a:p>
        </p:txBody>
      </p:sp>
      <p:sp>
        <p:nvSpPr>
          <p:cNvPr id="10" name="Shape 8"/>
          <p:cNvSpPr/>
          <p:nvPr/>
        </p:nvSpPr>
        <p:spPr>
          <a:xfrm>
            <a:off x="5103416" y="2859484"/>
            <a:ext cx="19850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11" name="Text 9"/>
          <p:cNvSpPr/>
          <p:nvPr/>
        </p:nvSpPr>
        <p:spPr>
          <a:xfrm>
            <a:off x="5258991" y="3015059"/>
            <a:ext cx="1724720" cy="528241"/>
          </a:xfrm>
          <a:prstGeom prst="rect">
            <a:avLst/>
          </a:prstGeom>
          <a:noFill/>
          <a:ln/>
        </p:spPr>
        <p:txBody>
          <a:bodyPr wrap="non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0</a:t>
            </a:r>
            <a:endParaRPr lang="en-US" sz="3600" dirty="0"/>
          </a:p>
        </p:txBody>
      </p:sp>
      <p:sp>
        <p:nvSpPr>
          <p:cNvPr id="12" name="Text 10"/>
          <p:cNvSpPr/>
          <p:nvPr/>
        </p:nvSpPr>
        <p:spPr>
          <a:xfrm>
            <a:off x="5258991" y="3594100"/>
            <a:ext cx="172472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actions on production or platform resources</a:t>
            </a:r>
            <a:endParaRPr lang="en-US" sz="1200" dirty="0"/>
          </a:p>
        </p:txBody>
      </p:sp>
      <p:sp>
        <p:nvSpPr>
          <p:cNvPr id="13" name="Shape 11"/>
          <p:cNvSpPr/>
          <p:nvPr/>
        </p:nvSpPr>
        <p:spPr>
          <a:xfrm>
            <a:off x="7247235" y="2859484"/>
            <a:ext cx="19849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14" name="Text 12"/>
          <p:cNvSpPr/>
          <p:nvPr/>
        </p:nvSpPr>
        <p:spPr>
          <a:xfrm>
            <a:off x="7402810" y="3015059"/>
            <a:ext cx="17246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3</a:t>
            </a:r>
            <a:endParaRPr lang="en-US" sz="3600" dirty="0"/>
          </a:p>
        </p:txBody>
      </p:sp>
      <p:sp>
        <p:nvSpPr>
          <p:cNvPr id="15" name="Text 13"/>
          <p:cNvSpPr/>
          <p:nvPr/>
        </p:nvSpPr>
        <p:spPr>
          <a:xfrm>
            <a:off x="7402810" y="3594100"/>
            <a:ext cx="172462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alert rules fired in live tests: missed cycles, errors, the cap</a:t>
            </a:r>
            <a:endParaRPr lang="en-US" sz="1200" dirty="0"/>
          </a:p>
        </p:txBody>
      </p:sp>
      <p:sp>
        <p:nvSpPr>
          <p:cNvPr id="16" name="Shape 14"/>
          <p:cNvSpPr/>
          <p:nvPr/>
        </p:nvSpPr>
        <p:spPr>
          <a:xfrm>
            <a:off x="9390955" y="2859484"/>
            <a:ext cx="1985070" cy="1743472"/>
          </a:xfrm>
          <a:prstGeom prst="roundRect">
            <a:avLst>
              <a:gd name="adj" fmla="val 5645"/>
            </a:avLst>
          </a:prstGeom>
          <a:solidFill>
            <a:srgbClr val="FCFCF9"/>
          </a:solidFill>
          <a:ln w="6350">
            <a:solidFill>
              <a:srgbClr val="D8DCD2"/>
            </a:solidFill>
            <a:prstDash val="solid"/>
          </a:ln>
        </p:spPr>
        <p:txBody>
          <a:bodyPr/>
          <a:lstStyle/>
          <a:p>
            <a:endParaRPr lang="en-TH"/>
          </a:p>
        </p:txBody>
      </p:sp>
      <p:sp>
        <p:nvSpPr>
          <p:cNvPr id="17" name="Text 15"/>
          <p:cNvSpPr/>
          <p:nvPr/>
        </p:nvSpPr>
        <p:spPr>
          <a:xfrm>
            <a:off x="9546530" y="3015059"/>
            <a:ext cx="1724720" cy="528241"/>
          </a:xfrm>
          <a:prstGeom prst="rect">
            <a:avLst/>
          </a:prstGeom>
          <a:noFill/>
          <a:ln/>
        </p:spPr>
        <p:txBody>
          <a:bodyPr wrap="square" lIns="0" tIns="0" rIns="0" bIns="0" rtlCol="0" anchor="t"/>
          <a:lstStyle/>
          <a:p>
            <a:pPr marL="0" indent="0" algn="l">
              <a:lnSpc>
                <a:spcPts val="3960"/>
              </a:lnSpc>
              <a:buNone/>
            </a:pPr>
            <a:r>
              <a:rPr lang="en-US" sz="3600" b="1" dirty="0">
                <a:solidFill>
                  <a:srgbClr val="1D4ED8"/>
                </a:solidFill>
                <a:latin typeface="Space Grotesk" pitchFamily="34" charset="0"/>
                <a:ea typeface="Space Grotesk" pitchFamily="34" charset="-122"/>
                <a:cs typeface="Space Grotesk" pitchFamily="34" charset="-120"/>
              </a:rPr>
              <a:t>100%</a:t>
            </a:r>
            <a:endParaRPr lang="en-US" sz="3600" dirty="0"/>
          </a:p>
        </p:txBody>
      </p:sp>
      <p:sp>
        <p:nvSpPr>
          <p:cNvPr id="18" name="Text 16"/>
          <p:cNvSpPr/>
          <p:nvPr/>
        </p:nvSpPr>
        <p:spPr>
          <a:xfrm>
            <a:off x="9546530" y="3594100"/>
            <a:ext cx="172472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of starts and stops made by the scheduler’s own identity</a:t>
            </a:r>
            <a:endParaRPr lang="en-US" sz="1200" dirty="0"/>
          </a:p>
        </p:txBody>
      </p:sp>
      <p:sp>
        <p:nvSpPr>
          <p:cNvPr id="19" name="Text 17"/>
          <p:cNvSpPr/>
          <p:nvPr/>
        </p:nvSpPr>
        <p:spPr>
          <a:xfrm>
            <a:off x="812800" y="5831880"/>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Demo tenant, 6–7 Oct 2026. Evidence: docs/archive/demo-verification/VERIFICATION.md.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23 USE CASES IN SIX GROUPS</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What it supports</a:t>
            </a:r>
            <a:endParaRPr lang="en-US" sz="3600" dirty="0"/>
          </a:p>
        </p:txBody>
      </p:sp>
      <p:sp>
        <p:nvSpPr>
          <p:cNvPr id="4" name="Shape 2"/>
          <p:cNvSpPr/>
          <p:nvPr/>
        </p:nvSpPr>
        <p:spPr>
          <a:xfrm>
            <a:off x="815975" y="1938536"/>
            <a:ext cx="3380284" cy="1433711"/>
          </a:xfrm>
          <a:prstGeom prst="roundRect">
            <a:avLst>
              <a:gd name="adj" fmla="val 6865"/>
            </a:avLst>
          </a:prstGeom>
          <a:solidFill>
            <a:srgbClr val="FCFCF9"/>
          </a:solidFill>
          <a:ln w="6350">
            <a:solidFill>
              <a:srgbClr val="D8DCD2"/>
            </a:solidFill>
            <a:prstDash val="solid"/>
          </a:ln>
        </p:spPr>
        <p:txBody>
          <a:bodyPr/>
          <a:lstStyle/>
          <a:p>
            <a:endParaRPr lang="en-TH"/>
          </a:p>
        </p:txBody>
      </p:sp>
      <p:pic>
        <p:nvPicPr>
          <p:cNvPr id="5" name="Image 0" descr="Lock"/>
          <p:cNvPicPr>
            <a:picLocks noChangeAspect="1"/>
          </p:cNvPicPr>
          <p:nvPr/>
        </p:nvPicPr>
        <p:blipFill>
          <a:blip r:embed="rId3"/>
          <a:srcRect/>
          <a:stretch/>
        </p:blipFill>
        <p:spPr>
          <a:xfrm>
            <a:off x="1022350" y="2144911"/>
            <a:ext cx="304800" cy="304800"/>
          </a:xfrm>
          <a:prstGeom prst="rect">
            <a:avLst/>
          </a:prstGeom>
        </p:spPr>
      </p:pic>
      <p:sp>
        <p:nvSpPr>
          <p:cNvPr id="6" name="Text 3"/>
          <p:cNvSpPr/>
          <p:nvPr/>
        </p:nvSpPr>
        <p:spPr>
          <a:xfrm>
            <a:off x="1428750" y="2175371"/>
            <a:ext cx="26517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Safety · 5</a:t>
            </a:r>
            <a:endParaRPr lang="en-US" sz="1600" dirty="0"/>
          </a:p>
        </p:txBody>
      </p:sp>
      <p:sp>
        <p:nvSpPr>
          <p:cNvPr id="7" name="Text 4"/>
          <p:cNvSpPr/>
          <p:nvPr/>
        </p:nvSpPr>
        <p:spPr>
          <a:xfrm>
            <a:off x="1022350" y="2525911"/>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Production and platform untouched, AKS node pools, cap, dry run</a:t>
            </a:r>
            <a:endParaRPr lang="en-US" sz="1200" dirty="0"/>
          </a:p>
        </p:txBody>
      </p:sp>
      <p:sp>
        <p:nvSpPr>
          <p:cNvPr id="8" name="Shape 5"/>
          <p:cNvSpPr/>
          <p:nvPr/>
        </p:nvSpPr>
        <p:spPr>
          <a:xfrm>
            <a:off x="4405809" y="1938536"/>
            <a:ext cx="3380284" cy="1433711"/>
          </a:xfrm>
          <a:prstGeom prst="roundRect">
            <a:avLst>
              <a:gd name="adj" fmla="val 6865"/>
            </a:avLst>
          </a:prstGeom>
          <a:solidFill>
            <a:srgbClr val="FCFCF9"/>
          </a:solidFill>
          <a:ln w="6350">
            <a:solidFill>
              <a:srgbClr val="D8DCD2"/>
            </a:solidFill>
            <a:prstDash val="solid"/>
          </a:ln>
        </p:spPr>
        <p:txBody>
          <a:bodyPr/>
          <a:lstStyle/>
          <a:p>
            <a:endParaRPr lang="en-TH"/>
          </a:p>
        </p:txBody>
      </p:sp>
      <p:pic>
        <p:nvPicPr>
          <p:cNvPr id="9" name="Image 1" descr="Globe"/>
          <p:cNvPicPr>
            <a:picLocks noChangeAspect="1"/>
          </p:cNvPicPr>
          <p:nvPr/>
        </p:nvPicPr>
        <p:blipFill>
          <a:blip r:embed="rId4"/>
          <a:srcRect/>
          <a:stretch/>
        </p:blipFill>
        <p:spPr>
          <a:xfrm>
            <a:off x="4612184" y="2144911"/>
            <a:ext cx="304800" cy="304800"/>
          </a:xfrm>
          <a:prstGeom prst="rect">
            <a:avLst/>
          </a:prstGeom>
        </p:spPr>
      </p:pic>
      <p:sp>
        <p:nvSpPr>
          <p:cNvPr id="10" name="Text 6"/>
          <p:cNvSpPr/>
          <p:nvPr/>
        </p:nvSpPr>
        <p:spPr>
          <a:xfrm>
            <a:off x="5018584" y="2175371"/>
            <a:ext cx="26517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Scope and tags · 5</a:t>
            </a:r>
            <a:endParaRPr lang="en-US" sz="1600" dirty="0"/>
          </a:p>
        </p:txBody>
      </p:sp>
      <p:sp>
        <p:nvSpPr>
          <p:cNvPr id="11" name="Text 7"/>
          <p:cNvSpPr/>
          <p:nvPr/>
        </p:nvSpPr>
        <p:spPr>
          <a:xfrm>
            <a:off x="4612184" y="2525911"/>
            <a:ext cx="30565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Tag a group or subscription, opt out, include or exclude scopes</a:t>
            </a:r>
            <a:endParaRPr lang="en-US" sz="1200" dirty="0"/>
          </a:p>
        </p:txBody>
      </p:sp>
      <p:sp>
        <p:nvSpPr>
          <p:cNvPr id="12" name="Shape 8"/>
          <p:cNvSpPr/>
          <p:nvPr/>
        </p:nvSpPr>
        <p:spPr>
          <a:xfrm>
            <a:off x="7995642" y="1938536"/>
            <a:ext cx="3380284" cy="1433711"/>
          </a:xfrm>
          <a:prstGeom prst="roundRect">
            <a:avLst>
              <a:gd name="adj" fmla="val 6865"/>
            </a:avLst>
          </a:prstGeom>
          <a:solidFill>
            <a:srgbClr val="FCFCF9"/>
          </a:solidFill>
          <a:ln w="6350">
            <a:solidFill>
              <a:srgbClr val="D8DCD2"/>
            </a:solidFill>
            <a:prstDash val="solid"/>
          </a:ln>
        </p:spPr>
        <p:txBody>
          <a:bodyPr/>
          <a:lstStyle/>
          <a:p>
            <a:endParaRPr lang="en-TH"/>
          </a:p>
        </p:txBody>
      </p:sp>
      <p:pic>
        <p:nvPicPr>
          <p:cNvPr id="13" name="Image 2" descr="Search"/>
          <p:cNvPicPr>
            <a:picLocks noChangeAspect="1"/>
          </p:cNvPicPr>
          <p:nvPr/>
        </p:nvPicPr>
        <p:blipFill>
          <a:blip r:embed="rId5"/>
          <a:srcRect/>
          <a:stretch/>
        </p:blipFill>
        <p:spPr>
          <a:xfrm>
            <a:off x="8202017" y="2144911"/>
            <a:ext cx="304800" cy="304800"/>
          </a:xfrm>
          <a:prstGeom prst="rect">
            <a:avLst/>
          </a:prstGeom>
        </p:spPr>
      </p:pic>
      <p:sp>
        <p:nvSpPr>
          <p:cNvPr id="14" name="Text 9"/>
          <p:cNvSpPr/>
          <p:nvPr/>
        </p:nvSpPr>
        <p:spPr>
          <a:xfrm>
            <a:off x="8608417" y="2175371"/>
            <a:ext cx="26517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Monitoring · 3</a:t>
            </a:r>
            <a:endParaRPr lang="en-US" sz="1600" dirty="0"/>
          </a:p>
        </p:txBody>
      </p:sp>
      <p:sp>
        <p:nvSpPr>
          <p:cNvPr id="15" name="Text 10"/>
          <p:cNvSpPr/>
          <p:nvPr/>
        </p:nvSpPr>
        <p:spPr>
          <a:xfrm>
            <a:off x="8202017" y="2525911"/>
            <a:ext cx="30565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Decision log, two workbooks, four alerts, Activity Log trail</a:t>
            </a:r>
            <a:endParaRPr lang="en-US" sz="1200" dirty="0"/>
          </a:p>
        </p:txBody>
      </p:sp>
      <p:sp>
        <p:nvSpPr>
          <p:cNvPr id="16" name="Shape 11"/>
          <p:cNvSpPr/>
          <p:nvPr/>
        </p:nvSpPr>
        <p:spPr>
          <a:xfrm>
            <a:off x="815975" y="3581797"/>
            <a:ext cx="3380284" cy="1220391"/>
          </a:xfrm>
          <a:prstGeom prst="roundRect">
            <a:avLst>
              <a:gd name="adj" fmla="val 8065"/>
            </a:avLst>
          </a:prstGeom>
          <a:solidFill>
            <a:srgbClr val="FCFCF9"/>
          </a:solidFill>
          <a:ln w="6350">
            <a:solidFill>
              <a:srgbClr val="D8DCD2"/>
            </a:solidFill>
            <a:prstDash val="solid"/>
          </a:ln>
        </p:spPr>
        <p:txBody>
          <a:bodyPr/>
          <a:lstStyle/>
          <a:p>
            <a:endParaRPr lang="en-TH"/>
          </a:p>
        </p:txBody>
      </p:sp>
      <p:pic>
        <p:nvPicPr>
          <p:cNvPr id="17" name="Image 3" descr="Warning"/>
          <p:cNvPicPr>
            <a:picLocks noChangeAspect="1"/>
          </p:cNvPicPr>
          <p:nvPr/>
        </p:nvPicPr>
        <p:blipFill>
          <a:blip r:embed="rId6"/>
          <a:srcRect/>
          <a:stretch/>
        </p:blipFill>
        <p:spPr>
          <a:xfrm>
            <a:off x="1022350" y="3788172"/>
            <a:ext cx="304800" cy="304800"/>
          </a:xfrm>
          <a:prstGeom prst="rect">
            <a:avLst/>
          </a:prstGeom>
        </p:spPr>
      </p:pic>
      <p:sp>
        <p:nvSpPr>
          <p:cNvPr id="18" name="Text 12"/>
          <p:cNvSpPr/>
          <p:nvPr/>
        </p:nvSpPr>
        <p:spPr>
          <a:xfrm>
            <a:off x="1428750" y="3818632"/>
            <a:ext cx="26517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Overrides · 3</a:t>
            </a:r>
            <a:endParaRPr lang="en-US" sz="1600" dirty="0"/>
          </a:p>
        </p:txBody>
      </p:sp>
      <p:sp>
        <p:nvSpPr>
          <p:cNvPr id="19" name="Text 13"/>
          <p:cNvSpPr/>
          <p:nvPr/>
        </p:nvSpPr>
        <p:spPr>
          <a:xfrm>
            <a:off x="1022350" y="4169172"/>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Work late, stop early, or start ad hoc with two tags</a:t>
            </a:r>
            <a:endParaRPr lang="en-US" sz="1200" dirty="0"/>
          </a:p>
        </p:txBody>
      </p:sp>
      <p:sp>
        <p:nvSpPr>
          <p:cNvPr id="20" name="Shape 14"/>
          <p:cNvSpPr/>
          <p:nvPr/>
        </p:nvSpPr>
        <p:spPr>
          <a:xfrm>
            <a:off x="4405809" y="3581797"/>
            <a:ext cx="3380284" cy="1220391"/>
          </a:xfrm>
          <a:prstGeom prst="roundRect">
            <a:avLst>
              <a:gd name="adj" fmla="val 8065"/>
            </a:avLst>
          </a:prstGeom>
          <a:solidFill>
            <a:srgbClr val="FCFCF9"/>
          </a:solidFill>
          <a:ln w="6350">
            <a:solidFill>
              <a:srgbClr val="D8DCD2"/>
            </a:solidFill>
            <a:prstDash val="solid"/>
          </a:ln>
        </p:spPr>
        <p:txBody>
          <a:bodyPr/>
          <a:lstStyle/>
          <a:p>
            <a:endParaRPr lang="en-TH"/>
          </a:p>
        </p:txBody>
      </p:sp>
      <p:pic>
        <p:nvPicPr>
          <p:cNvPr id="21" name="Image 4" descr="Key"/>
          <p:cNvPicPr>
            <a:picLocks noChangeAspect="1"/>
          </p:cNvPicPr>
          <p:nvPr/>
        </p:nvPicPr>
        <p:blipFill>
          <a:blip r:embed="rId7"/>
          <a:srcRect/>
          <a:stretch/>
        </p:blipFill>
        <p:spPr>
          <a:xfrm>
            <a:off x="4612184" y="3788172"/>
            <a:ext cx="304800" cy="304800"/>
          </a:xfrm>
          <a:prstGeom prst="rect">
            <a:avLst/>
          </a:prstGeom>
        </p:spPr>
      </p:pic>
      <p:sp>
        <p:nvSpPr>
          <p:cNvPr id="22" name="Text 15"/>
          <p:cNvSpPr/>
          <p:nvPr/>
        </p:nvSpPr>
        <p:spPr>
          <a:xfrm>
            <a:off x="5018584" y="3818632"/>
            <a:ext cx="26517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Self-healing · 3</a:t>
            </a:r>
            <a:endParaRPr lang="en-US" sz="1600" dirty="0"/>
          </a:p>
        </p:txBody>
      </p:sp>
      <p:sp>
        <p:nvSpPr>
          <p:cNvPr id="23" name="Text 16"/>
          <p:cNvSpPr/>
          <p:nvPr/>
        </p:nvSpPr>
        <p:spPr>
          <a:xfrm>
            <a:off x="4612184" y="4169172"/>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Corrects manual changes, VMs shut down inside, missed runs</a:t>
            </a:r>
            <a:endParaRPr lang="en-US" sz="1200" dirty="0"/>
          </a:p>
        </p:txBody>
      </p:sp>
      <p:sp>
        <p:nvSpPr>
          <p:cNvPr id="24" name="Shape 17"/>
          <p:cNvSpPr/>
          <p:nvPr/>
        </p:nvSpPr>
        <p:spPr>
          <a:xfrm>
            <a:off x="7995642" y="3581797"/>
            <a:ext cx="3380284" cy="1220391"/>
          </a:xfrm>
          <a:prstGeom prst="roundRect">
            <a:avLst>
              <a:gd name="adj" fmla="val 8065"/>
            </a:avLst>
          </a:prstGeom>
          <a:solidFill>
            <a:srgbClr val="FCFCF9"/>
          </a:solidFill>
          <a:ln w="6350">
            <a:solidFill>
              <a:srgbClr val="D8DCD2"/>
            </a:solidFill>
            <a:prstDash val="solid"/>
          </a:ln>
        </p:spPr>
        <p:txBody>
          <a:bodyPr/>
          <a:lstStyle/>
          <a:p>
            <a:endParaRPr lang="en-TH"/>
          </a:p>
        </p:txBody>
      </p:sp>
      <p:pic>
        <p:nvPicPr>
          <p:cNvPr id="25" name="Image 5" descr="Verified"/>
          <p:cNvPicPr>
            <a:picLocks noChangeAspect="1"/>
          </p:cNvPicPr>
          <p:nvPr/>
        </p:nvPicPr>
        <p:blipFill>
          <a:blip r:embed="rId8"/>
          <a:srcRect/>
          <a:stretch/>
        </p:blipFill>
        <p:spPr>
          <a:xfrm>
            <a:off x="8202017" y="3788172"/>
            <a:ext cx="304800" cy="304800"/>
          </a:xfrm>
          <a:prstGeom prst="rect">
            <a:avLst/>
          </a:prstGeom>
        </p:spPr>
      </p:pic>
      <p:sp>
        <p:nvSpPr>
          <p:cNvPr id="26" name="Text 18"/>
          <p:cNvSpPr/>
          <p:nvPr/>
        </p:nvSpPr>
        <p:spPr>
          <a:xfrm>
            <a:off x="8608417" y="3818632"/>
            <a:ext cx="26517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Scheduling · 4</a:t>
            </a:r>
            <a:endParaRPr lang="en-US" sz="1600" dirty="0"/>
          </a:p>
        </p:txBody>
      </p:sp>
      <p:sp>
        <p:nvSpPr>
          <p:cNvPr id="27" name="Text 19"/>
          <p:cNvSpPr/>
          <p:nvPr/>
        </p:nvSpPr>
        <p:spPr>
          <a:xfrm>
            <a:off x="8202017" y="4169172"/>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Office hours, start order, several profiles, config-only changes</a:t>
            </a:r>
            <a:endParaRPr lang="en-US" sz="1200" dirty="0"/>
          </a:p>
        </p:txBody>
      </p:sp>
      <p:sp>
        <p:nvSpPr>
          <p:cNvPr id="28" name="TextBox 27"/>
          <p:cNvSpPr txBox="1"/>
          <p:nvPr/>
        </p:nvSpPr>
        <p:spPr>
          <a:xfrm>
            <a:off x="813816" y="5120640"/>
            <a:ext cx="10561320" cy="640080"/>
          </a:xfrm>
          <a:prstGeom prst="rect">
            <a:avLst/>
          </a:prstGeom>
          <a:noFill/>
        </p:spPr>
        <p:txBody>
          <a:bodyPr wrap="square" lIns="0" rIns="0" tIns="0" bIns="0">
            <a:spAutoFit/>
          </a:bodyPr>
          <a:lstStyle/>
          <a:p>
            <a:r>
              <a:rPr b="1" sz="1200">
                <a:solidFill>
                  <a:srgbClr val="0F1B2D"/>
                </a:solidFill>
                <a:latin typeface="IBM Plex Sans"/>
              </a:rPr>
              <a:t>22 of 23 proven live in the demo tenant. </a:t>
            </a:r>
            <a:r>
              <a:rPr sz="1200">
                <a:solidFill>
                  <a:srgbClr val="4A5568"/>
                </a:solidFill>
                <a:latin typeface="IBM Plex Sans"/>
              </a:rPr>
              <a:t>Not supported: production (D-06), public holidays (phase 2), Azure SQL Database, App Service stop. Full list: appendix and docs/USE_CASES.md.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4">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FOUND IN VERIFICATION, BEFORE ANY REAL TENANT</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What we found and fixed</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261"/>
          <a:ext cx="10553700" cy="2720679"/>
        </p:xfrm>
        <a:graphic>
          <a:graphicData uri="http://schemas.openxmlformats.org/drawingml/2006/table">
            <a:tbl>
              <a:tblPr/>
              <a:tblGrid>
                <a:gridCol w="2321814">
                  <a:extLst>
                    <a:ext uri="{9D8B030D-6E8A-4147-A177-3AD203B41FA5}">
                      <a16:colId xmlns:a16="http://schemas.microsoft.com/office/drawing/2014/main" val="20000"/>
                    </a:ext>
                  </a:extLst>
                </a:gridCol>
                <a:gridCol w="3271647">
                  <a:extLst>
                    <a:ext uri="{9D8B030D-6E8A-4147-A177-3AD203B41FA5}">
                      <a16:colId xmlns:a16="http://schemas.microsoft.com/office/drawing/2014/main" val="20001"/>
                    </a:ext>
                  </a:extLst>
                </a:gridCol>
                <a:gridCol w="3271647">
                  <a:extLst>
                    <a:ext uri="{9D8B030D-6E8A-4147-A177-3AD203B41FA5}">
                      <a16:colId xmlns:a16="http://schemas.microsoft.com/office/drawing/2014/main" val="20002"/>
                    </a:ext>
                  </a:extLst>
                </a:gridCol>
                <a:gridCol w="1688592">
                  <a:extLst>
                    <a:ext uri="{9D8B030D-6E8A-4147-A177-3AD203B41FA5}">
                      <a16:colId xmlns:a16="http://schemas.microsoft.com/office/drawing/2014/main" val="20003"/>
                    </a:ext>
                  </a:extLst>
                </a:gridCol>
              </a:tblGrid>
              <a:tr h="359271">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Issue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What could have happened</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Fix</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Status</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extLst>
                  <a:ext uri="{0D108BD9-81ED-4DB2-BD59-A6C34878D82A}">
                    <a16:rowId xmlns:a16="http://schemas.microsoft.com/office/drawing/2014/main" val="10000"/>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AKS node pools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Node pools stopped directly, breaking the cluster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Skipped and logged; AKS stopped only through the cluster</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Fixed ·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1"/>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Scale set state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Scale sets never stopped, or failing every cycle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Read per instance; Flexible mode skipped, tag its VMs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Fixed ·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2"/>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Missing permission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 scale set restarted every 15 minutes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Role fixed; a CI test now checks code against the role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Fixed ·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2"/>
                  </a:ext>
                </a:extLst>
              </a:tr>
              <a:tr h="590352">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Deploy settings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Host unable to run, or plans never clean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Fixed in Terraform; checks added to the runbook</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Fixed ·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5BBC8"/>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812800" y="4871938"/>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Every issue was found by the dry run or the live checks, fixed and re-verified. Details: V1–V5 and DP-01–DP-06 in the archived record.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RUNNING IT DAY TO DAY</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Day-2 operations</a:t>
            </a:r>
            <a:endParaRPr lang="en-US" sz="3600" dirty="0"/>
          </a:p>
        </p:txBody>
      </p:sp>
      <p:sp>
        <p:nvSpPr>
          <p:cNvPr id="4" name="Shape 2"/>
          <p:cNvSpPr/>
          <p:nvPr/>
        </p:nvSpPr>
        <p:spPr>
          <a:xfrm>
            <a:off x="815975" y="2691805"/>
            <a:ext cx="3380284" cy="2078930"/>
          </a:xfrm>
          <a:prstGeom prst="roundRect">
            <a:avLst>
              <a:gd name="adj" fmla="val 4734"/>
            </a:avLst>
          </a:prstGeom>
          <a:solidFill>
            <a:srgbClr val="FCFCF9"/>
          </a:solidFill>
          <a:ln w="6350">
            <a:solidFill>
              <a:srgbClr val="D8DCD2"/>
            </a:solidFill>
            <a:prstDash val="solid"/>
          </a:ln>
        </p:spPr>
        <p:txBody>
          <a:bodyPr/>
          <a:lstStyle/>
          <a:p>
            <a:endParaRPr lang="en-TH"/>
          </a:p>
        </p:txBody>
      </p:sp>
      <p:pic>
        <p:nvPicPr>
          <p:cNvPr id="5" name="Image 0" descr="Settings"/>
          <p:cNvPicPr>
            <a:picLocks noChangeAspect="1"/>
          </p:cNvPicPr>
          <p:nvPr/>
        </p:nvPicPr>
        <p:blipFill>
          <a:blip r:embed="rId3"/>
          <a:srcRect/>
          <a:stretch/>
        </p:blipFill>
        <p:spPr>
          <a:xfrm>
            <a:off x="1022350" y="2898180"/>
            <a:ext cx="304800" cy="304800"/>
          </a:xfrm>
          <a:prstGeom prst="rect">
            <a:avLst/>
          </a:prstGeom>
        </p:spPr>
      </p:pic>
      <p:sp>
        <p:nvSpPr>
          <p:cNvPr id="6" name="Text 3"/>
          <p:cNvSpPr/>
          <p:nvPr/>
        </p:nvSpPr>
        <p:spPr>
          <a:xfrm>
            <a:off x="1022350" y="3304580"/>
            <a:ext cx="30565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Change a schedule</a:t>
            </a:r>
            <a:endParaRPr lang="en-US" sz="1600" dirty="0"/>
          </a:p>
        </p:txBody>
      </p:sp>
      <p:sp>
        <p:nvSpPr>
          <p:cNvPr id="7" name="Text 4"/>
          <p:cNvSpPr/>
          <p:nvPr/>
        </p:nvSpPr>
        <p:spPr>
          <a:xfrm>
            <a:off x="1121156" y="3649960"/>
            <a:ext cx="2950134" cy="939800"/>
          </a:xfrm>
          <a:prstGeom prst="rect">
            <a:avLst/>
          </a:prstGeom>
          <a:noFill/>
          <a:ln/>
        </p:spPr>
        <p:txBody>
          <a:bodyPr wrap="square" lIns="0" tIns="0" rIns="0" bIns="0" rtlCol="0" anchor="t"/>
          <a:lstStyle/>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Edit the profile file in Git</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Run terraform plan and apply</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Live within one cycle</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No code redeploy needed</a:t>
            </a:r>
            <a:endParaRPr lang="en-US" sz="1200" dirty="0"/>
          </a:p>
        </p:txBody>
      </p:sp>
      <p:sp>
        <p:nvSpPr>
          <p:cNvPr id="8" name="Shape 5"/>
          <p:cNvSpPr/>
          <p:nvPr/>
        </p:nvSpPr>
        <p:spPr>
          <a:xfrm>
            <a:off x="4405809" y="2691805"/>
            <a:ext cx="3380284" cy="2078930"/>
          </a:xfrm>
          <a:prstGeom prst="roundRect">
            <a:avLst>
              <a:gd name="adj" fmla="val 4734"/>
            </a:avLst>
          </a:prstGeom>
          <a:solidFill>
            <a:srgbClr val="FCFCF9"/>
          </a:solidFill>
          <a:ln w="6350">
            <a:solidFill>
              <a:srgbClr val="D8DCD2"/>
            </a:solidFill>
            <a:prstDash val="solid"/>
          </a:ln>
        </p:spPr>
        <p:txBody>
          <a:bodyPr/>
          <a:lstStyle/>
          <a:p>
            <a:endParaRPr lang="en-TH"/>
          </a:p>
        </p:txBody>
      </p:sp>
      <p:pic>
        <p:nvPicPr>
          <p:cNvPr id="9" name="Image 1" descr="Clock"/>
          <p:cNvPicPr>
            <a:picLocks noChangeAspect="1"/>
          </p:cNvPicPr>
          <p:nvPr/>
        </p:nvPicPr>
        <p:blipFill>
          <a:blip r:embed="rId4"/>
          <a:srcRect/>
          <a:stretch/>
        </p:blipFill>
        <p:spPr>
          <a:xfrm>
            <a:off x="4612184" y="2898180"/>
            <a:ext cx="304800" cy="304800"/>
          </a:xfrm>
          <a:prstGeom prst="rect">
            <a:avLst/>
          </a:prstGeom>
        </p:spPr>
      </p:pic>
      <p:sp>
        <p:nvSpPr>
          <p:cNvPr id="10" name="Text 6"/>
          <p:cNvSpPr/>
          <p:nvPr/>
        </p:nvSpPr>
        <p:spPr>
          <a:xfrm>
            <a:off x="4612184" y="3304580"/>
            <a:ext cx="30565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Work late or stop early</a:t>
            </a:r>
            <a:endParaRPr lang="en-US" sz="1600" dirty="0"/>
          </a:p>
        </p:txBody>
      </p:sp>
      <p:sp>
        <p:nvSpPr>
          <p:cNvPr id="11" name="Text 7"/>
          <p:cNvSpPr/>
          <p:nvPr/>
        </p:nvSpPr>
        <p:spPr>
          <a:xfrm>
            <a:off x="4710990" y="3649960"/>
            <a:ext cx="2950134" cy="939800"/>
          </a:xfrm>
          <a:prstGeom prst="rect">
            <a:avLst/>
          </a:prstGeom>
          <a:noFill/>
          <a:ln/>
        </p:spPr>
        <p:txBody>
          <a:bodyPr wrap="square" lIns="0" tIns="0" rIns="0" bIns="0" rtlCol="0" anchor="t"/>
          <a:lstStyle/>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Set an override state and end time</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Applied within 15 minutes</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Schedule resumes by itself</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Works on a resource or a group</a:t>
            </a:r>
            <a:endParaRPr lang="en-US" sz="1200" dirty="0"/>
          </a:p>
        </p:txBody>
      </p:sp>
      <p:sp>
        <p:nvSpPr>
          <p:cNvPr id="12" name="Shape 8"/>
          <p:cNvSpPr/>
          <p:nvPr/>
        </p:nvSpPr>
        <p:spPr>
          <a:xfrm>
            <a:off x="7995642" y="2691805"/>
            <a:ext cx="3380284" cy="2078930"/>
          </a:xfrm>
          <a:prstGeom prst="roundRect">
            <a:avLst>
              <a:gd name="adj" fmla="val 4734"/>
            </a:avLst>
          </a:prstGeom>
          <a:solidFill>
            <a:srgbClr val="FCFCF9"/>
          </a:solidFill>
          <a:ln w="6350">
            <a:solidFill>
              <a:srgbClr val="D8DCD2"/>
            </a:solidFill>
            <a:prstDash val="solid"/>
          </a:ln>
        </p:spPr>
        <p:txBody>
          <a:bodyPr/>
          <a:lstStyle/>
          <a:p>
            <a:endParaRPr lang="en-TH"/>
          </a:p>
        </p:txBody>
      </p:sp>
      <p:pic>
        <p:nvPicPr>
          <p:cNvPr id="13" name="Image 2" descr="Activity"/>
          <p:cNvPicPr>
            <a:picLocks noChangeAspect="1"/>
          </p:cNvPicPr>
          <p:nvPr/>
        </p:nvPicPr>
        <p:blipFill>
          <a:blip r:embed="rId5"/>
          <a:srcRect/>
          <a:stretch/>
        </p:blipFill>
        <p:spPr>
          <a:xfrm>
            <a:off x="8202017" y="2898180"/>
            <a:ext cx="304800" cy="304800"/>
          </a:xfrm>
          <a:prstGeom prst="rect">
            <a:avLst/>
          </a:prstGeom>
        </p:spPr>
      </p:pic>
      <p:sp>
        <p:nvSpPr>
          <p:cNvPr id="14" name="Text 9"/>
          <p:cNvSpPr/>
          <p:nvPr/>
        </p:nvSpPr>
        <p:spPr>
          <a:xfrm>
            <a:off x="8202017" y="3304580"/>
            <a:ext cx="30565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Watch it</a:t>
            </a:r>
            <a:endParaRPr lang="en-US" sz="1600" dirty="0"/>
          </a:p>
        </p:txBody>
      </p:sp>
      <p:sp>
        <p:nvSpPr>
          <p:cNvPr id="15" name="Text 10"/>
          <p:cNvSpPr/>
          <p:nvPr/>
        </p:nvSpPr>
        <p:spPr>
          <a:xfrm>
            <a:off x="8300823" y="3649960"/>
            <a:ext cx="2950134" cy="939800"/>
          </a:xfrm>
          <a:prstGeom prst="rect">
            <a:avLst/>
          </a:prstGeom>
          <a:noFill/>
          <a:ln/>
        </p:spPr>
        <p:txBody>
          <a:bodyPr wrap="square" lIns="0" tIns="0" rIns="0" bIns="0" rtlCol="0" anchor="t"/>
          <a:lstStyle/>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Two workbooks: actions, totals</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Alert if no cycle for 45 min</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Alert on repeated failures</a:t>
            </a:r>
            <a:endParaRPr lang="en-US" sz="1200" dirty="0"/>
          </a:p>
          <a:p>
            <a:pPr marL="155194" indent="-155194" algn="l">
              <a:lnSpc>
                <a:spcPts val="1800"/>
              </a:lnSpc>
              <a:buSzPct val="100000"/>
              <a:buChar char="•"/>
            </a:pPr>
            <a:r>
              <a:rPr lang="en-US" sz="1200" dirty="0">
                <a:solidFill>
                  <a:srgbClr val="4A5568"/>
                </a:solidFill>
                <a:latin typeface="IBM Plex Sans" pitchFamily="34" charset="0"/>
                <a:ea typeface="IBM Plex Sans" pitchFamily="34" charset="-122"/>
                <a:cs typeface="IBM Plex Sans" pitchFamily="34" charset="-120"/>
              </a:rPr>
              <a:t>Alert when the action cap is hit</a:t>
            </a:r>
            <a:endParaRPr lang="en-US" sz="1200" dirty="0"/>
          </a:p>
        </p:txBody>
      </p:sp>
      <p:sp>
        <p:nvSpPr>
          <p:cNvPr id="16" name="Text 11"/>
          <p:cNvSpPr/>
          <p:nvPr/>
        </p:nvSpPr>
        <p:spPr>
          <a:xfrm>
            <a:off x="812800" y="5831880"/>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Rollback is one setting: switch dry run back on, and the next cycle stops acting.</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
    <p:bg>
      <p:bgPr>
        <a:solidFill>
          <a:srgbClr val="1D4ED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FCE7C3"/>
                </a:solidFill>
                <a:latin typeface="IBM Plex Sans" pitchFamily="34" charset="0"/>
                <a:ea typeface="IBM Plex Sans" pitchFamily="34" charset="-122"/>
                <a:cs typeface="IBM Plex Sans" pitchFamily="34" charset="-120"/>
              </a:rPr>
              <a:t>WHAT IT COSTS TO RUN</a:t>
            </a:r>
            <a:endParaRPr lang="en-US" sz="1200" dirty="0"/>
          </a:p>
        </p:txBody>
      </p:sp>
      <p:sp>
        <p:nvSpPr>
          <p:cNvPr id="3" name="Text 1"/>
          <p:cNvSpPr>
            <a:spLocks noGrp="1"/>
          </p:cNvSpPr>
          <p:nvPr>
            <p:ph type="title"/>
          </p:nvPr>
        </p:nvSpPr>
        <p:spPr>
          <a:xfrm>
            <a:off x="812800" y="2343150"/>
            <a:ext cx="10883392" cy="825500"/>
          </a:xfrm>
          <a:prstGeom prst="rect">
            <a:avLst/>
          </a:prstGeom>
          <a:noFill/>
          <a:ln/>
        </p:spPr>
        <p:txBody>
          <a:bodyPr wrap="square" lIns="0" tIns="0" rIns="0" bIns="0" rtlCol="0" anchor="t"/>
          <a:lstStyle/>
          <a:p>
            <a:pPr marL="0" indent="0" algn="l">
              <a:lnSpc>
                <a:spcPts val="6300"/>
              </a:lnSpc>
              <a:buNone/>
            </a:pPr>
            <a:r>
              <a:rPr lang="en-US" sz="6000" b="1" i="0" dirty="0">
                <a:solidFill>
                  <a:srgbClr val="F4F5F0"/>
                </a:solidFill>
                <a:latin typeface="Space Grotesk" pitchFamily="34" charset="0"/>
                <a:ea typeface="Space Grotesk" pitchFamily="34" charset="-122"/>
                <a:cs typeface="Space Grotesk" pitchFamily="34" charset="-120"/>
              </a:rPr>
              <a:t>≈ USD 40 a month</a:t>
            </a:r>
            <a:endParaRPr lang="en-US" sz="6000" dirty="0"/>
          </a:p>
        </p:txBody>
      </p:sp>
      <p:sp>
        <p:nvSpPr>
          <p:cNvPr id="4" name="Text 2"/>
          <p:cNvSpPr/>
          <p:nvPr/>
        </p:nvSpPr>
        <p:spPr>
          <a:xfrm>
            <a:off x="812800" y="3346450"/>
            <a:ext cx="9156700" cy="685800"/>
          </a:xfrm>
          <a:prstGeom prst="rect">
            <a:avLst/>
          </a:prstGeom>
          <a:noFill/>
          <a:ln/>
        </p:spPr>
        <p:txBody>
          <a:bodyPr wrap="square" lIns="0" tIns="0" rIns="0" bIns="0" rtlCol="0" anchor="t"/>
          <a:lstStyle/>
          <a:p>
            <a:pPr marL="0" indent="0" algn="l">
              <a:lnSpc>
                <a:spcPts val="2600"/>
              </a:lnSpc>
              <a:buNone/>
            </a:pPr>
            <a:r>
              <a:rPr lang="en-US" sz="2000" dirty="0">
                <a:solidFill>
                  <a:srgbClr val="F4F5F0"/>
                </a:solidFill>
                <a:latin typeface="IBM Plex Sans" pitchFamily="34" charset="0"/>
                <a:ea typeface="IBM Plex Sans" pitchFamily="34" charset="-122"/>
                <a:cs typeface="IBM Plex Sans" pitchFamily="34" charset="-120"/>
              </a:rPr>
              <a:t>to run the scheduler for a whole tenant, inside our USD 50 target.</a:t>
            </a:r>
            <a:endParaRPr lang="en-US" sz="2000" dirty="0"/>
          </a:p>
        </p:txBody>
      </p:sp>
      <p:sp>
        <p:nvSpPr>
          <p:cNvPr id="5" name="Text 3"/>
          <p:cNvSpPr/>
          <p:nvPr/>
        </p:nvSpPr>
        <p:spPr>
          <a:xfrm>
            <a:off x="812800" y="4210050"/>
            <a:ext cx="9156700" cy="594320"/>
          </a:xfrm>
          <a:prstGeom prst="rect">
            <a:avLst/>
          </a:prstGeom>
          <a:noFill/>
          <a:ln/>
        </p:spPr>
        <p:txBody>
          <a:bodyPr wrap="square" lIns="0" tIns="0" rIns="0" bIns="0" rtlCol="0" anchor="t"/>
          <a:lstStyle/>
          <a:p>
            <a:pPr marL="0" indent="0" algn="l">
              <a:lnSpc>
                <a:spcPts val="2240"/>
              </a:lnSpc>
              <a:buNone/>
            </a:pPr>
            <a:r>
              <a:rPr lang="en-US" sz="1600" dirty="0">
                <a:solidFill>
                  <a:srgbClr val="E3EAFB"/>
                </a:solidFill>
                <a:latin typeface="IBM Plex Sans" pitchFamily="34" charset="0"/>
                <a:ea typeface="IBM Plex Sans" pitchFamily="34" charset="-122"/>
                <a:cs typeface="IBM Plex Sans" pitchFamily="34" charset="-120"/>
              </a:rPr>
              <a:t>Most of it is App Configuration (Standard tier, about USD 1.20 a day). The Function App itself costs almost nothing: about 2,900 short runs a month, mostly inside the free grant.</a:t>
            </a:r>
            <a:endParaRPr lang="en-US" sz="1600" dirty="0"/>
          </a:p>
        </p:txBody>
      </p:sp>
      <p:sp>
        <p:nvSpPr>
          <p:cNvPr id="6" name="Text 4"/>
          <p:cNvSpPr/>
          <p:nvPr/>
        </p:nvSpPr>
        <p:spPr>
          <a:xfrm>
            <a:off x="812800" y="6238280"/>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E3EAFB"/>
                </a:solidFill>
                <a:latin typeface="IBM Plex Sans" pitchFamily="34" charset="0"/>
                <a:ea typeface="IBM Plex Sans" pitchFamily="34" charset="-122"/>
                <a:cs typeface="IBM Plex Sans" pitchFamily="34" charset="-120"/>
              </a:rPr>
              <a:t>Estimate for a small tenant (NFR-008); confirm in the Azure Pricing Calculator. Large tenants can cut log volume (v0.7).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ROLLOUT TO EACH TENANT</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Rollout plan</a:t>
            </a:r>
            <a:endParaRPr lang="en-US" sz="3600" dirty="0"/>
          </a:p>
        </p:txBody>
      </p:sp>
      <p:sp>
        <p:nvSpPr>
          <p:cNvPr id="4" name="Shape 2"/>
          <p:cNvSpPr/>
          <p:nvPr/>
        </p:nvSpPr>
        <p:spPr>
          <a:xfrm>
            <a:off x="81597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5" name="Text 3"/>
          <p:cNvSpPr/>
          <p:nvPr/>
        </p:nvSpPr>
        <p:spPr>
          <a:xfrm>
            <a:off x="99695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1</a:t>
            </a:r>
            <a:endParaRPr lang="en-US" sz="1200" dirty="0"/>
          </a:p>
        </p:txBody>
      </p:sp>
      <p:sp>
        <p:nvSpPr>
          <p:cNvPr id="6" name="Text 4"/>
          <p:cNvSpPr/>
          <p:nvPr/>
        </p:nvSpPr>
        <p:spPr>
          <a:xfrm>
            <a:off x="99695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Settings</a:t>
            </a:r>
            <a:endParaRPr lang="en-US" sz="1600" dirty="0"/>
          </a:p>
        </p:txBody>
      </p:sp>
      <p:sp>
        <p:nvSpPr>
          <p:cNvPr id="7" name="Text 5"/>
          <p:cNvSpPr/>
          <p:nvPr/>
        </p:nvSpPr>
        <p:spPr>
          <a:xfrm>
            <a:off x="996950" y="3121720"/>
            <a:ext cx="13893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Scope, owners, prod tag</a:t>
            </a:r>
            <a:endParaRPr lang="en-US" sz="1200" dirty="0"/>
          </a:p>
        </p:txBody>
      </p:sp>
      <p:pic>
        <p:nvPicPr>
          <p:cNvPr id="8" name="Image 0" descr="arrow-right"/>
          <p:cNvPicPr>
            <a:picLocks noChangeAspect="1"/>
          </p:cNvPicPr>
          <p:nvPr/>
        </p:nvPicPr>
        <p:blipFill>
          <a:blip r:embed="rId3"/>
          <a:srcRect/>
          <a:stretch/>
        </p:blipFill>
        <p:spPr>
          <a:xfrm>
            <a:off x="2621260" y="3274020"/>
            <a:ext cx="304800" cy="152400"/>
          </a:xfrm>
          <a:prstGeom prst="rect">
            <a:avLst/>
          </a:prstGeom>
        </p:spPr>
      </p:pic>
      <p:sp>
        <p:nvSpPr>
          <p:cNvPr id="9" name="Shape 6"/>
          <p:cNvSpPr/>
          <p:nvPr/>
        </p:nvSpPr>
        <p:spPr>
          <a:xfrm>
            <a:off x="3030835" y="2331244"/>
            <a:ext cx="1700609"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10" name="Text 7"/>
          <p:cNvSpPr/>
          <p:nvPr/>
        </p:nvSpPr>
        <p:spPr>
          <a:xfrm>
            <a:off x="3211810" y="2512219"/>
            <a:ext cx="1389459"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2</a:t>
            </a:r>
            <a:endParaRPr lang="en-US" sz="1200" dirty="0"/>
          </a:p>
        </p:txBody>
      </p:sp>
      <p:sp>
        <p:nvSpPr>
          <p:cNvPr id="11" name="Text 8"/>
          <p:cNvSpPr/>
          <p:nvPr/>
        </p:nvSpPr>
        <p:spPr>
          <a:xfrm>
            <a:off x="3211810" y="2801739"/>
            <a:ext cx="1389459"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Deploy</a:t>
            </a:r>
            <a:endParaRPr lang="en-US" sz="1600" dirty="0"/>
          </a:p>
        </p:txBody>
      </p:sp>
      <p:sp>
        <p:nvSpPr>
          <p:cNvPr id="12" name="Text 9"/>
          <p:cNvSpPr/>
          <p:nvPr/>
        </p:nvSpPr>
        <p:spPr>
          <a:xfrm>
            <a:off x="3211810" y="3121720"/>
            <a:ext cx="1389459"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Terraform, code, then post-deploy checks</a:t>
            </a:r>
            <a:endParaRPr lang="en-US" sz="1200" dirty="0"/>
          </a:p>
        </p:txBody>
      </p:sp>
      <p:pic>
        <p:nvPicPr>
          <p:cNvPr id="13" name="Image 1" descr="arrow-right"/>
          <p:cNvPicPr>
            <a:picLocks noChangeAspect="1"/>
          </p:cNvPicPr>
          <p:nvPr/>
        </p:nvPicPr>
        <p:blipFill>
          <a:blip r:embed="rId3"/>
          <a:srcRect/>
          <a:stretch/>
        </p:blipFill>
        <p:spPr>
          <a:xfrm>
            <a:off x="4836220" y="3274020"/>
            <a:ext cx="304800" cy="152400"/>
          </a:xfrm>
          <a:prstGeom prst="rect">
            <a:avLst/>
          </a:prstGeom>
        </p:spPr>
      </p:pic>
      <p:sp>
        <p:nvSpPr>
          <p:cNvPr id="14" name="Shape 10"/>
          <p:cNvSpPr/>
          <p:nvPr/>
        </p:nvSpPr>
        <p:spPr>
          <a:xfrm>
            <a:off x="524579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15" name="Text 11"/>
          <p:cNvSpPr/>
          <p:nvPr/>
        </p:nvSpPr>
        <p:spPr>
          <a:xfrm>
            <a:off x="542677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3</a:t>
            </a:r>
            <a:endParaRPr lang="en-US" sz="1200" dirty="0"/>
          </a:p>
        </p:txBody>
      </p:sp>
      <p:sp>
        <p:nvSpPr>
          <p:cNvPr id="16" name="Text 12"/>
          <p:cNvSpPr/>
          <p:nvPr/>
        </p:nvSpPr>
        <p:spPr>
          <a:xfrm>
            <a:off x="542677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Dry run</a:t>
            </a:r>
            <a:endParaRPr lang="en-US" sz="1600" dirty="0"/>
          </a:p>
        </p:txBody>
      </p:sp>
      <p:sp>
        <p:nvSpPr>
          <p:cNvPr id="17" name="Text 13"/>
          <p:cNvSpPr/>
          <p:nvPr/>
        </p:nvSpPr>
        <p:spPr>
          <a:xfrm>
            <a:off x="5426770" y="3121720"/>
            <a:ext cx="1389360" cy="1092002"/>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At least one full business day; measure the peak</a:t>
            </a:r>
            <a:endParaRPr lang="en-US" sz="1200" dirty="0"/>
          </a:p>
        </p:txBody>
      </p:sp>
      <p:pic>
        <p:nvPicPr>
          <p:cNvPr id="18" name="Image 2" descr="arrow-right"/>
          <p:cNvPicPr>
            <a:picLocks noChangeAspect="1"/>
          </p:cNvPicPr>
          <p:nvPr/>
        </p:nvPicPr>
        <p:blipFill>
          <a:blip r:embed="rId3"/>
          <a:srcRect/>
          <a:stretch/>
        </p:blipFill>
        <p:spPr>
          <a:xfrm>
            <a:off x="7051080" y="3274020"/>
            <a:ext cx="304800" cy="152400"/>
          </a:xfrm>
          <a:prstGeom prst="rect">
            <a:avLst/>
          </a:prstGeom>
        </p:spPr>
      </p:pic>
      <p:sp>
        <p:nvSpPr>
          <p:cNvPr id="19" name="Shape 14"/>
          <p:cNvSpPr/>
          <p:nvPr/>
        </p:nvSpPr>
        <p:spPr>
          <a:xfrm>
            <a:off x="746065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20" name="Text 15"/>
          <p:cNvSpPr/>
          <p:nvPr/>
        </p:nvSpPr>
        <p:spPr>
          <a:xfrm>
            <a:off x="764163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4</a:t>
            </a:r>
            <a:endParaRPr lang="en-US" sz="1200" dirty="0"/>
          </a:p>
        </p:txBody>
      </p:sp>
      <p:sp>
        <p:nvSpPr>
          <p:cNvPr id="21" name="Text 16"/>
          <p:cNvSpPr/>
          <p:nvPr/>
        </p:nvSpPr>
        <p:spPr>
          <a:xfrm>
            <a:off x="7641630" y="2801739"/>
            <a:ext cx="13893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Go live</a:t>
            </a:r>
            <a:endParaRPr lang="en-US" sz="1600" dirty="0"/>
          </a:p>
        </p:txBody>
      </p:sp>
      <p:sp>
        <p:nvSpPr>
          <p:cNvPr id="22" name="Text 17"/>
          <p:cNvSpPr/>
          <p:nvPr/>
        </p:nvSpPr>
        <p:spPr>
          <a:xfrm>
            <a:off x="7641630" y="3121720"/>
            <a:ext cx="1389360" cy="87868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Only one setting changes: dry run off</a:t>
            </a:r>
            <a:endParaRPr lang="en-US" sz="1200" dirty="0"/>
          </a:p>
        </p:txBody>
      </p:sp>
      <p:pic>
        <p:nvPicPr>
          <p:cNvPr id="23" name="Image 3" descr="arrow-right"/>
          <p:cNvPicPr>
            <a:picLocks noChangeAspect="1"/>
          </p:cNvPicPr>
          <p:nvPr/>
        </p:nvPicPr>
        <p:blipFill>
          <a:blip r:embed="rId3"/>
          <a:srcRect/>
          <a:stretch/>
        </p:blipFill>
        <p:spPr>
          <a:xfrm>
            <a:off x="9265940" y="3274020"/>
            <a:ext cx="304800" cy="152400"/>
          </a:xfrm>
          <a:prstGeom prst="rect">
            <a:avLst/>
          </a:prstGeom>
        </p:spPr>
      </p:pic>
      <p:sp>
        <p:nvSpPr>
          <p:cNvPr id="24" name="Shape 18"/>
          <p:cNvSpPr/>
          <p:nvPr/>
        </p:nvSpPr>
        <p:spPr>
          <a:xfrm>
            <a:off x="9675515" y="2331244"/>
            <a:ext cx="1700510" cy="2038052"/>
          </a:xfrm>
          <a:prstGeom prst="roundRect">
            <a:avLst>
              <a:gd name="adj" fmla="val 5788"/>
            </a:avLst>
          </a:prstGeom>
          <a:solidFill>
            <a:srgbClr val="FCFCF9"/>
          </a:solidFill>
          <a:ln w="6350">
            <a:solidFill>
              <a:srgbClr val="D8DCD2"/>
            </a:solidFill>
            <a:prstDash val="solid"/>
          </a:ln>
        </p:spPr>
        <p:txBody>
          <a:bodyPr/>
          <a:lstStyle/>
          <a:p>
            <a:endParaRPr lang="en-TH"/>
          </a:p>
        </p:txBody>
      </p:sp>
      <p:sp>
        <p:nvSpPr>
          <p:cNvPr id="25" name="Text 19"/>
          <p:cNvSpPr/>
          <p:nvPr/>
        </p:nvSpPr>
        <p:spPr>
          <a:xfrm>
            <a:off x="9856490" y="2512219"/>
            <a:ext cx="1389360" cy="238720"/>
          </a:xfrm>
          <a:prstGeom prst="rect">
            <a:avLst/>
          </a:prstGeom>
          <a:noFill/>
          <a:ln/>
        </p:spPr>
        <p:txBody>
          <a:bodyPr wrap="square" lIns="0" tIns="0" rIns="0" bIns="0" rtlCol="0" anchor="t"/>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STEP 5</a:t>
            </a:r>
            <a:endParaRPr lang="en-US" sz="1200" dirty="0"/>
          </a:p>
        </p:txBody>
      </p:sp>
      <p:sp>
        <p:nvSpPr>
          <p:cNvPr id="26" name="Text 20"/>
          <p:cNvSpPr/>
          <p:nvPr/>
        </p:nvSpPr>
        <p:spPr>
          <a:xfrm>
            <a:off x="9856490" y="2801739"/>
            <a:ext cx="1389360" cy="512961"/>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First live day</a:t>
            </a:r>
            <a:endParaRPr lang="en-US" sz="1600" dirty="0"/>
          </a:p>
        </p:txBody>
      </p:sp>
      <p:sp>
        <p:nvSpPr>
          <p:cNvPr id="27" name="Text 21"/>
          <p:cNvSpPr/>
          <p:nvPr/>
        </p:nvSpPr>
        <p:spPr>
          <a:xfrm>
            <a:off x="9856490" y="3365500"/>
            <a:ext cx="13893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Morning starts and evening stops confirmed</a:t>
            </a:r>
            <a:endParaRPr lang="en-US" sz="1200" dirty="0"/>
          </a:p>
        </p:txBody>
      </p:sp>
      <p:sp>
        <p:nvSpPr>
          <p:cNvPr id="28" name="Text 22"/>
          <p:cNvSpPr/>
          <p:nvPr/>
        </p:nvSpPr>
        <p:spPr>
          <a:xfrm>
            <a:off x="812800" y="5069880"/>
            <a:ext cx="10566400" cy="975320"/>
          </a:xfrm>
          <a:prstGeom prst="roundRect">
            <a:avLst>
              <a:gd name="adj" fmla="val 10417"/>
            </a:avLst>
          </a:prstGeom>
          <a:solidFill>
            <a:srgbClr val="E3EAFB"/>
          </a:solidFill>
          <a:ln/>
        </p:spPr>
        <p:txBody>
          <a:bodyPr wrap="square" lIns="173442" tIns="173442" rIns="0" bIns="148042" rtlCol="0" anchor="t"/>
          <a:lstStyle/>
          <a:p>
            <a:pPr marL="0" indent="0" algn="l">
              <a:lnSpc>
                <a:spcPts val="2240"/>
              </a:lnSpc>
              <a:buNone/>
            </a:pPr>
            <a:r>
              <a:rPr lang="en-US" sz="1600" b="1" dirty="0">
                <a:solidFill>
                  <a:srgbClr val="0F1B2D"/>
                </a:solidFill>
                <a:latin typeface="IBM Plex Sans" pitchFamily="34" charset="0"/>
                <a:ea typeface="IBM Plex Sans" pitchFamily="34" charset="-122"/>
                <a:cs typeface="IBM Plex Sans" pitchFamily="34" charset="-120"/>
              </a:rPr>
              <a:t>Rollback is one setting.</a:t>
            </a:r>
            <a:r>
              <a:rPr lang="en-US" sz="1600" dirty="0">
                <a:solidFill>
                  <a:srgbClr val="0F1B2D"/>
                </a:solidFill>
                <a:latin typeface="IBM Plex Sans" pitchFamily="34" charset="0"/>
                <a:ea typeface="IBM Plex Sans" pitchFamily="34" charset="-122"/>
                <a:cs typeface="IBM Plex Sans" pitchFamily="34" charset="-120"/>
              </a:rPr>
              <a:t> Switch dry run back on and the next cycle stops acting. Runbook: docs/VERIFICATION.md.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WHAT COMES NEXT</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Roadmap</a:t>
            </a:r>
            <a:endParaRPr lang="en-US" sz="3600" dirty="0"/>
          </a:p>
        </p:txBody>
      </p:sp>
      <p:sp>
        <p:nvSpPr>
          <p:cNvPr id="4" name="Shape 2"/>
          <p:cNvSpPr/>
          <p:nvPr/>
        </p:nvSpPr>
        <p:spPr>
          <a:xfrm>
            <a:off x="815975" y="2836664"/>
            <a:ext cx="3380284" cy="1789212"/>
          </a:xfrm>
          <a:prstGeom prst="roundRect">
            <a:avLst>
              <a:gd name="adj" fmla="val 5501"/>
            </a:avLst>
          </a:prstGeom>
          <a:solidFill>
            <a:srgbClr val="FCFCF9"/>
          </a:solidFill>
          <a:ln w="6350">
            <a:solidFill>
              <a:srgbClr val="D8DCD2"/>
            </a:solidFill>
            <a:prstDash val="solid"/>
          </a:ln>
        </p:spPr>
        <p:txBody>
          <a:bodyPr/>
          <a:lstStyle/>
          <a:p>
            <a:endParaRPr lang="en-TH"/>
          </a:p>
        </p:txBody>
      </p:sp>
      <p:sp>
        <p:nvSpPr>
          <p:cNvPr id="5" name="Text 3"/>
          <p:cNvSpPr/>
          <p:nvPr/>
        </p:nvSpPr>
        <p:spPr>
          <a:xfrm>
            <a:off x="1022350" y="3043039"/>
            <a:ext cx="1690787" cy="289520"/>
          </a:xfrm>
          <a:custGeom>
            <a:avLst/>
            <a:gdLst/>
            <a:ahLst/>
            <a:cxnLst/>
            <a:rect l="l" t="t" r="r" b="b"/>
            <a:pathLst>
              <a:path w="1690787" h="289520">
                <a:moveTo>
                  <a:pt x="144760" y="0"/>
                </a:moveTo>
                <a:lnTo>
                  <a:pt x="1546027" y="0"/>
                </a:lnTo>
                <a:arcTo wR="144760" hR="144760" stAng="16200000" swAng="5400000"/>
                <a:lnTo>
                  <a:pt x="1690787" y="144760"/>
                </a:lnTo>
                <a:arcTo wR="144760" hR="144760" stAng="0" swAng="5400000"/>
                <a:lnTo>
                  <a:pt x="144760" y="289520"/>
                </a:lnTo>
                <a:arcTo wR="144760" hR="144760" stAng="5400000" swAng="5400000"/>
                <a:lnTo>
                  <a:pt x="0" y="144760"/>
                </a:lnTo>
                <a:arcTo wR="144760" hR="144760" stAng="10800000" swAng="5400000"/>
                <a:close/>
              </a:path>
            </a:pathLst>
          </a:custGeom>
          <a:solidFill>
            <a:srgbClr val="E3EAFB"/>
          </a:solidFill>
          <a:ln/>
        </p:spPr>
        <p:txBody>
          <a:bodyPr wrap="none" lIns="0" tIns="0" rIns="0" bIns="0" rtlCol="0" anchor="ctr"/>
          <a:lstStyle/>
          <a:p>
            <a:pPr marL="0" indent="0" algn="ctr">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Done · v0.7</a:t>
            </a:r>
            <a:endParaRPr lang="en-US" sz="1200" dirty="0"/>
          </a:p>
        </p:txBody>
      </p:sp>
      <p:sp>
        <p:nvSpPr>
          <p:cNvPr id="6" name="Text 4"/>
          <p:cNvSpPr/>
          <p:nvPr/>
        </p:nvSpPr>
        <p:spPr>
          <a:xfrm>
            <a:off x="1022350" y="3434159"/>
            <a:ext cx="30565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Large-tenant scaling</a:t>
            </a:r>
            <a:endParaRPr lang="en-US" sz="1600" dirty="0"/>
          </a:p>
        </p:txBody>
      </p:sp>
      <p:sp>
        <p:nvSpPr>
          <p:cNvPr id="7" name="Text 5"/>
          <p:cNvSpPr/>
          <p:nvPr/>
        </p:nvSpPr>
        <p:spPr>
          <a:xfrm>
            <a:off x="1022350" y="3779540"/>
            <a:ext cx="30565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Parallel submission, a longer time budget and lower log volume for thousands of resources.</a:t>
            </a:r>
            <a:endParaRPr lang="en-US" sz="1200" dirty="0"/>
          </a:p>
        </p:txBody>
      </p:sp>
      <p:sp>
        <p:nvSpPr>
          <p:cNvPr id="8" name="Shape 6"/>
          <p:cNvSpPr/>
          <p:nvPr/>
        </p:nvSpPr>
        <p:spPr>
          <a:xfrm>
            <a:off x="4405809" y="2836664"/>
            <a:ext cx="3380284" cy="1789212"/>
          </a:xfrm>
          <a:prstGeom prst="roundRect">
            <a:avLst>
              <a:gd name="adj" fmla="val 5501"/>
            </a:avLst>
          </a:prstGeom>
          <a:solidFill>
            <a:srgbClr val="FCFCF9"/>
          </a:solidFill>
          <a:ln w="6350">
            <a:solidFill>
              <a:srgbClr val="D8DCD2"/>
            </a:solidFill>
            <a:prstDash val="solid"/>
          </a:ln>
        </p:spPr>
        <p:txBody>
          <a:bodyPr/>
          <a:lstStyle/>
          <a:p>
            <a:endParaRPr lang="en-TH"/>
          </a:p>
        </p:txBody>
      </p:sp>
      <p:sp>
        <p:nvSpPr>
          <p:cNvPr id="9" name="Text 7"/>
          <p:cNvSpPr/>
          <p:nvPr/>
        </p:nvSpPr>
        <p:spPr>
          <a:xfrm>
            <a:off x="4612184" y="3043039"/>
            <a:ext cx="1257895" cy="289520"/>
          </a:xfrm>
          <a:custGeom>
            <a:avLst/>
            <a:gdLst/>
            <a:ahLst/>
            <a:cxnLst/>
            <a:rect l="l" t="t" r="r" b="b"/>
            <a:pathLst>
              <a:path w="1257895" h="289520">
                <a:moveTo>
                  <a:pt x="144760" y="0"/>
                </a:moveTo>
                <a:lnTo>
                  <a:pt x="1113135" y="0"/>
                </a:lnTo>
                <a:arcTo wR="144760" hR="144760" stAng="16200000" swAng="5400000"/>
                <a:lnTo>
                  <a:pt x="1257895" y="144760"/>
                </a:lnTo>
                <a:arcTo wR="144760" hR="144760" stAng="0" swAng="5400000"/>
                <a:lnTo>
                  <a:pt x="144760" y="289520"/>
                </a:lnTo>
                <a:arcTo wR="144760" hR="144760" stAng="5400000" swAng="5400000"/>
                <a:lnTo>
                  <a:pt x="0" y="144760"/>
                </a:lnTo>
                <a:arcTo wR="144760" hR="144760" stAng="10800000" swAng="5400000"/>
                <a:close/>
              </a:path>
            </a:pathLst>
          </a:custGeom>
          <a:solidFill>
            <a:srgbClr val="E3EAFB"/>
          </a:solidFill>
          <a:ln/>
        </p:spPr>
        <p:txBody>
          <a:bodyPr wrap="none" lIns="0" tIns="0" rIns="0" bIns="0" rtlCol="0" anchor="ctr"/>
          <a:lstStyle/>
          <a:p>
            <a:pPr marL="0" indent="0" algn="ctr">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Decided</a:t>
            </a:r>
            <a:endParaRPr lang="en-US" sz="1200" dirty="0"/>
          </a:p>
        </p:txBody>
      </p:sp>
      <p:sp>
        <p:nvSpPr>
          <p:cNvPr id="10" name="Text 8"/>
          <p:cNvSpPr/>
          <p:nvPr/>
        </p:nvSpPr>
        <p:spPr>
          <a:xfrm>
            <a:off x="4612184" y="3434159"/>
            <a:ext cx="30565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On-demand and holidays</a:t>
            </a:r>
            <a:endParaRPr lang="en-US" sz="1600" dirty="0"/>
          </a:p>
        </p:txBody>
      </p:sp>
      <p:sp>
        <p:nvSpPr>
          <p:cNvPr id="11" name="Text 9"/>
          <p:cNvSpPr/>
          <p:nvPr/>
        </p:nvSpPr>
        <p:spPr>
          <a:xfrm>
            <a:off x="4612184" y="3779540"/>
            <a:ext cx="3056560" cy="45204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 secured endpoint that sets a 4-hour override, and holiday calendars that keep resources stopped.</a:t>
            </a:r>
            <a:endParaRPr lang="en-US" sz="1200" dirty="0"/>
          </a:p>
        </p:txBody>
      </p:sp>
      <p:sp>
        <p:nvSpPr>
          <p:cNvPr id="12" name="Shape 10"/>
          <p:cNvSpPr/>
          <p:nvPr/>
        </p:nvSpPr>
        <p:spPr>
          <a:xfrm>
            <a:off x="7995642" y="2836664"/>
            <a:ext cx="3380284" cy="1789212"/>
          </a:xfrm>
          <a:prstGeom prst="roundRect">
            <a:avLst>
              <a:gd name="adj" fmla="val 5501"/>
            </a:avLst>
          </a:prstGeom>
          <a:solidFill>
            <a:srgbClr val="FCFCF9"/>
          </a:solidFill>
          <a:ln w="6350">
            <a:solidFill>
              <a:srgbClr val="8A93A0"/>
            </a:solidFill>
            <a:prstDash val="dash"/>
          </a:ln>
        </p:spPr>
        <p:txBody>
          <a:bodyPr/>
          <a:lstStyle/>
          <a:p>
            <a:endParaRPr lang="en-TH"/>
          </a:p>
        </p:txBody>
      </p:sp>
      <p:sp>
        <p:nvSpPr>
          <p:cNvPr id="13" name="Text 11"/>
          <p:cNvSpPr/>
          <p:nvPr/>
        </p:nvSpPr>
        <p:spPr>
          <a:xfrm>
            <a:off x="8202017" y="3043039"/>
            <a:ext cx="1312267" cy="289520"/>
          </a:xfrm>
          <a:custGeom>
            <a:avLst/>
            <a:gdLst/>
            <a:ahLst/>
            <a:cxnLst/>
            <a:rect l="l" t="t" r="r" b="b"/>
            <a:pathLst>
              <a:path w="1312267" h="289520">
                <a:moveTo>
                  <a:pt x="144760" y="0"/>
                </a:moveTo>
                <a:lnTo>
                  <a:pt x="1167507" y="0"/>
                </a:lnTo>
                <a:arcTo wR="144760" hR="144760" stAng="16200000" swAng="5400000"/>
                <a:lnTo>
                  <a:pt x="1312267" y="144760"/>
                </a:lnTo>
                <a:arcTo wR="144760" hR="144760" stAng="0" swAng="5400000"/>
                <a:lnTo>
                  <a:pt x="144760" y="289520"/>
                </a:lnTo>
                <a:arcTo wR="144760" hR="144760" stAng="5400000" swAng="5400000"/>
                <a:lnTo>
                  <a:pt x="0" y="144760"/>
                </a:lnTo>
                <a:arcTo wR="144760" hR="144760" stAng="10800000" swAng="5400000"/>
                <a:close/>
              </a:path>
            </a:pathLst>
          </a:custGeom>
          <a:solidFill>
            <a:srgbClr val="E9ECE4"/>
          </a:solidFill>
          <a:ln/>
        </p:spPr>
        <p:txBody>
          <a:bodyPr wrap="none" lIns="0" tIns="0" rIns="0" bIns="0" rtlCol="0" anchor="ctr"/>
          <a:lstStyle/>
          <a:p>
            <a:pPr marL="0" indent="0" algn="ctr">
              <a:lnSpc>
                <a:spcPts val="1680"/>
              </a:lnSpc>
              <a:buNone/>
            </a:pPr>
            <a:r>
              <a:rPr lang="en-US" sz="1200" b="1" dirty="0">
                <a:solidFill>
                  <a:srgbClr val="4A5568"/>
                </a:solidFill>
                <a:latin typeface="IBM Plex Sans" pitchFamily="34" charset="0"/>
                <a:ea typeface="IBM Plex Sans" pitchFamily="34" charset="-122"/>
                <a:cs typeface="IBM Plex Sans" pitchFamily="34" charset="-120"/>
              </a:rPr>
              <a:t>Backlog</a:t>
            </a:r>
            <a:endParaRPr lang="en-US" sz="1200" dirty="0"/>
          </a:p>
        </p:txBody>
      </p:sp>
      <p:sp>
        <p:nvSpPr>
          <p:cNvPr id="14" name="Text 12"/>
          <p:cNvSpPr/>
          <p:nvPr/>
        </p:nvSpPr>
        <p:spPr>
          <a:xfrm>
            <a:off x="8202017" y="3434159"/>
            <a:ext cx="3056560" cy="269180"/>
          </a:xfrm>
          <a:prstGeom prst="rect">
            <a:avLst/>
          </a:prstGeom>
          <a:noFill/>
          <a:ln/>
        </p:spPr>
        <p:txBody>
          <a:bodyPr wrap="square" lIns="0" tIns="0" rIns="0" bIns="0" rtlCol="0" anchor="t"/>
          <a:lstStyle/>
          <a:p>
            <a:pPr marL="0" indent="0" algn="l">
              <a:lnSpc>
                <a:spcPts val="1920"/>
              </a:lnSpc>
              <a:buNone/>
            </a:pPr>
            <a:r>
              <a:rPr lang="en-US" sz="1600" b="1" dirty="0">
                <a:solidFill>
                  <a:srgbClr val="0F1B2D"/>
                </a:solidFill>
                <a:latin typeface="Space Grotesk" pitchFamily="34" charset="0"/>
                <a:ea typeface="Space Grotesk" pitchFamily="34" charset="-122"/>
                <a:cs typeface="Space Grotesk" pitchFamily="34" charset="-120"/>
              </a:rPr>
              <a:t>Container services</a:t>
            </a:r>
            <a:endParaRPr lang="en-US" sz="1600" dirty="0"/>
          </a:p>
        </p:txBody>
      </p:sp>
      <p:sp>
        <p:nvSpPr>
          <p:cNvPr id="15" name="Text 13"/>
          <p:cNvSpPr/>
          <p:nvPr/>
        </p:nvSpPr>
        <p:spPr>
          <a:xfrm>
            <a:off x="8202017" y="3779540"/>
            <a:ext cx="3056560" cy="665361"/>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Container Instances first, then Container Apps where they keep replicas running.</a:t>
            </a:r>
            <a:endParaRPr lang="en-US" sz="1200" dirty="0"/>
          </a:p>
        </p:txBody>
      </p:sp>
      <p:sp>
        <p:nvSpPr>
          <p:cNvPr id="16" name="Text 14"/>
          <p:cNvSpPr/>
          <p:nvPr/>
        </p:nvSpPr>
        <p:spPr>
          <a:xfrm>
            <a:off x="812800" y="5831880"/>
            <a:ext cx="10883392" cy="238720"/>
          </a:xfrm>
          <a:prstGeom prst="rect">
            <a:avLst/>
          </a:prstGeom>
          <a:noFill/>
          <a:ln/>
        </p:spPr>
        <p:txBody>
          <a:bodyPr wrap="square" lIns="0" tIns="0" rIns="0" bIns="0" rtlCol="0" anchor="t"/>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Decided: D-03, D-05, D-07. Under consideration: private endpoints, pipeline deployment. Production stays excluded (D-06).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E8A33D"/>
                </a:solidFill>
                <a:latin typeface="IBM Plex Sans" pitchFamily="34" charset="0"/>
                <a:ea typeface="IBM Plex Sans" pitchFamily="34" charset="-122"/>
                <a:cs typeface="IBM Plex Sans" pitchFamily="34" charset="-120"/>
              </a:rPr>
              <a:t>WHAT WE NEED FROM YOU</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F4F5F0"/>
                </a:solidFill>
                <a:latin typeface="Space Grotesk" pitchFamily="34" charset="0"/>
                <a:ea typeface="Space Grotesk" pitchFamily="34" charset="-122"/>
                <a:cs typeface="Space Grotesk" pitchFamily="34" charset="-120"/>
              </a:rPr>
              <a:t>Decisions and asks</a:t>
            </a:r>
            <a:endParaRPr lang="en-US" sz="3600" dirty="0"/>
          </a:p>
        </p:txBody>
      </p:sp>
      <p:sp>
        <p:nvSpPr>
          <p:cNvPr id="4" name="Shape 2"/>
          <p:cNvSpPr/>
          <p:nvPr/>
        </p:nvSpPr>
        <p:spPr>
          <a:xfrm>
            <a:off x="815975" y="2934692"/>
            <a:ext cx="5175250" cy="1448891"/>
          </a:xfrm>
          <a:prstGeom prst="roundRect">
            <a:avLst>
              <a:gd name="adj" fmla="val 6793"/>
            </a:avLst>
          </a:prstGeom>
          <a:solidFill>
            <a:srgbClr val="18273D"/>
          </a:solidFill>
          <a:ln w="6350">
            <a:solidFill>
              <a:srgbClr val="2E4060"/>
            </a:solidFill>
            <a:prstDash val="solid"/>
          </a:ln>
        </p:spPr>
        <p:txBody>
          <a:bodyPr/>
          <a:lstStyle/>
          <a:p>
            <a:endParaRPr lang="en-TH"/>
          </a:p>
        </p:txBody>
      </p:sp>
      <p:sp>
        <p:nvSpPr>
          <p:cNvPr id="5" name="Text 3"/>
          <p:cNvSpPr/>
          <p:nvPr/>
        </p:nvSpPr>
        <p:spPr>
          <a:xfrm>
            <a:off x="1022350" y="3141067"/>
            <a:ext cx="4905375" cy="269180"/>
          </a:xfrm>
          <a:prstGeom prst="rect">
            <a:avLst/>
          </a:prstGeom>
          <a:noFill/>
          <a:ln/>
        </p:spPr>
        <p:txBody>
          <a:bodyPr wrap="square" lIns="0" tIns="0" rIns="0" bIns="0" rtlCol="0" anchor="t"/>
          <a:lstStyle/>
          <a:p>
            <a:pPr marL="0" indent="0" algn="l">
              <a:lnSpc>
                <a:spcPts val="1920"/>
              </a:lnSpc>
              <a:buNone/>
            </a:pPr>
            <a:r>
              <a:rPr lang="en-US" sz="1600" b="1" dirty="0">
                <a:solidFill>
                  <a:srgbClr val="F4F5F0"/>
                </a:solidFill>
                <a:latin typeface="Space Grotesk" pitchFamily="34" charset="0"/>
                <a:ea typeface="Space Grotesk" pitchFamily="34" charset="-122"/>
                <a:cs typeface="Space Grotesk" pitchFamily="34" charset="-120"/>
              </a:rPr>
              <a:t>Approve the rollout</a:t>
            </a:r>
            <a:endParaRPr lang="en-US" sz="1600" dirty="0"/>
          </a:p>
        </p:txBody>
      </p:sp>
      <p:sp>
        <p:nvSpPr>
          <p:cNvPr id="6" name="Text 4"/>
          <p:cNvSpPr/>
          <p:nvPr/>
        </p:nvSpPr>
        <p:spPr>
          <a:xfrm>
            <a:off x="1022350" y="3461048"/>
            <a:ext cx="4905375" cy="452041"/>
          </a:xfrm>
          <a:prstGeom prst="rect">
            <a:avLst/>
          </a:prstGeom>
          <a:noFill/>
          <a:ln/>
        </p:spPr>
        <p:txBody>
          <a:bodyPr wrap="square" lIns="0" tIns="0" rIns="0" bIns="0" rtlCol="0" anchor="t"/>
          <a:lstStyle/>
          <a:p>
            <a:pPr marL="0" indent="0" algn="l">
              <a:lnSpc>
                <a:spcPts val="1680"/>
              </a:lnSpc>
              <a:buNone/>
            </a:pPr>
            <a:r>
              <a:rPr lang="en-US" sz="1200" dirty="0">
                <a:solidFill>
                  <a:srgbClr val="C9D3E0"/>
                </a:solidFill>
                <a:latin typeface="IBM Plex Sans" pitchFamily="34" charset="0"/>
                <a:ea typeface="IBM Plex Sans" pitchFamily="34" charset="-122"/>
                <a:cs typeface="IBM Plex Sans" pitchFamily="34" charset="-120"/>
              </a:rPr>
              <a:t>Roll out to our tenant with the runbook, starting with a full business day in dry run.</a:t>
            </a:r>
            <a:endParaRPr lang="en-US" sz="1200" dirty="0"/>
          </a:p>
        </p:txBody>
      </p:sp>
      <p:sp>
        <p:nvSpPr>
          <p:cNvPr id="7" name="Text 5"/>
          <p:cNvSpPr/>
          <p:nvPr/>
        </p:nvSpPr>
        <p:spPr>
          <a:xfrm>
            <a:off x="1022350" y="3963888"/>
            <a:ext cx="4905375" cy="238720"/>
          </a:xfrm>
          <a:prstGeom prst="rect">
            <a:avLst/>
          </a:prstGeom>
          <a:noFill/>
          <a:ln/>
        </p:spPr>
        <p:txBody>
          <a:bodyPr wrap="square" lIns="0" tIns="0" rIns="0" bIns="0" rtlCol="0" anchor="t"/>
          <a:lstStyle/>
          <a:p>
            <a:pPr marL="0" indent="0" algn="l">
              <a:lnSpc>
                <a:spcPts val="1680"/>
              </a:lnSpc>
              <a:buNone/>
            </a:pPr>
            <a:r>
              <a:rPr lang="en-US" sz="1200" b="1" dirty="0">
                <a:solidFill>
                  <a:srgbClr val="E8A33D"/>
                </a:solidFill>
                <a:latin typeface="IBM Plex Sans" pitchFamily="34" charset="0"/>
                <a:ea typeface="IBM Plex Sans" pitchFamily="34" charset="-122"/>
                <a:cs typeface="IBM Plex Sans" pitchFamily="34" charset="-120"/>
              </a:rPr>
              <a:t>Owner: [Approver]</a:t>
            </a:r>
            <a:endParaRPr lang="en-US" sz="1200" dirty="0"/>
          </a:p>
        </p:txBody>
      </p:sp>
      <p:sp>
        <p:nvSpPr>
          <p:cNvPr id="8" name="Shape 6"/>
          <p:cNvSpPr/>
          <p:nvPr/>
        </p:nvSpPr>
        <p:spPr>
          <a:xfrm>
            <a:off x="6200775" y="2934692"/>
            <a:ext cx="5175250" cy="1448891"/>
          </a:xfrm>
          <a:prstGeom prst="roundRect">
            <a:avLst>
              <a:gd name="adj" fmla="val 6793"/>
            </a:avLst>
          </a:prstGeom>
          <a:solidFill>
            <a:srgbClr val="18273D"/>
          </a:solidFill>
          <a:ln w="6350">
            <a:solidFill>
              <a:srgbClr val="2E4060"/>
            </a:solidFill>
            <a:prstDash val="solid"/>
          </a:ln>
        </p:spPr>
        <p:txBody>
          <a:bodyPr/>
          <a:lstStyle/>
          <a:p>
            <a:endParaRPr lang="en-TH"/>
          </a:p>
        </p:txBody>
      </p:sp>
      <p:sp>
        <p:nvSpPr>
          <p:cNvPr id="9" name="Text 7"/>
          <p:cNvSpPr/>
          <p:nvPr/>
        </p:nvSpPr>
        <p:spPr>
          <a:xfrm>
            <a:off x="6407150" y="3141067"/>
            <a:ext cx="4905375" cy="269180"/>
          </a:xfrm>
          <a:prstGeom prst="rect">
            <a:avLst/>
          </a:prstGeom>
          <a:noFill/>
          <a:ln/>
        </p:spPr>
        <p:txBody>
          <a:bodyPr wrap="square" lIns="0" tIns="0" rIns="0" bIns="0" rtlCol="0" anchor="t"/>
          <a:lstStyle/>
          <a:p>
            <a:pPr marL="0" indent="0" algn="l">
              <a:lnSpc>
                <a:spcPts val="1920"/>
              </a:lnSpc>
              <a:buNone/>
            </a:pPr>
            <a:r>
              <a:rPr lang="en-US" sz="1600" b="1" dirty="0">
                <a:solidFill>
                  <a:srgbClr val="F4F5F0"/>
                </a:solidFill>
                <a:latin typeface="Space Grotesk" pitchFamily="34" charset="0"/>
                <a:ea typeface="Space Grotesk" pitchFamily="34" charset="-122"/>
                <a:cs typeface="Space Grotesk" pitchFamily="34" charset="-120"/>
              </a:rPr>
              <a:t>Keep production tags enforced</a:t>
            </a:r>
            <a:endParaRPr lang="en-US" sz="1600" dirty="0"/>
          </a:p>
        </p:txBody>
      </p:sp>
      <p:sp>
        <p:nvSpPr>
          <p:cNvPr id="10" name="Text 8"/>
          <p:cNvSpPr/>
          <p:nvPr/>
        </p:nvSpPr>
        <p:spPr>
          <a:xfrm>
            <a:off x="6407150" y="3461048"/>
            <a:ext cx="4905375" cy="452041"/>
          </a:xfrm>
          <a:prstGeom prst="rect">
            <a:avLst/>
          </a:prstGeom>
          <a:noFill/>
          <a:ln/>
        </p:spPr>
        <p:txBody>
          <a:bodyPr wrap="square" lIns="0" tIns="0" rIns="0" bIns="0" rtlCol="0" anchor="t"/>
          <a:lstStyle/>
          <a:p>
            <a:pPr marL="0" indent="0" algn="l">
              <a:lnSpc>
                <a:spcPts val="1680"/>
              </a:lnSpc>
              <a:buNone/>
            </a:pPr>
            <a:r>
              <a:rPr lang="en-US" sz="1200" dirty="0">
                <a:solidFill>
                  <a:srgbClr val="C9D3E0"/>
                </a:solidFill>
                <a:latin typeface="IBM Plex Sans" pitchFamily="34" charset="0"/>
                <a:ea typeface="IBM Plex Sans" pitchFamily="34" charset="-122"/>
                <a:cs typeface="IBM Plex Sans" pitchFamily="34" charset="-120"/>
              </a:rPr>
              <a:t>Azure Policy keeps environment=prod on every production subscription (A-08).</a:t>
            </a:r>
            <a:endParaRPr lang="en-US" sz="1200" dirty="0"/>
          </a:p>
        </p:txBody>
      </p:sp>
      <p:sp>
        <p:nvSpPr>
          <p:cNvPr id="11" name="Text 9"/>
          <p:cNvSpPr/>
          <p:nvPr/>
        </p:nvSpPr>
        <p:spPr>
          <a:xfrm>
            <a:off x="6407150" y="3963888"/>
            <a:ext cx="4905375" cy="238720"/>
          </a:xfrm>
          <a:prstGeom prst="rect">
            <a:avLst/>
          </a:prstGeom>
          <a:noFill/>
          <a:ln/>
        </p:spPr>
        <p:txBody>
          <a:bodyPr wrap="square" lIns="0" tIns="0" rIns="0" bIns="0" rtlCol="0" anchor="t"/>
          <a:lstStyle/>
          <a:p>
            <a:pPr marL="0" indent="0" algn="l">
              <a:lnSpc>
                <a:spcPts val="1680"/>
              </a:lnSpc>
              <a:buNone/>
            </a:pPr>
            <a:r>
              <a:rPr lang="en-US" sz="1200" b="1" dirty="0">
                <a:solidFill>
                  <a:srgbClr val="E8A33D"/>
                </a:solidFill>
                <a:latin typeface="IBM Plex Sans" pitchFamily="34" charset="0"/>
                <a:ea typeface="IBM Plex Sans" pitchFamily="34" charset="-122"/>
                <a:cs typeface="IBM Plex Sans" pitchFamily="34" charset="-120"/>
              </a:rPr>
              <a:t>Owner: Governance</a:t>
            </a:r>
            <a:endParaRPr lang="en-US" sz="1200" dirty="0"/>
          </a:p>
        </p:txBody>
      </p:sp>
      <p:sp>
        <p:nvSpPr>
          <p:cNvPr id="12" name="Shape 10"/>
          <p:cNvSpPr/>
          <p:nvPr/>
        </p:nvSpPr>
        <p:spPr>
          <a:xfrm>
            <a:off x="815975" y="4593134"/>
            <a:ext cx="5175250" cy="1448891"/>
          </a:xfrm>
          <a:prstGeom prst="roundRect">
            <a:avLst>
              <a:gd name="adj" fmla="val 6793"/>
            </a:avLst>
          </a:prstGeom>
          <a:solidFill>
            <a:srgbClr val="18273D"/>
          </a:solidFill>
          <a:ln w="6350">
            <a:solidFill>
              <a:srgbClr val="2E4060"/>
            </a:solidFill>
            <a:prstDash val="solid"/>
          </a:ln>
        </p:spPr>
        <p:txBody>
          <a:bodyPr/>
          <a:lstStyle/>
          <a:p>
            <a:endParaRPr lang="en-TH"/>
          </a:p>
        </p:txBody>
      </p:sp>
      <p:sp>
        <p:nvSpPr>
          <p:cNvPr id="13" name="Text 11"/>
          <p:cNvSpPr/>
          <p:nvPr/>
        </p:nvSpPr>
        <p:spPr>
          <a:xfrm>
            <a:off x="1022350" y="4799509"/>
            <a:ext cx="4905375" cy="269180"/>
          </a:xfrm>
          <a:prstGeom prst="rect">
            <a:avLst/>
          </a:prstGeom>
          <a:noFill/>
          <a:ln/>
        </p:spPr>
        <p:txBody>
          <a:bodyPr wrap="square" lIns="0" tIns="0" rIns="0" bIns="0" rtlCol="0" anchor="t"/>
          <a:lstStyle/>
          <a:p>
            <a:pPr marL="0" indent="0" algn="l">
              <a:lnSpc>
                <a:spcPts val="1920"/>
              </a:lnSpc>
              <a:buNone/>
            </a:pPr>
            <a:r>
              <a:rPr lang="en-US" sz="1600" b="1" dirty="0">
                <a:solidFill>
                  <a:srgbClr val="F4F5F0"/>
                </a:solidFill>
                <a:latin typeface="Space Grotesk" pitchFamily="34" charset="0"/>
                <a:ea typeface="Space Grotesk" pitchFamily="34" charset="-122"/>
                <a:cs typeface="Space Grotesk" pitchFamily="34" charset="-120"/>
              </a:rPr>
              <a:t>Volunteer pilot workloads</a:t>
            </a:r>
            <a:endParaRPr lang="en-US" sz="1600" dirty="0"/>
          </a:p>
        </p:txBody>
      </p:sp>
      <p:sp>
        <p:nvSpPr>
          <p:cNvPr id="14" name="Text 12"/>
          <p:cNvSpPr/>
          <p:nvPr/>
        </p:nvSpPr>
        <p:spPr>
          <a:xfrm>
            <a:off x="1022350" y="5119489"/>
            <a:ext cx="4905375" cy="452041"/>
          </a:xfrm>
          <a:prstGeom prst="rect">
            <a:avLst/>
          </a:prstGeom>
          <a:noFill/>
          <a:ln/>
        </p:spPr>
        <p:txBody>
          <a:bodyPr wrap="square" lIns="0" tIns="0" rIns="0" bIns="0" rtlCol="0" anchor="t"/>
          <a:lstStyle/>
          <a:p>
            <a:pPr marL="0" indent="0" algn="l">
              <a:lnSpc>
                <a:spcPts val="1680"/>
              </a:lnSpc>
              <a:buNone/>
            </a:pPr>
            <a:r>
              <a:rPr lang="en-US" sz="1200" dirty="0">
                <a:solidFill>
                  <a:srgbClr val="C9D3E0"/>
                </a:solidFill>
                <a:latin typeface="IBM Plex Sans" pitchFamily="34" charset="0"/>
                <a:ea typeface="IBM Plex Sans" pitchFamily="34" charset="-122"/>
                <a:cs typeface="IBM Plex Sans" pitchFamily="34" charset="-120"/>
              </a:rPr>
              <a:t>Tag a few dev or test resource groups with weekday-0830-1730 for the dry run.</a:t>
            </a:r>
            <a:endParaRPr lang="en-US" sz="1200" dirty="0"/>
          </a:p>
        </p:txBody>
      </p:sp>
      <p:sp>
        <p:nvSpPr>
          <p:cNvPr id="15" name="Text 13"/>
          <p:cNvSpPr/>
          <p:nvPr/>
        </p:nvSpPr>
        <p:spPr>
          <a:xfrm>
            <a:off x="1022350" y="5622330"/>
            <a:ext cx="4905375" cy="238720"/>
          </a:xfrm>
          <a:prstGeom prst="rect">
            <a:avLst/>
          </a:prstGeom>
          <a:noFill/>
          <a:ln/>
        </p:spPr>
        <p:txBody>
          <a:bodyPr wrap="square" lIns="0" tIns="0" rIns="0" bIns="0" rtlCol="0" anchor="t"/>
          <a:lstStyle/>
          <a:p>
            <a:pPr marL="0" indent="0" algn="l">
              <a:lnSpc>
                <a:spcPts val="1680"/>
              </a:lnSpc>
              <a:buNone/>
            </a:pPr>
            <a:r>
              <a:rPr lang="en-US" sz="1200" b="1" dirty="0">
                <a:solidFill>
                  <a:srgbClr val="E8A33D"/>
                </a:solidFill>
                <a:latin typeface="IBM Plex Sans" pitchFamily="34" charset="0"/>
                <a:ea typeface="IBM Plex Sans" pitchFamily="34" charset="-122"/>
                <a:cs typeface="IBM Plex Sans" pitchFamily="34" charset="-120"/>
              </a:rPr>
              <a:t>Owner: Workload owners</a:t>
            </a:r>
            <a:endParaRPr lang="en-US" sz="1200" dirty="0"/>
          </a:p>
        </p:txBody>
      </p:sp>
      <p:sp>
        <p:nvSpPr>
          <p:cNvPr id="16" name="Shape 14"/>
          <p:cNvSpPr/>
          <p:nvPr/>
        </p:nvSpPr>
        <p:spPr>
          <a:xfrm>
            <a:off x="6200775" y="4593134"/>
            <a:ext cx="5175250" cy="1448891"/>
          </a:xfrm>
          <a:prstGeom prst="roundRect">
            <a:avLst>
              <a:gd name="adj" fmla="val 6793"/>
            </a:avLst>
          </a:prstGeom>
          <a:solidFill>
            <a:srgbClr val="18273D"/>
          </a:solidFill>
          <a:ln w="6350">
            <a:solidFill>
              <a:srgbClr val="2E4060"/>
            </a:solidFill>
            <a:prstDash val="solid"/>
          </a:ln>
        </p:spPr>
        <p:txBody>
          <a:bodyPr/>
          <a:lstStyle/>
          <a:p>
            <a:endParaRPr lang="en-TH"/>
          </a:p>
        </p:txBody>
      </p:sp>
      <p:sp>
        <p:nvSpPr>
          <p:cNvPr id="17" name="Text 15"/>
          <p:cNvSpPr/>
          <p:nvPr/>
        </p:nvSpPr>
        <p:spPr>
          <a:xfrm>
            <a:off x="6407150" y="4799509"/>
            <a:ext cx="4905375" cy="269180"/>
          </a:xfrm>
          <a:prstGeom prst="rect">
            <a:avLst/>
          </a:prstGeom>
          <a:noFill/>
          <a:ln/>
        </p:spPr>
        <p:txBody>
          <a:bodyPr wrap="square" lIns="0" tIns="0" rIns="0" bIns="0" rtlCol="0" anchor="t"/>
          <a:lstStyle/>
          <a:p>
            <a:pPr marL="0" indent="0" algn="l">
              <a:lnSpc>
                <a:spcPts val="1920"/>
              </a:lnSpc>
              <a:buNone/>
            </a:pPr>
            <a:r>
              <a:rPr lang="en-US" sz="1600" b="1" dirty="0">
                <a:solidFill>
                  <a:srgbClr val="F4F5F0"/>
                </a:solidFill>
                <a:latin typeface="Space Grotesk" pitchFamily="34" charset="0"/>
                <a:ea typeface="Space Grotesk" pitchFamily="34" charset="-122"/>
                <a:cs typeface="Space Grotesk" pitchFamily="34" charset="-120"/>
              </a:rPr>
              <a:t>Name an operators group</a:t>
            </a:r>
            <a:endParaRPr lang="en-US" sz="1600" dirty="0"/>
          </a:p>
        </p:txBody>
      </p:sp>
      <p:sp>
        <p:nvSpPr>
          <p:cNvPr id="18" name="Text 16"/>
          <p:cNvSpPr/>
          <p:nvPr/>
        </p:nvSpPr>
        <p:spPr>
          <a:xfrm>
            <a:off x="6407150" y="5119489"/>
            <a:ext cx="4905375" cy="452041"/>
          </a:xfrm>
          <a:prstGeom prst="rect">
            <a:avLst/>
          </a:prstGeom>
          <a:noFill/>
          <a:ln/>
        </p:spPr>
        <p:txBody>
          <a:bodyPr wrap="square" lIns="0" tIns="0" rIns="0" bIns="0" rtlCol="0" anchor="t"/>
          <a:lstStyle/>
          <a:p>
            <a:pPr marL="0" indent="0" algn="l">
              <a:lnSpc>
                <a:spcPts val="1680"/>
              </a:lnSpc>
              <a:buNone/>
            </a:pPr>
            <a:r>
              <a:rPr lang="en-US" sz="1200" dirty="0">
                <a:solidFill>
                  <a:srgbClr val="C9D3E0"/>
                </a:solidFill>
                <a:latin typeface="IBM Plex Sans" pitchFamily="34" charset="0"/>
                <a:ea typeface="IBM Plex Sans" pitchFamily="34" charset="-122"/>
                <a:cs typeface="IBM Plex Sans" pitchFamily="34" charset="-120"/>
              </a:rPr>
              <a:t>An Entra group that runs Terraform, so roles stay stable whoever deploys.</a:t>
            </a:r>
            <a:endParaRPr lang="en-US" sz="1200" dirty="0"/>
          </a:p>
        </p:txBody>
      </p:sp>
      <p:sp>
        <p:nvSpPr>
          <p:cNvPr id="19" name="Text 17"/>
          <p:cNvSpPr/>
          <p:nvPr/>
        </p:nvSpPr>
        <p:spPr>
          <a:xfrm>
            <a:off x="6407150" y="5622330"/>
            <a:ext cx="4905375" cy="238720"/>
          </a:xfrm>
          <a:prstGeom prst="rect">
            <a:avLst/>
          </a:prstGeom>
          <a:noFill/>
          <a:ln/>
        </p:spPr>
        <p:txBody>
          <a:bodyPr wrap="square" lIns="0" tIns="0" rIns="0" bIns="0" rtlCol="0" anchor="t"/>
          <a:lstStyle/>
          <a:p>
            <a:pPr marL="0" indent="0" algn="l">
              <a:lnSpc>
                <a:spcPts val="1680"/>
              </a:lnSpc>
              <a:buNone/>
            </a:pPr>
            <a:r>
              <a:rPr lang="en-US" sz="1200" b="1" dirty="0">
                <a:solidFill>
                  <a:srgbClr val="E8A33D"/>
                </a:solidFill>
                <a:latin typeface="IBM Plex Sans" pitchFamily="34" charset="0"/>
                <a:ea typeface="IBM Plex Sans" pitchFamily="34" charset="-122"/>
                <a:cs typeface="IBM Plex Sans" pitchFamily="34" charset="-120"/>
              </a:rPr>
              <a:t>Owner: Platform team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9">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APPENDIX · 1 OF 2</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Use case detail</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261"/>
          <a:ext cx="10552176" cy="2155626"/>
        </p:xfrm>
        <a:graphic>
          <a:graphicData uri="http://schemas.openxmlformats.org/drawingml/2006/table">
            <a:tbl>
              <a:tblPr/>
              <a:tblGrid>
                <a:gridCol w="4480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865376">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Use case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How to use it</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Status</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UC-01 Office-hours schedule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schedule-profile tag</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UC-02 Dependency-ordered start and stop</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Automatic; schedule-order to change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UC-03 Several schedules side by side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One profile per schedule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UC-04 Change a schedule without code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Edit the profile, terraform apply</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By design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UC-05 Tag once at resource-group level</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Tag the resource group</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UC-06 Tag once at subscription level</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Tag the subscription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UC-07 Opt one resource out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schedule-enabled=false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UC-08 Choose in-scope management groups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in_scope_management_group_ids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UC-09 Exclude groups, subscriptions, RGs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excluded_scope_ids (nested too)</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UC-10 Work late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Override running until a time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UC-11 Stop early</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Override stopped until a time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UC-12 Ad-hoc start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Override running for a period</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9">
    <p:bg>
      <p:bgPr>
        <a:solidFill>
          <a:srgbClr val="F4F5F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lstStyle/>
          <a:p>
            <a:pPr marL="0" indent="0" algn="l">
              <a:lnSpc>
                <a:spcPts val="1680"/>
              </a:lnSpc>
              <a:buNone/>
            </a:pPr>
            <a:r>
              <a:rPr lang="en-US" sz="1200" b="1" kern="0" spc="100" dirty="0">
                <a:solidFill>
                  <a:srgbClr val="1D4ED8"/>
                </a:solidFill>
                <a:latin typeface="IBM Plex Sans" pitchFamily="34" charset="0"/>
                <a:ea typeface="IBM Plex Sans" pitchFamily="34" charset="-122"/>
                <a:cs typeface="IBM Plex Sans" pitchFamily="34" charset="-120"/>
              </a:rPr>
              <a:t>APPENDIX · 2 OF 2</a:t>
            </a:r>
            <a:endParaRPr lang="en-US" sz="1200" dirty="0"/>
          </a:p>
        </p:txBody>
      </p:sp>
      <p:sp>
        <p:nvSpPr>
          <p:cNvPr id="3" name="Text 1"/>
          <p:cNvSpPr>
            <a:spLocks noGrp="1"/>
          </p:cNvSpPr>
          <p:nvPr>
            <p:ph type="title"/>
          </p:nvPr>
        </p:nvSpPr>
        <p:spPr>
          <a:xfrm>
            <a:off x="812800" y="1127720"/>
            <a:ext cx="10883392" cy="528241"/>
          </a:xfrm>
          <a:prstGeom prst="rect">
            <a:avLst/>
          </a:prstGeom>
          <a:noFill/>
          <a:ln/>
        </p:spPr>
        <p:txBody>
          <a:bodyPr wrap="square" lIns="0" tIns="0" rIns="0" bIns="0" rtlCol="0" anchor="t"/>
          <a:lstStyle/>
          <a:p>
            <a:pPr marL="0" indent="0" algn="l">
              <a:lnSpc>
                <a:spcPts val="3960"/>
              </a:lnSpc>
              <a:buNone/>
            </a:pPr>
            <a:r>
              <a:rPr lang="en-US" sz="3600" b="1" i="0" dirty="0">
                <a:solidFill>
                  <a:srgbClr val="0F1B2D"/>
                </a:solidFill>
                <a:latin typeface="Space Grotesk" pitchFamily="34" charset="0"/>
                <a:ea typeface="Space Grotesk" pitchFamily="34" charset="-122"/>
                <a:cs typeface="Space Grotesk" pitchFamily="34" charset="-120"/>
              </a:rPr>
              <a:t>Use case detail</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261"/>
          <a:ext cx="10552176" cy="2155626"/>
        </p:xfrm>
        <a:graphic>
          <a:graphicData uri="http://schemas.openxmlformats.org/drawingml/2006/table">
            <a:tbl>
              <a:tblPr/>
              <a:tblGrid>
                <a:gridCol w="44805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865376">
                  <a:extLst>
                    <a:ext uri="{9D8B030D-6E8A-4147-A177-3AD203B41FA5}">
                      <a16:colId xmlns:a16="http://schemas.microsoft.com/office/drawing/2014/main" val="20002"/>
                    </a:ext>
                  </a:extLst>
                </a:gridCol>
              </a:tblGrid>
              <a:tr h="359271">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Use case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How to use it</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tc>
                  <a:txBody>
                    <a:bodyPr/>
                    <a:lstStyle/>
                    <a:p>
                      <a:pPr marL="0" indent="0">
                        <a:lnSpc>
                          <a:spcPts val="1820"/>
                        </a:lnSpc>
                        <a:buNone/>
                      </a:pPr>
                      <a:r>
                        <a:rPr lang="en-US" sz="1300" b="1" dirty="0">
                          <a:solidFill>
                            <a:srgbClr val="0F1B2D"/>
                          </a:solidFill>
                          <a:latin typeface="IBM Plex Sans" pitchFamily="34" charset="0"/>
                          <a:ea typeface="IBM Plex Sans" pitchFamily="34" charset="-122"/>
                          <a:cs typeface="IBM Plex Sans" pitchFamily="34" charset="-120"/>
                        </a:rPr>
                        <a:t>Status</a:t>
                      </a:r>
                      <a:endParaRPr lang="en-US" sz="1300" dirty="0">
                        <a:latin typeface="IBM Plex Sans" charset="0"/>
                        <a:ea typeface="IBM Plex Sans" charset="0"/>
                        <a:cs typeface="IBM Plex Sans" charset="0"/>
                      </a:endParaRPr>
                    </a:p>
                  </a:txBody>
                  <a:tcPr marL="57785" marR="57785" marT="57785" marB="57785">
                    <a:lnL w="12700" cap="flat" cmpd="sng" algn="ctr">
                      <a:solidFill>
                        <a:srgbClr val="B8BAB4"/>
                      </a:solidFill>
                      <a:prstDash val="solid"/>
                      <a:round/>
                      <a:headEnd type="none" w="med" len="med"/>
                      <a:tailEnd type="none" w="med" len="med"/>
                    </a:lnL>
                    <a:lnR w="12700" cap="flat" cmpd="sng" algn="ctr">
                      <a:solidFill>
                        <a:srgbClr val="B8BAB4"/>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B8BAB4"/>
                      </a:solidFill>
                      <a:prstDash val="solid"/>
                      <a:round/>
                      <a:headEnd type="none" w="med" len="med"/>
                      <a:tailEnd type="none" w="med" len="med"/>
                    </a:lnB>
                    <a:solidFill>
                      <a:srgbClr val="E6E9E1"/>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UC-13 Production never touched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environment=prod on the subscription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B8BAB4"/>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UC-14 Platform never touched</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Excluded scope and deny list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UC-15 AKS node pools never stopped directly</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Tag the cluster, not its node group</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UC-16 Safety cap with alert</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max_actions_per_run, sized from the peak</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UC-17 Safe rollout with dry run</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dry_run true, then false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UC-18 Correct manual changes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Automatic</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UC-19 VM shut down inside the OS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Automatic</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UC-20 Missed-run recovery</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Automatic</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UC-21 See actions and why</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Workbooks and queries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UC-22 Alerts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Four alert rules</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0F1B2D"/>
                          </a:solidFill>
                          <a:latin typeface="IBM Plex Sans" pitchFamily="34" charset="0"/>
                          <a:ea typeface="IBM Plex Sans" pitchFamily="34" charset="-122"/>
                          <a:cs typeface="IBM Plex Sans" pitchFamily="34" charset="-120"/>
                        </a:rPr>
                        <a:t>UC-23 Audit trail</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Activity Log, scheduler identity</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tc>
                  <a:txBody>
                    <a:bodyPr/>
                    <a:lstStyle/>
                    <a:p>
                      <a:pPr marL="0" indent="0">
                        <a:lnSpc>
                          <a:spcPts val="1820"/>
                        </a:lnSpc>
                        <a:buNone/>
                      </a:pPr>
                      <a:r>
                        <a:rPr lang="en-US" sz="1300" dirty="0">
                          <a:solidFill>
                            <a:srgbClr val="4A5568"/>
                          </a:solidFill>
                          <a:latin typeface="IBM Plex Sans" pitchFamily="34" charset="0"/>
                          <a:ea typeface="IBM Plex Sans" pitchFamily="34" charset="-122"/>
                          <a:cs typeface="IBM Plex Sans" pitchFamily="34" charset="-120"/>
                        </a:rPr>
                        <a:t>Proven live</a:t>
                      </a:r>
                      <a:endParaRPr lang="en-US" sz="1300" dirty="0">
                        <a:latin typeface="IBM Plex Sans" charset="0"/>
                        <a:ea typeface="IBM Plex Sans" charset="0"/>
                        <a:cs typeface="IBM Plex Sans" charset="0"/>
                      </a:endParaRPr>
                    </a:p>
                  </a:txBody>
                  <a:tcPr marL="57785" marR="57785" marT="57785" marB="57785">
                    <a:lnL w="12700" cap="flat" cmpd="sng" algn="ctr">
                      <a:solidFill>
                        <a:srgbClr val="C3C4BF"/>
                      </a:solidFill>
                      <a:prstDash val="solid"/>
                      <a:round/>
                      <a:headEnd type="none" w="med" len="med"/>
                      <a:tailEnd type="none" w="med" len="med"/>
                    </a:lnL>
                    <a:lnR w="12700" cap="flat" cmpd="sng" algn="ctr">
                      <a:solidFill>
                        <a:srgbClr val="C3C4BF"/>
                      </a:solidFill>
                      <a:prstDash val="solid"/>
                      <a:round/>
                      <a:headEnd type="none" w="med" len="med"/>
                      <a:tailEnd type="none" w="med" len="med"/>
                    </a:lnR>
                    <a:lnT w="12700" cap="flat" cmpd="sng" algn="ctr">
                      <a:solidFill>
                        <a:srgbClr val="C3C4BF"/>
                      </a:solidFill>
                      <a:prstDash val="solid"/>
                      <a:round/>
                      <a:headEnd type="none" w="med" len="med"/>
                      <a:tailEnd type="none" w="med" len="med"/>
                    </a:lnT>
                    <a:lnB w="12700" cap="flat" cmpd="sng" algn="ctr">
                      <a:solidFill>
                        <a:srgbClr val="C3C4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theme/theme1.xml><?xml version="1.0" encoding="utf-8"?>
<a:theme xmlns:a="http://schemas.openxmlformats.org/drawingml/2006/main" name="Azure Resource Power Scheduler">
  <a:themeElements>
    <a:clrScheme name="Azure Resource Power Scheduler">
      <a:dk1>
        <a:srgbClr val="0F1B2D"/>
      </a:dk1>
      <a:lt1>
        <a:srgbClr val="F4F5F0"/>
      </a:lt1>
      <a:dk2>
        <a:srgbClr val="48525E"/>
      </a:dk2>
      <a:lt2>
        <a:srgbClr val="DDDFDD"/>
      </a:lt2>
      <a:accent1>
        <a:srgbClr val="1D4ED8"/>
      </a:accent1>
      <a:accent2>
        <a:srgbClr val="E8A33D"/>
      </a:accent2>
      <a:accent3>
        <a:srgbClr val="9A5B00"/>
      </a:accent3>
      <a:accent4>
        <a:srgbClr val="FCE7C3"/>
      </a:accent4>
      <a:accent5>
        <a:srgbClr val="4A5568"/>
      </a:accent5>
      <a:accent6>
        <a:srgbClr val="C9D3E0"/>
      </a:accent6>
      <a:hlink>
        <a:srgbClr val="0563C1"/>
      </a:hlink>
      <a:folHlink>
        <a:srgbClr val="954F72"/>
      </a:folHlink>
    </a:clrScheme>
    <a:fontScheme name="Azure Resource Power Scheduler">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1968</Words>
  <Application>Microsoft Macintosh PowerPoint</Application>
  <PresentationFormat>Widescreen</PresentationFormat>
  <Paragraphs>242</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IBM Plex Sans</vt:lpstr>
      <vt:lpstr>JetBrains Mono</vt:lpstr>
      <vt:lpstr>Space Grotesk</vt:lpstr>
      <vt:lpstr>Azure Resource Power Scheduler</vt:lpstr>
      <vt:lpstr>Azure Resource Power Scheduler</vt:lpstr>
      <vt:lpstr>123 of 168 hours</vt:lpstr>
      <vt:lpstr>Goals</vt:lpstr>
      <vt:lpstr>Options considered</vt:lpstr>
      <vt:lpstr>How it works</vt:lpstr>
      <vt:lpstr>Where it runs</vt:lpstr>
      <vt:lpstr>What it manages</vt:lpstr>
      <vt:lpstr>The standard schedule</vt:lpstr>
      <vt:lpstr>Onboarding with tags</vt:lpstr>
      <vt:lpstr>Safety guardrails</vt:lpstr>
      <vt:lpstr>Day-2 operations</vt:lpstr>
      <vt:lpstr>Phase 2 roadmap</vt:lpstr>
      <vt:lpstr>Decisions and asks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Resource Power Scheduler</dc:title>
  <dc:subject/>
  <dc:creator/>
  <cp:lastModifiedBy>Thanawat Manolamai</cp:lastModifiedBy>
  <cp:revision>2</cp:revision>
  <dcterms:created xsi:type="dcterms:W3CDTF">2026-10-03T13:59:56Z</dcterms:created>
  <dcterms:modified xsi:type="dcterms:W3CDTF">2026-10-03T14:21:57Z</dcterms:modified>
</cp:coreProperties>
</file>